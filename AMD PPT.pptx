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75" r:id="rId7"/>
    <p:sldId id="274" r:id="rId8"/>
    <p:sldId id="262" r:id="rId9"/>
    <p:sldId id="263" r:id="rId10"/>
    <p:sldId id="278" r:id="rId11"/>
    <p:sldId id="271" r:id="rId12"/>
    <p:sldId id="264" r:id="rId13"/>
    <p:sldId id="265" r:id="rId14"/>
    <p:sldId id="266" r:id="rId15"/>
    <p:sldId id="267" r:id="rId16"/>
    <p:sldId id="277" r:id="rId17"/>
    <p:sldId id="268" r:id="rId18"/>
    <p:sldId id="270"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ime3hxpkjg/86VwTx5aLAeaw5XQ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307"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haran S" userId="3e17ac267b9bf4bb" providerId="LiveId" clId="{0B1CC15D-63F4-4DC3-9E92-2683BEE86018}"/>
    <pc:docChg chg="undo redo custSel modSld">
      <pc:chgData name="Hariharan S" userId="3e17ac267b9bf4bb" providerId="LiveId" clId="{0B1CC15D-63F4-4DC3-9E92-2683BEE86018}" dt="2024-12-18T15:13:23.217" v="87" actId="1076"/>
      <pc:docMkLst>
        <pc:docMk/>
      </pc:docMkLst>
      <pc:sldChg chg="modSp mod">
        <pc:chgData name="Hariharan S" userId="3e17ac267b9bf4bb" providerId="LiveId" clId="{0B1CC15D-63F4-4DC3-9E92-2683BEE86018}" dt="2024-12-18T15:13:23.217" v="87" actId="1076"/>
        <pc:sldMkLst>
          <pc:docMk/>
          <pc:sldMk cId="0" sldId="256"/>
        </pc:sldMkLst>
        <pc:spChg chg="mod">
          <ac:chgData name="Hariharan S" userId="3e17ac267b9bf4bb" providerId="LiveId" clId="{0B1CC15D-63F4-4DC3-9E92-2683BEE86018}" dt="2024-12-18T15:13:23.217" v="87" actId="1076"/>
          <ac:spMkLst>
            <pc:docMk/>
            <pc:sldMk cId="0" sldId="256"/>
            <ac:spMk id="90" creationId="{00000000-0000-0000-0000-000000000000}"/>
          </ac:spMkLst>
        </pc:spChg>
        <pc:picChg chg="mod">
          <ac:chgData name="Hariharan S" userId="3e17ac267b9bf4bb" providerId="LiveId" clId="{0B1CC15D-63F4-4DC3-9E92-2683BEE86018}" dt="2024-12-18T15:02:20.298" v="1" actId="1076"/>
          <ac:picMkLst>
            <pc:docMk/>
            <pc:sldMk cId="0" sldId="256"/>
            <ac:picMk id="88" creationId="{00000000-0000-0000-0000-000000000000}"/>
          </ac:picMkLst>
        </pc:picChg>
      </pc:sldChg>
      <pc:sldChg chg="modSp mod">
        <pc:chgData name="Hariharan S" userId="3e17ac267b9bf4bb" providerId="LiveId" clId="{0B1CC15D-63F4-4DC3-9E92-2683BEE86018}" dt="2024-12-18T15:04:34.620" v="20" actId="1076"/>
        <pc:sldMkLst>
          <pc:docMk/>
          <pc:sldMk cId="0" sldId="257"/>
        </pc:sldMkLst>
        <pc:spChg chg="mod">
          <ac:chgData name="Hariharan S" userId="3e17ac267b9bf4bb" providerId="LiveId" clId="{0B1CC15D-63F4-4DC3-9E92-2683BEE86018}" dt="2024-12-18T15:04:22.357" v="15" actId="1076"/>
          <ac:spMkLst>
            <pc:docMk/>
            <pc:sldMk cId="0" sldId="257"/>
            <ac:spMk id="93" creationId="{50C41556-8716-F85A-15CB-47A7B62EBEF7}"/>
          </ac:spMkLst>
        </pc:spChg>
        <pc:spChg chg="mod">
          <ac:chgData name="Hariharan S" userId="3e17ac267b9bf4bb" providerId="LiveId" clId="{0B1CC15D-63F4-4DC3-9E92-2683BEE86018}" dt="2024-12-18T15:04:34.620" v="20" actId="1076"/>
          <ac:spMkLst>
            <pc:docMk/>
            <pc:sldMk cId="0" sldId="257"/>
            <ac:spMk id="100" creationId="{00000000-0000-0000-0000-000000000000}"/>
          </ac:spMkLst>
        </pc:spChg>
      </pc:sldChg>
      <pc:sldChg chg="modSp mod">
        <pc:chgData name="Hariharan S" userId="3e17ac267b9bf4bb" providerId="LiveId" clId="{0B1CC15D-63F4-4DC3-9E92-2683BEE86018}" dt="2024-12-18T15:08:47.448" v="86" actId="1076"/>
        <pc:sldMkLst>
          <pc:docMk/>
          <pc:sldMk cId="0" sldId="258"/>
        </pc:sldMkLst>
        <pc:spChg chg="mod">
          <ac:chgData name="Hariharan S" userId="3e17ac267b9bf4bb" providerId="LiveId" clId="{0B1CC15D-63F4-4DC3-9E92-2683BEE86018}" dt="2024-12-18T15:08:44.126" v="85" actId="1076"/>
          <ac:spMkLst>
            <pc:docMk/>
            <pc:sldMk cId="0" sldId="258"/>
            <ac:spMk id="111" creationId="{00000000-0000-0000-0000-000000000000}"/>
          </ac:spMkLst>
        </pc:spChg>
        <pc:spChg chg="mod">
          <ac:chgData name="Hariharan S" userId="3e17ac267b9bf4bb" providerId="LiveId" clId="{0B1CC15D-63F4-4DC3-9E92-2683BEE86018}" dt="2024-12-18T15:08:47.448" v="86" actId="1076"/>
          <ac:spMkLst>
            <pc:docMk/>
            <pc:sldMk cId="0" sldId="258"/>
            <ac:spMk id="113" creationId="{00000000-0000-0000-0000-000000000000}"/>
          </ac:spMkLst>
        </pc:spChg>
      </pc:sldChg>
      <pc:sldChg chg="modSp mod">
        <pc:chgData name="Hariharan S" userId="3e17ac267b9bf4bb" providerId="LiveId" clId="{0B1CC15D-63F4-4DC3-9E92-2683BEE86018}" dt="2024-12-18T15:05:50.997" v="30" actId="1076"/>
        <pc:sldMkLst>
          <pc:docMk/>
          <pc:sldMk cId="0" sldId="259"/>
        </pc:sldMkLst>
        <pc:spChg chg="mod">
          <ac:chgData name="Hariharan S" userId="3e17ac267b9bf4bb" providerId="LiveId" clId="{0B1CC15D-63F4-4DC3-9E92-2683BEE86018}" dt="2024-12-18T15:05:38.225" v="28" actId="1076"/>
          <ac:spMkLst>
            <pc:docMk/>
            <pc:sldMk cId="0" sldId="259"/>
            <ac:spMk id="121" creationId="{00000000-0000-0000-0000-000000000000}"/>
          </ac:spMkLst>
        </pc:spChg>
        <pc:spChg chg="mod">
          <ac:chgData name="Hariharan S" userId="3e17ac267b9bf4bb" providerId="LiveId" clId="{0B1CC15D-63F4-4DC3-9E92-2683BEE86018}" dt="2024-12-18T15:05:50.997" v="30" actId="1076"/>
          <ac:spMkLst>
            <pc:docMk/>
            <pc:sldMk cId="0" sldId="259"/>
            <ac:spMk id="123" creationId="{00000000-0000-0000-0000-000000000000}"/>
          </ac:spMkLst>
        </pc:spChg>
      </pc:sldChg>
      <pc:sldChg chg="modSp mod">
        <pc:chgData name="Hariharan S" userId="3e17ac267b9bf4bb" providerId="LiveId" clId="{0B1CC15D-63F4-4DC3-9E92-2683BEE86018}" dt="2024-12-18T15:06:46.337" v="36" actId="255"/>
        <pc:sldMkLst>
          <pc:docMk/>
          <pc:sldMk cId="0" sldId="260"/>
        </pc:sldMkLst>
        <pc:spChg chg="mod">
          <ac:chgData name="Hariharan S" userId="3e17ac267b9bf4bb" providerId="LiveId" clId="{0B1CC15D-63F4-4DC3-9E92-2683BEE86018}" dt="2024-12-18T15:06:14.105" v="33" actId="1076"/>
          <ac:spMkLst>
            <pc:docMk/>
            <pc:sldMk cId="0" sldId="260"/>
            <ac:spMk id="132" creationId="{00000000-0000-0000-0000-000000000000}"/>
          </ac:spMkLst>
        </pc:spChg>
        <pc:spChg chg="mod">
          <ac:chgData name="Hariharan S" userId="3e17ac267b9bf4bb" providerId="LiveId" clId="{0B1CC15D-63F4-4DC3-9E92-2683BEE86018}" dt="2024-12-18T15:06:46.337" v="36" actId="255"/>
          <ac:spMkLst>
            <pc:docMk/>
            <pc:sldMk cId="0" sldId="260"/>
            <ac:spMk id="134" creationId="{00000000-0000-0000-0000-000000000000}"/>
          </ac:spMkLst>
        </pc:spChg>
        <pc:spChg chg="mod">
          <ac:chgData name="Hariharan S" userId="3e17ac267b9bf4bb" providerId="LiveId" clId="{0B1CC15D-63F4-4DC3-9E92-2683BEE86018}" dt="2024-12-18T15:05:59.095" v="31" actId="1076"/>
          <ac:spMkLst>
            <pc:docMk/>
            <pc:sldMk cId="0" sldId="260"/>
            <ac:spMk id="135" creationId="{00000000-0000-0000-0000-000000000000}"/>
          </ac:spMkLst>
        </pc:spChg>
      </pc:sldChg>
      <pc:sldChg chg="modSp mod">
        <pc:chgData name="Hariharan S" userId="3e17ac267b9bf4bb" providerId="LiveId" clId="{0B1CC15D-63F4-4DC3-9E92-2683BEE86018}" dt="2024-12-18T15:07:01.926" v="37" actId="1076"/>
        <pc:sldMkLst>
          <pc:docMk/>
          <pc:sldMk cId="0" sldId="262"/>
        </pc:sldMkLst>
        <pc:spChg chg="mod">
          <ac:chgData name="Hariharan S" userId="3e17ac267b9bf4bb" providerId="LiveId" clId="{0B1CC15D-63F4-4DC3-9E92-2683BEE86018}" dt="2024-12-18T15:07:01.926" v="37" actId="1076"/>
          <ac:spMkLst>
            <pc:docMk/>
            <pc:sldMk cId="0" sldId="262"/>
            <ac:spMk id="156" creationId="{00000000-0000-0000-0000-000000000000}"/>
          </ac:spMkLst>
        </pc:spChg>
      </pc:sldChg>
      <pc:sldChg chg="modSp mod">
        <pc:chgData name="Hariharan S" userId="3e17ac267b9bf4bb" providerId="LiveId" clId="{0B1CC15D-63F4-4DC3-9E92-2683BEE86018}" dt="2024-12-18T15:08:08.227" v="80" actId="1076"/>
        <pc:sldMkLst>
          <pc:docMk/>
          <pc:sldMk cId="725373968" sldId="271"/>
        </pc:sldMkLst>
        <pc:spChg chg="mod">
          <ac:chgData name="Hariharan S" userId="3e17ac267b9bf4bb" providerId="LiveId" clId="{0B1CC15D-63F4-4DC3-9E92-2683BEE86018}" dt="2024-12-18T15:08:08.227" v="80" actId="1076"/>
          <ac:spMkLst>
            <pc:docMk/>
            <pc:sldMk cId="725373968" sldId="271"/>
            <ac:spMk id="8" creationId="{DDF9CAF8-1265-C746-1446-ECD34F1EF3CA}"/>
          </ac:spMkLst>
        </pc:spChg>
      </pc:sldChg>
      <pc:sldChg chg="modSp mod">
        <pc:chgData name="Hariharan S" userId="3e17ac267b9bf4bb" providerId="LiveId" clId="{0B1CC15D-63F4-4DC3-9E92-2683BEE86018}" dt="2024-12-18T15:07:10.574" v="38" actId="1076"/>
        <pc:sldMkLst>
          <pc:docMk/>
          <pc:sldMk cId="3184175529" sldId="274"/>
        </pc:sldMkLst>
        <pc:spChg chg="mod">
          <ac:chgData name="Hariharan S" userId="3e17ac267b9bf4bb" providerId="LiveId" clId="{0B1CC15D-63F4-4DC3-9E92-2683BEE86018}" dt="2024-12-18T15:07:10.574" v="38" actId="1076"/>
          <ac:spMkLst>
            <pc:docMk/>
            <pc:sldMk cId="3184175529" sldId="274"/>
            <ac:spMk id="143" creationId="{FD1B313A-0BD7-1CB0-86D9-28272416B7FF}"/>
          </ac:spMkLst>
        </pc:spChg>
      </pc:sldChg>
      <pc:sldChg chg="modSp mod">
        <pc:chgData name="Hariharan S" userId="3e17ac267b9bf4bb" providerId="LiveId" clId="{0B1CC15D-63F4-4DC3-9E92-2683BEE86018}" dt="2024-12-18T15:07:17.725" v="39" actId="1076"/>
        <pc:sldMkLst>
          <pc:docMk/>
          <pc:sldMk cId="2293865257" sldId="275"/>
        </pc:sldMkLst>
        <pc:spChg chg="mod">
          <ac:chgData name="Hariharan S" userId="3e17ac267b9bf4bb" providerId="LiveId" clId="{0B1CC15D-63F4-4DC3-9E92-2683BEE86018}" dt="2024-12-18T15:07:17.725" v="39" actId="1076"/>
          <ac:spMkLst>
            <pc:docMk/>
            <pc:sldMk cId="2293865257" sldId="275"/>
            <ac:spMk id="143" creationId="{38DA5CC2-0A04-E337-97FA-78E7AA9262F7}"/>
          </ac:spMkLst>
        </pc:spChg>
      </pc:sldChg>
      <pc:sldChg chg="modSp mod">
        <pc:chgData name="Hariharan S" userId="3e17ac267b9bf4bb" providerId="LiveId" clId="{0B1CC15D-63F4-4DC3-9E92-2683BEE86018}" dt="2024-12-18T15:08:32.665" v="84" actId="255"/>
        <pc:sldMkLst>
          <pc:docMk/>
          <pc:sldMk cId="1879609293" sldId="278"/>
        </pc:sldMkLst>
        <pc:spChg chg="mod">
          <ac:chgData name="Hariharan S" userId="3e17ac267b9bf4bb" providerId="LiveId" clId="{0B1CC15D-63F4-4DC3-9E92-2683BEE86018}" dt="2024-12-18T15:08:32.665" v="84" actId="255"/>
          <ac:spMkLst>
            <pc:docMk/>
            <pc:sldMk cId="1879609293" sldId="278"/>
            <ac:spMk id="8" creationId="{700352DD-7185-8C80-CFFD-C42D5B17BB7E}"/>
          </ac:spMkLst>
        </pc:spChg>
      </pc:sldChg>
    </pc:docChg>
  </pc:docChgLst>
  <pc:docChgLst>
    <pc:chgData name="Hariharan S" userId="3e17ac267b9bf4bb" providerId="LiveId" clId="{7C32ABE3-98F3-4672-895F-0C498CCFF5E7}"/>
    <pc:docChg chg="modSld">
      <pc:chgData name="Hariharan S" userId="3e17ac267b9bf4bb" providerId="LiveId" clId="{7C32ABE3-98F3-4672-895F-0C498CCFF5E7}" dt="2024-12-22T14:22:59.016" v="1" actId="20577"/>
      <pc:docMkLst>
        <pc:docMk/>
      </pc:docMkLst>
      <pc:sldChg chg="modSp mod">
        <pc:chgData name="Hariharan S" userId="3e17ac267b9bf4bb" providerId="LiveId" clId="{7C32ABE3-98F3-4672-895F-0C498CCFF5E7}" dt="2024-12-22T14:22:59.016" v="1" actId="20577"/>
        <pc:sldMkLst>
          <pc:docMk/>
          <pc:sldMk cId="0" sldId="256"/>
        </pc:sldMkLst>
        <pc:spChg chg="mod">
          <ac:chgData name="Hariharan S" userId="3e17ac267b9bf4bb" providerId="LiveId" clId="{7C32ABE3-98F3-4672-895F-0C498CCFF5E7}" dt="2024-12-22T14:22:59.016" v="1" actId="20577"/>
          <ac:spMkLst>
            <pc:docMk/>
            <pc:sldMk cId="0" sldId="256"/>
            <ac:spMk id="9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07AF74AC-AA5E-8E33-2948-37B1B97CB704}"/>
            </a:ext>
          </a:extLst>
        </p:cNvPr>
        <p:cNvGrpSpPr/>
        <p:nvPr/>
      </p:nvGrpSpPr>
      <p:grpSpPr>
        <a:xfrm>
          <a:off x="0" y="0"/>
          <a:ext cx="0" cy="0"/>
          <a:chOff x="0" y="0"/>
          <a:chExt cx="0" cy="0"/>
        </a:xfrm>
      </p:grpSpPr>
      <p:sp>
        <p:nvSpPr>
          <p:cNvPr id="139" name="Google Shape;139;p6:notes">
            <a:extLst>
              <a:ext uri="{FF2B5EF4-FFF2-40B4-BE49-F238E27FC236}">
                <a16:creationId xmlns:a16="http://schemas.microsoft.com/office/drawing/2014/main" id="{14FE52F1-BE51-41E7-8482-DACBE0F6876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6:notes">
            <a:extLst>
              <a:ext uri="{FF2B5EF4-FFF2-40B4-BE49-F238E27FC236}">
                <a16:creationId xmlns:a16="http://schemas.microsoft.com/office/drawing/2014/main" id="{B77FF130-F7C4-EC5D-827B-76C76385EBA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2163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054B271A-3165-0984-693D-333BB34B1B2D}"/>
            </a:ext>
          </a:extLst>
        </p:cNvPr>
        <p:cNvGrpSpPr/>
        <p:nvPr/>
      </p:nvGrpSpPr>
      <p:grpSpPr>
        <a:xfrm>
          <a:off x="0" y="0"/>
          <a:ext cx="0" cy="0"/>
          <a:chOff x="0" y="0"/>
          <a:chExt cx="0" cy="0"/>
        </a:xfrm>
      </p:grpSpPr>
      <p:sp>
        <p:nvSpPr>
          <p:cNvPr id="139" name="Google Shape;139;p6:notes">
            <a:extLst>
              <a:ext uri="{FF2B5EF4-FFF2-40B4-BE49-F238E27FC236}">
                <a16:creationId xmlns:a16="http://schemas.microsoft.com/office/drawing/2014/main" id="{D2460D8B-411E-D47D-87F4-4AF4EDFA783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6:notes">
            <a:extLst>
              <a:ext uri="{FF2B5EF4-FFF2-40B4-BE49-F238E27FC236}">
                <a16:creationId xmlns:a16="http://schemas.microsoft.com/office/drawing/2014/main" id="{05BC4AF0-7411-5C2B-D584-CAB0815039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775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278038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a:extLst>
            <a:ext uri="{FF2B5EF4-FFF2-40B4-BE49-F238E27FC236}">
              <a16:creationId xmlns:a16="http://schemas.microsoft.com/office/drawing/2014/main" id="{76E0E8AA-083F-6485-2E0B-CA799269F5BA}"/>
            </a:ext>
          </a:extLst>
        </p:cNvPr>
        <p:cNvGrpSpPr/>
        <p:nvPr/>
      </p:nvGrpSpPr>
      <p:grpSpPr>
        <a:xfrm>
          <a:off x="0" y="0"/>
          <a:ext cx="0" cy="0"/>
          <a:chOff x="0" y="0"/>
          <a:chExt cx="0" cy="0"/>
        </a:xfrm>
      </p:grpSpPr>
      <p:sp>
        <p:nvSpPr>
          <p:cNvPr id="212" name="Google Shape;212;p13:notes">
            <a:extLst>
              <a:ext uri="{FF2B5EF4-FFF2-40B4-BE49-F238E27FC236}">
                <a16:creationId xmlns:a16="http://schemas.microsoft.com/office/drawing/2014/main" id="{C5899606-DFD0-64D0-D36C-600DE7A3F3F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3:notes">
            <a:extLst>
              <a:ext uri="{FF2B5EF4-FFF2-40B4-BE49-F238E27FC236}">
                <a16:creationId xmlns:a16="http://schemas.microsoft.com/office/drawing/2014/main" id="{FBA804AC-49CC-6B5E-B55A-FB01AD16DE0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30702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5"/>
          <p:cNvSpPr>
            <a:spLocks noGrp="1"/>
          </p:cNvSpPr>
          <p:nvPr>
            <p:ph type="pic" idx="2"/>
          </p:nvPr>
        </p:nvSpPr>
        <p:spPr>
          <a:xfrm>
            <a:off x="5183188" y="987425"/>
            <a:ext cx="6172200" cy="4873625"/>
          </a:xfrm>
          <a:prstGeom prst="rect">
            <a:avLst/>
          </a:prstGeom>
          <a:noFill/>
          <a:ln>
            <a:noFill/>
          </a:ln>
        </p:spPr>
      </p:sp>
      <p:sp>
        <p:nvSpPr>
          <p:cNvPr id="68" name="Google Shape;68;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oleObject" Target="../embeddings/oleObject2.bin"/><Relationship Id="rId5" Type="http://schemas.openxmlformats.org/officeDocument/2006/relationships/image" Target="../media/image2.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oleObject" Target="../embeddings/oleObject3.bin"/><Relationship Id="rId7" Type="http://schemas.openxmlformats.org/officeDocument/2006/relationships/image" Target="../media/image4.png"/><Relationship Id="rId12"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png"/><Relationship Id="rId11" Type="http://schemas.microsoft.com/office/2007/relationships/hdphoto" Target="../media/hdphoto1.wdp"/><Relationship Id="rId5" Type="http://schemas.openxmlformats.org/officeDocument/2006/relationships/oleObject" Target="../embeddings/oleObject4.bin"/><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oleObject" Target="../embeddings/oleObject4.bin"/><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oleObject" Target="../embeddings/oleObject4.bin"/><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oleObject" Target="../embeddings/oleObject4.bin"/><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oleObject" Target="../embeddings/oleObject4.bin"/><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oleObject" Target="../embeddings/oleObject4.bin"/><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oleObject" Target="../embeddings/oleObject3.bin"/><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oleObject" Target="../embeddings/oleObject4.bin"/><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oleObject" Target="../embeddings/oleObject4.bin"/><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3.png"/><Relationship Id="rId4"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oleObject" Target="../embeddings/oleObject4.bin"/><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oleObject" Target="../embeddings/oleObject3.bin"/><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oleObject" Target="../embeddings/oleObject4.bin"/><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oleObject" Target="../embeddings/oleObject3.bin"/><Relationship Id="rId7"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oleObject" Target="../embeddings/oleObject4.bin"/><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oleObject" Target="../embeddings/oleObject3.bin"/><Relationship Id="rId7"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oleObject" Target="../embeddings/oleObject4.bin"/><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oleObject" Target="../embeddings/oleObject4.bin"/><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oleObject" Target="../embeddings/oleObject4.bin"/><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oleObject" Target="../embeddings/oleObject4.bin"/><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oleObject" Target="../embeddings/oleObject3.bin"/><Relationship Id="rId7"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oleObject" Target="../embeddings/oleObject4.bin"/><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depositphotos_24320457-stock-photo-windmill-and-solar-panels-on"/>
          <p:cNvPicPr preferRelativeResize="0">
            <a:picLocks noGrp="1"/>
          </p:cNvPicPr>
          <p:nvPr>
            <p:ph type="body" idx="1"/>
          </p:nvPr>
        </p:nvPicPr>
        <p:blipFill rotWithShape="1">
          <a:blip r:embed="rId3">
            <a:alphaModFix amt="40000"/>
          </a:blip>
          <a:srcRect/>
          <a:stretch/>
        </p:blipFill>
        <p:spPr>
          <a:xfrm>
            <a:off x="-27139" y="-11430"/>
            <a:ext cx="12192000" cy="6830060"/>
          </a:xfrm>
          <a:prstGeom prst="rect">
            <a:avLst/>
          </a:prstGeom>
          <a:noFill/>
          <a:ln>
            <a:noFill/>
          </a:ln>
        </p:spPr>
      </p:pic>
      <p:graphicFrame>
        <p:nvGraphicFramePr>
          <p:cNvPr id="89" name="Google Shape;89;p1"/>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4" imgW="1611796" imgH="1097280" progId="Paint.Picture">
                  <p:embed/>
                </p:oleObj>
              </mc:Choice>
              <mc:Fallback>
                <p:oleObj r:id="rId4" imgW="1611796" imgH="1097280" progId="Paint.Picture">
                  <p:embed/>
                  <p:pic>
                    <p:nvPicPr>
                      <p:cNvPr id="89" name="Google Shape;89;p1"/>
                      <p:cNvPicPr preferRelativeResize="0"/>
                      <p:nvPr/>
                    </p:nvPicPr>
                    <p:blipFill rotWithShape="1">
                      <a:blip r:embed="rId5">
                        <a:alphaModFix/>
                      </a:blip>
                      <a:srcRect/>
                      <a:stretch/>
                    </p:blipFill>
                    <p:spPr>
                      <a:xfrm>
                        <a:off x="10553065" y="19050"/>
                        <a:ext cx="1611796" cy="1097280"/>
                      </a:xfrm>
                      <a:prstGeom prst="rect">
                        <a:avLst/>
                      </a:prstGeom>
                      <a:noFill/>
                      <a:ln>
                        <a:noFill/>
                      </a:ln>
                    </p:spPr>
                  </p:pic>
                </p:oleObj>
              </mc:Fallback>
            </mc:AlternateContent>
          </a:graphicData>
        </a:graphic>
      </p:graphicFrame>
      <p:sp>
        <p:nvSpPr>
          <p:cNvPr id="90" name="Google Shape;90;p1"/>
          <p:cNvSpPr txBox="1"/>
          <p:nvPr/>
        </p:nvSpPr>
        <p:spPr>
          <a:xfrm>
            <a:off x="3799121" y="301671"/>
            <a:ext cx="4064000" cy="1077178"/>
          </a:xfrm>
          <a:prstGeom prst="rect">
            <a:avLst/>
          </a:prstGeom>
          <a:noFill/>
          <a:ln>
            <a:noFill/>
          </a:ln>
        </p:spPr>
        <p:txBody>
          <a:bodyPr spcFirstLastPara="1" wrap="square" lIns="91425" tIns="45700" rIns="91425" bIns="45700" anchor="t" anchorCtr="0">
            <a:spAutoFit/>
          </a:bodyPr>
          <a:lstStyle/>
          <a:p>
            <a:pPr algn="ctr"/>
            <a:r>
              <a:rPr lang="en-US" sz="3200" b="1" dirty="0">
                <a:solidFill>
                  <a:srgbClr val="7030A0"/>
                </a:solidFill>
                <a:latin typeface="Calibri"/>
                <a:ea typeface="Calibri"/>
                <a:cs typeface="Calibri"/>
                <a:sym typeface="Calibri"/>
              </a:rPr>
              <a:t>ICPERES 2024</a:t>
            </a:r>
          </a:p>
          <a:p>
            <a:pPr marL="0" marR="0" lvl="0" indent="0" algn="ctr" rtl="0">
              <a:spcBef>
                <a:spcPts val="0"/>
              </a:spcBef>
              <a:spcAft>
                <a:spcPts val="0"/>
              </a:spcAft>
              <a:buNone/>
            </a:pPr>
            <a:endParaRPr sz="3200" b="1" dirty="0">
              <a:solidFill>
                <a:srgbClr val="7030A0"/>
              </a:solidFill>
              <a:latin typeface="Times New Roman" panose="02020603050405020304" pitchFamily="18" charset="0"/>
              <a:ea typeface="Calibri"/>
              <a:cs typeface="Times New Roman" panose="02020603050405020304" pitchFamily="18" charset="0"/>
              <a:sym typeface="Calibri"/>
            </a:endParaRPr>
          </a:p>
        </p:txBody>
      </p:sp>
      <p:graphicFrame>
        <p:nvGraphicFramePr>
          <p:cNvPr id="91" name="Google Shape;91;p1"/>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6" imgW="1109177" imgH="1188720" progId="Paint.Picture">
                  <p:embed/>
                </p:oleObj>
              </mc:Choice>
              <mc:Fallback>
                <p:oleObj r:id="rId6" imgW="1109177" imgH="1188720" progId="Paint.Picture">
                  <p:embed/>
                  <p:pic>
                    <p:nvPicPr>
                      <p:cNvPr id="91" name="Google Shape;91;p1"/>
                      <p:cNvPicPr preferRelativeResize="0"/>
                      <p:nvPr/>
                    </p:nvPicPr>
                    <p:blipFill rotWithShape="1">
                      <a:blip r:embed="rId7">
                        <a:alphaModFix/>
                      </a:blip>
                      <a:srcRect/>
                      <a:stretch/>
                    </p:blipFill>
                    <p:spPr>
                      <a:xfrm>
                        <a:off x="0" y="-11430"/>
                        <a:ext cx="1109177" cy="1188720"/>
                      </a:xfrm>
                      <a:prstGeom prst="rect">
                        <a:avLst/>
                      </a:prstGeom>
                      <a:noFill/>
                      <a:ln>
                        <a:noFill/>
                      </a:ln>
                    </p:spPr>
                  </p:pic>
                </p:oleObj>
              </mc:Fallback>
            </mc:AlternateContent>
          </a:graphicData>
        </a:graphic>
      </p:graphicFrame>
      <p:sp>
        <p:nvSpPr>
          <p:cNvPr id="92" name="Google Shape;92;p1"/>
          <p:cNvSpPr/>
          <p:nvPr/>
        </p:nvSpPr>
        <p:spPr>
          <a:xfrm>
            <a:off x="629150" y="1916474"/>
            <a:ext cx="11038800" cy="1958531"/>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None/>
            </a:pPr>
            <a:r>
              <a:rPr lang="en-US" sz="3600" b="1" i="0" u="none" dirty="0">
                <a:solidFill>
                  <a:schemeClr val="dk1"/>
                </a:solidFill>
                <a:latin typeface="Times New Roman" panose="02020603050405020304" pitchFamily="18" charset="0"/>
                <a:ea typeface="Calibri"/>
                <a:cs typeface="Times New Roman" panose="02020603050405020304" pitchFamily="18" charset="0"/>
                <a:sym typeface="Calibri"/>
              </a:rPr>
              <a:t>Title of Paper: Android Malware </a:t>
            </a:r>
            <a:r>
              <a:rPr lang="en-US" sz="3600" b="1" dirty="0">
                <a:solidFill>
                  <a:schemeClr val="dk1"/>
                </a:solidFill>
                <a:latin typeface="Times New Roman" panose="02020603050405020304" pitchFamily="18" charset="0"/>
                <a:ea typeface="Calibri"/>
                <a:cs typeface="Times New Roman" panose="02020603050405020304" pitchFamily="18" charset="0"/>
                <a:sym typeface="Calibri"/>
              </a:rPr>
              <a:t>Detection Through</a:t>
            </a:r>
          </a:p>
          <a:p>
            <a:pPr marL="0" marR="0" lvl="0" indent="0" algn="ctr" rtl="0">
              <a:lnSpc>
                <a:spcPct val="90000"/>
              </a:lnSpc>
              <a:spcBef>
                <a:spcPts val="0"/>
              </a:spcBef>
              <a:spcAft>
                <a:spcPts val="0"/>
              </a:spcAft>
              <a:buNone/>
            </a:pPr>
            <a:r>
              <a:rPr lang="en-US" sz="3600" b="1" dirty="0">
                <a:solidFill>
                  <a:schemeClr val="dk1"/>
                </a:solidFill>
                <a:latin typeface="Times New Roman" panose="02020603050405020304" pitchFamily="18" charset="0"/>
                <a:ea typeface="Calibri"/>
                <a:cs typeface="Times New Roman" panose="02020603050405020304" pitchFamily="18" charset="0"/>
                <a:sym typeface="Calibri"/>
              </a:rPr>
              <a:t>Ensemble Learning</a:t>
            </a:r>
            <a:endParaRPr lang="en-US" sz="3600" b="1" i="0" u="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93" name="Google Shape;93;p1"/>
          <p:cNvSpPr txBox="1">
            <a:spLocks noGrp="1"/>
          </p:cNvSpPr>
          <p:nvPr>
            <p:ph type="body" idx="1"/>
          </p:nvPr>
        </p:nvSpPr>
        <p:spPr>
          <a:xfrm>
            <a:off x="6739848" y="4530525"/>
            <a:ext cx="5136466" cy="1825825"/>
          </a:xfrm>
          <a:prstGeom prst="rect">
            <a:avLst/>
          </a:prstGeom>
          <a:noFill/>
          <a:ln>
            <a:noFill/>
          </a:ln>
        </p:spPr>
        <p:txBody>
          <a:bodyPr spcFirstLastPara="1" wrap="square" lIns="91425" tIns="45700" rIns="91425" bIns="45700" anchor="t" anchorCtr="0">
            <a:noAutofit/>
          </a:bodyPr>
          <a:lstStyle/>
          <a:p>
            <a:pPr marL="12700" marR="0" lvl="0" indent="0" algn="l" rtl="0">
              <a:lnSpc>
                <a:spcPct val="90000"/>
              </a:lnSpc>
              <a:spcBef>
                <a:spcPts val="0"/>
              </a:spcBef>
              <a:spcAft>
                <a:spcPts val="0"/>
              </a:spcAft>
              <a:buClr>
                <a:schemeClr val="dk1"/>
              </a:buClr>
              <a:buSzPts val="2600"/>
              <a:buNone/>
            </a:pPr>
            <a:r>
              <a:rPr lang="en-US" sz="2200" b="1" dirty="0">
                <a:solidFill>
                  <a:schemeClr val="dk1"/>
                </a:solidFill>
                <a:latin typeface="Times New Roman" panose="02020603050405020304" pitchFamily="18" charset="0"/>
                <a:cs typeface="Times New Roman" panose="02020603050405020304" pitchFamily="18" charset="0"/>
                <a:sym typeface="Calibri"/>
              </a:rPr>
              <a:t>Author Names: </a:t>
            </a:r>
            <a:r>
              <a:rPr lang="en-US" sz="2200" dirty="0">
                <a:solidFill>
                  <a:schemeClr val="dk1"/>
                </a:solidFill>
                <a:latin typeface="Times New Roman" panose="02020603050405020304" pitchFamily="18" charset="0"/>
                <a:cs typeface="Times New Roman" panose="02020603050405020304" pitchFamily="18" charset="0"/>
                <a:sym typeface="Calibri"/>
              </a:rPr>
              <a:t>Karthika R N</a:t>
            </a:r>
            <a:r>
              <a:rPr lang="en-US" sz="2200" dirty="0">
                <a:latin typeface="Times New Roman" panose="02020603050405020304" pitchFamily="18" charset="0"/>
                <a:cs typeface="Times New Roman" panose="02020603050405020304" pitchFamily="18" charset="0"/>
              </a:rPr>
              <a:t>, Hariharan S</a:t>
            </a:r>
            <a:endParaRPr sz="2200" dirty="0">
              <a:solidFill>
                <a:schemeClr val="dk1"/>
              </a:solidFill>
              <a:latin typeface="Times New Roman" panose="02020603050405020304" pitchFamily="18" charset="0"/>
              <a:cs typeface="Times New Roman" panose="02020603050405020304" pitchFamily="18" charset="0"/>
              <a:sym typeface="Calibri"/>
            </a:endParaRPr>
          </a:p>
          <a:p>
            <a:pPr marL="228600" marR="0" lvl="0" indent="-50800" algn="l" rtl="0">
              <a:lnSpc>
                <a:spcPct val="90000"/>
              </a:lnSpc>
              <a:spcBef>
                <a:spcPts val="1000"/>
              </a:spcBef>
              <a:spcAft>
                <a:spcPts val="0"/>
              </a:spcAft>
              <a:buClr>
                <a:schemeClr val="dk1"/>
              </a:buClr>
              <a:buSzPts val="2800"/>
              <a:buFont typeface="Arial"/>
              <a:buNone/>
            </a:pPr>
            <a:endParaRPr sz="2200" dirty="0">
              <a:solidFill>
                <a:schemeClr val="dk1"/>
              </a:solidFill>
              <a:latin typeface="Times New Roman" panose="02020603050405020304" pitchFamily="18" charset="0"/>
              <a:cs typeface="Times New Roman" panose="02020603050405020304" pitchFamily="18" charset="0"/>
              <a:sym typeface="Calibri"/>
            </a:endParaRPr>
          </a:p>
          <a:p>
            <a:pPr marL="12700" marR="0" lvl="0" indent="0" algn="l" rtl="0">
              <a:lnSpc>
                <a:spcPct val="90000"/>
              </a:lnSpc>
              <a:spcBef>
                <a:spcPts val="1000"/>
              </a:spcBef>
              <a:spcAft>
                <a:spcPts val="0"/>
              </a:spcAft>
              <a:buClr>
                <a:schemeClr val="dk1"/>
              </a:buClr>
              <a:buSzPts val="2600"/>
              <a:buNone/>
            </a:pPr>
            <a:r>
              <a:rPr lang="en-US" sz="2200" b="1" dirty="0">
                <a:solidFill>
                  <a:schemeClr val="dk1"/>
                </a:solidFill>
                <a:latin typeface="Times New Roman" panose="02020603050405020304" pitchFamily="18" charset="0"/>
                <a:cs typeface="Times New Roman" panose="02020603050405020304" pitchFamily="18" charset="0"/>
                <a:sym typeface="Calibri"/>
              </a:rPr>
              <a:t>Affiliation: </a:t>
            </a:r>
            <a:r>
              <a:rPr lang="en-US" sz="2200" dirty="0">
                <a:solidFill>
                  <a:schemeClr val="dk1"/>
                </a:solidFill>
                <a:latin typeface="Times New Roman" panose="02020603050405020304" pitchFamily="18" charset="0"/>
                <a:cs typeface="Times New Roman" panose="02020603050405020304" pitchFamily="18" charset="0"/>
                <a:sym typeface="Calibri"/>
              </a:rPr>
              <a:t>Saveetha Engineering College</a:t>
            </a:r>
            <a:endParaRPr sz="2200" dirty="0">
              <a:solidFill>
                <a:schemeClr val="dk1"/>
              </a:solidFill>
              <a:latin typeface="Times New Roman" panose="02020603050405020304" pitchFamily="18" charset="0"/>
              <a:cs typeface="Times New Roman" panose="02020603050405020304" pitchFamily="18" charset="0"/>
              <a:sym typeface="Calibri"/>
            </a:endParaRPr>
          </a:p>
          <a:p>
            <a:pPr marL="228600" marR="0" lvl="0" indent="-50800" algn="l" rtl="0">
              <a:lnSpc>
                <a:spcPct val="90000"/>
              </a:lnSpc>
              <a:spcBef>
                <a:spcPts val="1000"/>
              </a:spcBef>
              <a:spcAft>
                <a:spcPts val="0"/>
              </a:spcAft>
              <a:buClr>
                <a:schemeClr val="dk1"/>
              </a:buClr>
              <a:buSzPts val="2800"/>
              <a:buFont typeface="Arial"/>
              <a:buNone/>
            </a:pPr>
            <a:endParaRPr sz="2200" dirty="0">
              <a:solidFill>
                <a:schemeClr val="dk1"/>
              </a:solidFill>
              <a:latin typeface="Times New Roman" panose="02020603050405020304" pitchFamily="18" charset="0"/>
              <a:cs typeface="Times New Roman" panose="02020603050405020304" pitchFamily="18" charset="0"/>
              <a:sym typeface="Calibri"/>
            </a:endParaRPr>
          </a:p>
          <a:p>
            <a:pPr marL="12700" marR="0" lvl="0" indent="0" algn="l" rtl="0">
              <a:lnSpc>
                <a:spcPct val="90000"/>
              </a:lnSpc>
              <a:spcBef>
                <a:spcPts val="1000"/>
              </a:spcBef>
              <a:spcAft>
                <a:spcPts val="0"/>
              </a:spcAft>
              <a:buClr>
                <a:schemeClr val="dk1"/>
              </a:buClr>
              <a:buSzPts val="2600"/>
              <a:buNone/>
            </a:pPr>
            <a:r>
              <a:rPr lang="en-US" sz="2200" b="1" dirty="0">
                <a:solidFill>
                  <a:schemeClr val="dk1"/>
                </a:solidFill>
                <a:latin typeface="Times New Roman" panose="02020603050405020304" pitchFamily="18" charset="0"/>
                <a:cs typeface="Times New Roman" panose="02020603050405020304" pitchFamily="18" charset="0"/>
                <a:sym typeface="Calibri"/>
              </a:rPr>
              <a:t>Paper ID</a:t>
            </a:r>
            <a:r>
              <a:rPr lang="en-US" sz="2200" dirty="0">
                <a:solidFill>
                  <a:schemeClr val="dk1"/>
                </a:solidFill>
                <a:latin typeface="Times New Roman" panose="02020603050405020304" pitchFamily="18" charset="0"/>
                <a:cs typeface="Times New Roman" panose="02020603050405020304" pitchFamily="18" charset="0"/>
                <a:sym typeface="Calibri"/>
              </a:rPr>
              <a:t>: </a:t>
            </a:r>
            <a:r>
              <a:rPr lang="en-IN" sz="2200" b="0" i="0" dirty="0">
                <a:solidFill>
                  <a:srgbClr val="000000"/>
                </a:solidFill>
                <a:effectLst/>
                <a:latin typeface="Times New Roman" panose="02020603050405020304" pitchFamily="18" charset="0"/>
                <a:cs typeface="Times New Roman" panose="02020603050405020304" pitchFamily="18" charset="0"/>
              </a:rPr>
              <a:t>2024-435</a:t>
            </a:r>
            <a:endParaRPr sz="2200" dirty="0">
              <a:solidFill>
                <a:schemeClr val="dk1"/>
              </a:solidFill>
              <a:latin typeface="Times New Roman" panose="02020603050405020304" pitchFamily="18" charset="0"/>
              <a:cs typeface="Times New Roman" panose="02020603050405020304" pitchFamily="18" charset="0"/>
              <a:sym typeface="Calibri"/>
            </a:endParaRPr>
          </a:p>
        </p:txBody>
      </p:sp>
      <p:sp>
        <p:nvSpPr>
          <p:cNvPr id="94" name="Google Shape;9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graphicFrame>
        <p:nvGraphicFramePr>
          <p:cNvPr id="99" name="Google Shape;99;p2"/>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3" imgW="1611796" imgH="1097280" progId="Paint.Picture">
                  <p:embed/>
                </p:oleObj>
              </mc:Choice>
              <mc:Fallback>
                <p:oleObj r:id="rId3" imgW="1611796" imgH="1097280" progId="Paint.Picture">
                  <p:embed/>
                  <p:pic>
                    <p:nvPicPr>
                      <p:cNvPr id="99" name="Google Shape;99;p2"/>
                      <p:cNvPicPr preferRelativeResize="0"/>
                      <p:nvPr/>
                    </p:nvPicPr>
                    <p:blipFill rotWithShape="1">
                      <a:blip r:embed="rId4">
                        <a:alphaModFix/>
                      </a:blip>
                      <a:srcRect/>
                      <a:stretch/>
                    </p:blipFill>
                    <p:spPr>
                      <a:xfrm>
                        <a:off x="10553065" y="19050"/>
                        <a:ext cx="1611796" cy="1097280"/>
                      </a:xfrm>
                      <a:prstGeom prst="rect">
                        <a:avLst/>
                      </a:prstGeom>
                      <a:noFill/>
                      <a:ln>
                        <a:noFill/>
                      </a:ln>
                    </p:spPr>
                  </p:pic>
                </p:oleObj>
              </mc:Fallback>
            </mc:AlternateContent>
          </a:graphicData>
        </a:graphic>
      </p:graphicFrame>
      <p:sp>
        <p:nvSpPr>
          <p:cNvPr id="100" name="Google Shape;100;p2"/>
          <p:cNvSpPr txBox="1"/>
          <p:nvPr/>
        </p:nvSpPr>
        <p:spPr>
          <a:xfrm>
            <a:off x="3608341" y="319930"/>
            <a:ext cx="4064000" cy="5219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7030A0"/>
                </a:solidFill>
                <a:latin typeface="Calibri"/>
                <a:ea typeface="Calibri"/>
                <a:cs typeface="Calibri"/>
                <a:sym typeface="Calibri"/>
              </a:rPr>
              <a:t>ICPERES 2024</a:t>
            </a:r>
            <a:endParaRPr sz="2800" b="1" dirty="0">
              <a:solidFill>
                <a:srgbClr val="7030A0"/>
              </a:solidFill>
              <a:latin typeface="Calibri"/>
              <a:ea typeface="Calibri"/>
              <a:cs typeface="Calibri"/>
              <a:sym typeface="Calibri"/>
            </a:endParaRPr>
          </a:p>
        </p:txBody>
      </p:sp>
      <p:graphicFrame>
        <p:nvGraphicFramePr>
          <p:cNvPr id="101" name="Google Shape;101;p2"/>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5" imgW="1109177" imgH="1188720" progId="Paint.Picture">
                  <p:embed/>
                </p:oleObj>
              </mc:Choice>
              <mc:Fallback>
                <p:oleObj r:id="rId5" imgW="1109177" imgH="1188720" progId="Paint.Picture">
                  <p:embed/>
                  <p:pic>
                    <p:nvPicPr>
                      <p:cNvPr id="101" name="Google Shape;101;p2"/>
                      <p:cNvPicPr preferRelativeResize="0"/>
                      <p:nvPr/>
                    </p:nvPicPr>
                    <p:blipFill rotWithShape="1">
                      <a:blip r:embed="rId6">
                        <a:alphaModFix/>
                      </a:blip>
                      <a:srcRect/>
                      <a:stretch/>
                    </p:blipFill>
                    <p:spPr>
                      <a:xfrm>
                        <a:off x="0" y="-11430"/>
                        <a:ext cx="1109177" cy="1188720"/>
                      </a:xfrm>
                      <a:prstGeom prst="rect">
                        <a:avLst/>
                      </a:prstGeom>
                      <a:noFill/>
                      <a:ln>
                        <a:noFill/>
                      </a:ln>
                    </p:spPr>
                  </p:pic>
                </p:oleObj>
              </mc:Fallback>
            </mc:AlternateContent>
          </a:graphicData>
        </a:graphic>
      </p:graphicFrame>
      <p:sp>
        <p:nvSpPr>
          <p:cNvPr id="105" name="Google Shape;105;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grpSp>
        <p:nvGrpSpPr>
          <p:cNvPr id="35" name="Group 35">
            <a:extLst>
              <a:ext uri="{FF2B5EF4-FFF2-40B4-BE49-F238E27FC236}">
                <a16:creationId xmlns:a16="http://schemas.microsoft.com/office/drawing/2014/main" id="{DC9D542E-28EE-C61D-86E3-391298C37B11}"/>
              </a:ext>
            </a:extLst>
          </p:cNvPr>
          <p:cNvGrpSpPr/>
          <p:nvPr/>
        </p:nvGrpSpPr>
        <p:grpSpPr>
          <a:xfrm rot="5400000">
            <a:off x="2051941" y="1904664"/>
            <a:ext cx="4142073" cy="4207171"/>
            <a:chOff x="3782395" y="1598622"/>
            <a:chExt cx="4680601" cy="4754160"/>
          </a:xfrm>
        </p:grpSpPr>
        <p:sp>
          <p:nvSpPr>
            <p:cNvPr id="36" name="Block Arc 36">
              <a:extLst>
                <a:ext uri="{FF2B5EF4-FFF2-40B4-BE49-F238E27FC236}">
                  <a16:creationId xmlns:a16="http://schemas.microsoft.com/office/drawing/2014/main" id="{113766DC-24A5-0DC3-56AF-EC50A3E6F3D4}"/>
                </a:ext>
              </a:extLst>
            </p:cNvPr>
            <p:cNvSpPr/>
            <p:nvPr/>
          </p:nvSpPr>
          <p:spPr>
            <a:xfrm rot="829151">
              <a:off x="4011149" y="1900936"/>
              <a:ext cx="4451847" cy="4451846"/>
            </a:xfrm>
            <a:prstGeom prst="blockArc">
              <a:avLst>
                <a:gd name="adj1" fmla="val 9525476"/>
                <a:gd name="adj2" fmla="val 21568928"/>
                <a:gd name="adj3" fmla="val 1093"/>
              </a:avLst>
            </a:prstGeom>
            <a:solidFill>
              <a:srgbClr val="1ED0A6"/>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a:ln>
                  <a:noFill/>
                </a:ln>
                <a:solidFill>
                  <a:prstClr val="black"/>
                </a:solidFill>
                <a:effectLst/>
                <a:uLnTx/>
                <a:uFillTx/>
                <a:latin typeface="Arial"/>
                <a:cs typeface="+mn-cs"/>
              </a:endParaRPr>
            </a:p>
          </p:txBody>
        </p:sp>
        <p:sp>
          <p:nvSpPr>
            <p:cNvPr id="37" name="Oval 37">
              <a:extLst>
                <a:ext uri="{FF2B5EF4-FFF2-40B4-BE49-F238E27FC236}">
                  <a16:creationId xmlns:a16="http://schemas.microsoft.com/office/drawing/2014/main" id="{1981E5D9-60FA-98A4-22E2-B96C0C12EB33}"/>
                </a:ext>
              </a:extLst>
            </p:cNvPr>
            <p:cNvSpPr/>
            <p:nvPr/>
          </p:nvSpPr>
          <p:spPr>
            <a:xfrm>
              <a:off x="5734364" y="1598622"/>
              <a:ext cx="713346" cy="740528"/>
            </a:xfrm>
            <a:prstGeom prst="ellipse">
              <a:avLst/>
            </a:prstGeom>
            <a:solidFill>
              <a:sysClr val="window" lastClr="FFFFFF"/>
            </a:solidFill>
            <a:ln w="38100" cap="flat" cmpd="sng" algn="ctr">
              <a:solidFill>
                <a:srgbClr val="00BDF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a:ln>
                  <a:noFill/>
                </a:ln>
                <a:solidFill>
                  <a:prstClr val="white"/>
                </a:solidFill>
                <a:effectLst/>
                <a:uLnTx/>
                <a:uFillTx/>
                <a:latin typeface="Arial"/>
                <a:cs typeface="+mn-cs"/>
              </a:endParaRPr>
            </a:p>
          </p:txBody>
        </p:sp>
        <p:sp>
          <p:nvSpPr>
            <p:cNvPr id="38" name="Oval 38">
              <a:extLst>
                <a:ext uri="{FF2B5EF4-FFF2-40B4-BE49-F238E27FC236}">
                  <a16:creationId xmlns:a16="http://schemas.microsoft.com/office/drawing/2014/main" id="{57E0DA18-8ECE-87E2-D443-89B513842941}"/>
                </a:ext>
              </a:extLst>
            </p:cNvPr>
            <p:cNvSpPr/>
            <p:nvPr/>
          </p:nvSpPr>
          <p:spPr>
            <a:xfrm>
              <a:off x="4654680" y="2013770"/>
              <a:ext cx="713346" cy="687007"/>
            </a:xfrm>
            <a:prstGeom prst="ellipse">
              <a:avLst/>
            </a:prstGeom>
            <a:solidFill>
              <a:sysClr val="window" lastClr="FFFFFF"/>
            </a:solidFill>
            <a:ln w="38100" cap="flat" cmpd="sng" algn="ctr">
              <a:solidFill>
                <a:srgbClr val="1C82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dirty="0">
                <a:ln>
                  <a:noFill/>
                </a:ln>
                <a:solidFill>
                  <a:prstClr val="white"/>
                </a:solidFill>
                <a:effectLst/>
                <a:uLnTx/>
                <a:uFillTx/>
                <a:latin typeface="Arial"/>
                <a:cs typeface="+mn-cs"/>
              </a:endParaRPr>
            </a:p>
          </p:txBody>
        </p:sp>
        <p:sp>
          <p:nvSpPr>
            <p:cNvPr id="39" name="Oval 39">
              <a:extLst>
                <a:ext uri="{FF2B5EF4-FFF2-40B4-BE49-F238E27FC236}">
                  <a16:creationId xmlns:a16="http://schemas.microsoft.com/office/drawing/2014/main" id="{40D9FF3D-F2ED-6FB5-767C-7A51C1192780}"/>
                </a:ext>
              </a:extLst>
            </p:cNvPr>
            <p:cNvSpPr/>
            <p:nvPr/>
          </p:nvSpPr>
          <p:spPr>
            <a:xfrm>
              <a:off x="6950090" y="1847978"/>
              <a:ext cx="713346" cy="740528"/>
            </a:xfrm>
            <a:prstGeom prst="ellipse">
              <a:avLst/>
            </a:prstGeom>
            <a:solidFill>
              <a:sysClr val="window" lastClr="FFFFFF"/>
            </a:solidFill>
            <a:ln w="38100" cap="flat" cmpd="sng" algn="ctr">
              <a:solidFill>
                <a:srgbClr val="1ED0A6"/>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dirty="0">
                <a:ln>
                  <a:noFill/>
                </a:ln>
                <a:solidFill>
                  <a:prstClr val="white"/>
                </a:solidFill>
                <a:effectLst/>
                <a:uLnTx/>
                <a:uFillTx/>
                <a:latin typeface="Arial"/>
                <a:cs typeface="+mn-cs"/>
              </a:endParaRPr>
            </a:p>
          </p:txBody>
        </p:sp>
        <p:sp>
          <p:nvSpPr>
            <p:cNvPr id="40" name="Oval 40">
              <a:extLst>
                <a:ext uri="{FF2B5EF4-FFF2-40B4-BE49-F238E27FC236}">
                  <a16:creationId xmlns:a16="http://schemas.microsoft.com/office/drawing/2014/main" id="{BA568938-8FBB-F8BA-147C-E7F8F30F0CF3}"/>
                </a:ext>
              </a:extLst>
            </p:cNvPr>
            <p:cNvSpPr/>
            <p:nvPr/>
          </p:nvSpPr>
          <p:spPr>
            <a:xfrm>
              <a:off x="3782395" y="2988365"/>
              <a:ext cx="713346" cy="687009"/>
            </a:xfrm>
            <a:prstGeom prst="ellipse">
              <a:avLst/>
            </a:prstGeom>
            <a:solidFill>
              <a:sysClr val="window" lastClr="FFFFFF"/>
            </a:solidFill>
            <a:ln w="38100" cap="flat" cmpd="sng" algn="ctr">
              <a:solidFill>
                <a:srgbClr val="59595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dirty="0">
                <a:ln>
                  <a:noFill/>
                </a:ln>
                <a:solidFill>
                  <a:prstClr val="white"/>
                </a:solidFill>
                <a:effectLst/>
                <a:uLnTx/>
                <a:uFillTx/>
                <a:latin typeface="Arial"/>
                <a:cs typeface="+mn-cs"/>
              </a:endParaRPr>
            </a:p>
          </p:txBody>
        </p:sp>
      </p:grpSp>
      <p:grpSp>
        <p:nvGrpSpPr>
          <p:cNvPr id="41" name="Group 293">
            <a:extLst>
              <a:ext uri="{FF2B5EF4-FFF2-40B4-BE49-F238E27FC236}">
                <a16:creationId xmlns:a16="http://schemas.microsoft.com/office/drawing/2014/main" id="{AAB398D1-3817-1F49-3AA3-0B553987106F}"/>
              </a:ext>
            </a:extLst>
          </p:cNvPr>
          <p:cNvGrpSpPr/>
          <p:nvPr/>
        </p:nvGrpSpPr>
        <p:grpSpPr>
          <a:xfrm>
            <a:off x="903382" y="3271851"/>
            <a:ext cx="2717471" cy="1806485"/>
            <a:chOff x="6917382" y="4652701"/>
            <a:chExt cx="2983072" cy="1983048"/>
          </a:xfrm>
        </p:grpSpPr>
        <p:sp>
          <p:nvSpPr>
            <p:cNvPr id="42" name="Freeform: Shape 294">
              <a:extLst>
                <a:ext uri="{FF2B5EF4-FFF2-40B4-BE49-F238E27FC236}">
                  <a16:creationId xmlns:a16="http://schemas.microsoft.com/office/drawing/2014/main" id="{EB4C135B-4BC6-D23C-FAB7-9D737B24F8C2}"/>
                </a:ext>
              </a:extLst>
            </p:cNvPr>
            <p:cNvSpPr/>
            <p:nvPr/>
          </p:nvSpPr>
          <p:spPr>
            <a:xfrm>
              <a:off x="6917382" y="4652701"/>
              <a:ext cx="2983072" cy="1983048"/>
            </a:xfrm>
            <a:custGeom>
              <a:avLst/>
              <a:gdLst>
                <a:gd name="connsiteX0" fmla="*/ 2977241 w 2983072"/>
                <a:gd name="connsiteY0" fmla="*/ 1404120 h 1983048"/>
                <a:gd name="connsiteX1" fmla="*/ 1664038 w 2983072"/>
                <a:gd name="connsiteY1" fmla="*/ 1312116 h 1983048"/>
                <a:gd name="connsiteX2" fmla="*/ 1634323 w 2983072"/>
                <a:gd name="connsiteY2" fmla="*/ 1288114 h 1983048"/>
                <a:gd name="connsiteX3" fmla="*/ 1230305 w 2983072"/>
                <a:gd name="connsiteY3" fmla="*/ 69774 h 1983048"/>
                <a:gd name="connsiteX4" fmla="*/ 1130872 w 2983072"/>
                <a:gd name="connsiteY4" fmla="*/ 56 h 1983048"/>
                <a:gd name="connsiteX5" fmla="*/ 68538 w 2983072"/>
                <a:gd name="connsiteY5" fmla="*/ 15486 h 1983048"/>
                <a:gd name="connsiteX6" fmla="*/ 1678 w 2983072"/>
                <a:gd name="connsiteY6" fmla="*/ 98918 h 1983048"/>
                <a:gd name="connsiteX7" fmla="*/ 437126 w 2983072"/>
                <a:gd name="connsiteY7" fmla="*/ 1469265 h 1983048"/>
                <a:gd name="connsiteX8" fmla="*/ 531416 w 2983072"/>
                <a:gd name="connsiteY8" fmla="*/ 1703562 h 1983048"/>
                <a:gd name="connsiteX9" fmla="*/ 478271 w 2983072"/>
                <a:gd name="connsiteY9" fmla="*/ 1825853 h 1983048"/>
                <a:gd name="connsiteX10" fmla="*/ 554274 w 2983072"/>
                <a:gd name="connsiteY10" fmla="*/ 1888141 h 1983048"/>
                <a:gd name="connsiteX11" fmla="*/ 2109201 w 2983072"/>
                <a:gd name="connsiteY11" fmla="*/ 1983003 h 1983048"/>
                <a:gd name="connsiteX12" fmla="*/ 2322354 w 2983072"/>
                <a:gd name="connsiteY12" fmla="*/ 1912714 h 1983048"/>
                <a:gd name="connsiteX13" fmla="*/ 2959525 w 2983072"/>
                <a:gd name="connsiteY13" fmla="*/ 1470408 h 1983048"/>
                <a:gd name="connsiteX14" fmla="*/ 2977241 w 2983072"/>
                <a:gd name="connsiteY14" fmla="*/ 1404120 h 1983048"/>
                <a:gd name="connsiteX15" fmla="*/ 2977241 w 2983072"/>
                <a:gd name="connsiteY15" fmla="*/ 1404120 h 19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3072" h="1983048">
                  <a:moveTo>
                    <a:pt x="2977241" y="1404120"/>
                  </a:moveTo>
                  <a:cubicBezTo>
                    <a:pt x="2934953" y="1378976"/>
                    <a:pt x="1826903" y="1330402"/>
                    <a:pt x="1664038" y="1312116"/>
                  </a:cubicBezTo>
                  <a:cubicBezTo>
                    <a:pt x="1645752" y="1310401"/>
                    <a:pt x="1638895" y="1303544"/>
                    <a:pt x="1634323" y="1288114"/>
                  </a:cubicBezTo>
                  <a:cubicBezTo>
                    <a:pt x="1595464" y="1168680"/>
                    <a:pt x="1325737" y="356644"/>
                    <a:pt x="1230305" y="69774"/>
                  </a:cubicBezTo>
                  <a:cubicBezTo>
                    <a:pt x="1212018" y="14914"/>
                    <a:pt x="1189160" y="-1087"/>
                    <a:pt x="1130872" y="56"/>
                  </a:cubicBezTo>
                  <a:cubicBezTo>
                    <a:pt x="1060011" y="1199"/>
                    <a:pt x="140541" y="14914"/>
                    <a:pt x="68538" y="15486"/>
                  </a:cubicBezTo>
                  <a:cubicBezTo>
                    <a:pt x="17678" y="16057"/>
                    <a:pt x="-6894" y="48059"/>
                    <a:pt x="1678" y="98918"/>
                  </a:cubicBezTo>
                  <a:cubicBezTo>
                    <a:pt x="6249" y="125776"/>
                    <a:pt x="422840" y="1433835"/>
                    <a:pt x="437126" y="1469265"/>
                  </a:cubicBezTo>
                  <a:cubicBezTo>
                    <a:pt x="467413" y="1548126"/>
                    <a:pt x="471413" y="1637273"/>
                    <a:pt x="531416" y="1703562"/>
                  </a:cubicBezTo>
                  <a:cubicBezTo>
                    <a:pt x="458270" y="1744707"/>
                    <a:pt x="455413" y="1751564"/>
                    <a:pt x="478271" y="1825853"/>
                  </a:cubicBezTo>
                  <a:cubicBezTo>
                    <a:pt x="489700" y="1863569"/>
                    <a:pt x="514272" y="1885284"/>
                    <a:pt x="554274" y="1888141"/>
                  </a:cubicBezTo>
                  <a:cubicBezTo>
                    <a:pt x="729711" y="1900713"/>
                    <a:pt x="1952051" y="1985289"/>
                    <a:pt x="2109201" y="1983003"/>
                  </a:cubicBezTo>
                  <a:cubicBezTo>
                    <a:pt x="2188062" y="1981288"/>
                    <a:pt x="2226350" y="1983574"/>
                    <a:pt x="2322354" y="1912714"/>
                  </a:cubicBezTo>
                  <a:cubicBezTo>
                    <a:pt x="2388643" y="1865283"/>
                    <a:pt x="2905809" y="1512125"/>
                    <a:pt x="2959525" y="1470408"/>
                  </a:cubicBezTo>
                  <a:cubicBezTo>
                    <a:pt x="2984670" y="1449836"/>
                    <a:pt x="2988098" y="1430978"/>
                    <a:pt x="2977241" y="1404120"/>
                  </a:cubicBezTo>
                  <a:lnTo>
                    <a:pt x="2977241" y="1404120"/>
                  </a:lnTo>
                  <a:close/>
                </a:path>
              </a:pathLst>
            </a:custGeom>
            <a:solidFill>
              <a:srgbClr val="484848"/>
            </a:solidFill>
            <a:ln w="570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43" name="Freeform: Shape 295">
              <a:extLst>
                <a:ext uri="{FF2B5EF4-FFF2-40B4-BE49-F238E27FC236}">
                  <a16:creationId xmlns:a16="http://schemas.microsoft.com/office/drawing/2014/main" id="{B7193584-2E42-8E50-5547-580B27D7722A}"/>
                </a:ext>
              </a:extLst>
            </p:cNvPr>
            <p:cNvSpPr/>
            <p:nvPr/>
          </p:nvSpPr>
          <p:spPr>
            <a:xfrm>
              <a:off x="7049409" y="4778370"/>
              <a:ext cx="1445617" cy="1416648"/>
            </a:xfrm>
            <a:custGeom>
              <a:avLst/>
              <a:gdLst>
                <a:gd name="connsiteX0" fmla="*/ 1442293 w 1445617"/>
                <a:gd name="connsiteY0" fmla="*/ 1036725 h 1416648"/>
                <a:gd name="connsiteX1" fmla="*/ 1349718 w 1445617"/>
                <a:gd name="connsiteY1" fmla="*/ 770427 h 1416648"/>
                <a:gd name="connsiteX2" fmla="*/ 1094277 w 1445617"/>
                <a:gd name="connsiteY2" fmla="*/ 25251 h 1416648"/>
                <a:gd name="connsiteX3" fmla="*/ 1059419 w 1445617"/>
                <a:gd name="connsiteY3" fmla="*/ 107 h 1416648"/>
                <a:gd name="connsiteX4" fmla="*/ 62802 w 1445617"/>
                <a:gd name="connsiteY4" fmla="*/ 41251 h 1416648"/>
                <a:gd name="connsiteX5" fmla="*/ 13086 w 1445617"/>
                <a:gd name="connsiteY5" fmla="*/ 109255 h 1416648"/>
                <a:gd name="connsiteX6" fmla="*/ 166807 w 1445617"/>
                <a:gd name="connsiteY6" fmla="*/ 575561 h 1416648"/>
                <a:gd name="connsiteX7" fmla="*/ 430247 w 1445617"/>
                <a:gd name="connsiteY7" fmla="*/ 1385312 h 1416648"/>
                <a:gd name="connsiteX8" fmla="*/ 478250 w 1445617"/>
                <a:gd name="connsiteY8" fmla="*/ 1408742 h 1416648"/>
                <a:gd name="connsiteX9" fmla="*/ 1106278 w 1445617"/>
                <a:gd name="connsiteY9" fmla="*/ 1184160 h 1416648"/>
                <a:gd name="connsiteX10" fmla="*/ 1245141 w 1445617"/>
                <a:gd name="connsiteY10" fmla="*/ 1132729 h 1416648"/>
                <a:gd name="connsiteX11" fmla="*/ 1245141 w 1445617"/>
                <a:gd name="connsiteY11" fmla="*/ 1132729 h 1416648"/>
                <a:gd name="connsiteX12" fmla="*/ 1245141 w 1445617"/>
                <a:gd name="connsiteY12" fmla="*/ 1132729 h 1416648"/>
                <a:gd name="connsiteX13" fmla="*/ 1424007 w 1445617"/>
                <a:gd name="connsiteY13" fmla="*/ 1071012 h 1416648"/>
                <a:gd name="connsiteX14" fmla="*/ 1442293 w 1445617"/>
                <a:gd name="connsiteY14" fmla="*/ 1036725 h 1416648"/>
                <a:gd name="connsiteX15" fmla="*/ 1442293 w 1445617"/>
                <a:gd name="connsiteY15" fmla="*/ 1036725 h 141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45617" h="1416648">
                  <a:moveTo>
                    <a:pt x="1442293" y="1036725"/>
                  </a:moveTo>
                  <a:cubicBezTo>
                    <a:pt x="1410292" y="948150"/>
                    <a:pt x="1380005" y="859003"/>
                    <a:pt x="1349718" y="770427"/>
                  </a:cubicBezTo>
                  <a:cubicBezTo>
                    <a:pt x="1263999" y="521845"/>
                    <a:pt x="1178853" y="273833"/>
                    <a:pt x="1094277" y="25251"/>
                  </a:cubicBezTo>
                  <a:cubicBezTo>
                    <a:pt x="1087991" y="6964"/>
                    <a:pt x="1080563" y="-1036"/>
                    <a:pt x="1059419" y="107"/>
                  </a:cubicBezTo>
                  <a:cubicBezTo>
                    <a:pt x="1013131" y="2964"/>
                    <a:pt x="181093" y="35537"/>
                    <a:pt x="62802" y="41251"/>
                  </a:cubicBezTo>
                  <a:cubicBezTo>
                    <a:pt x="-9201" y="44680"/>
                    <a:pt x="-9201" y="41823"/>
                    <a:pt x="13086" y="109255"/>
                  </a:cubicBezTo>
                  <a:cubicBezTo>
                    <a:pt x="64517" y="264690"/>
                    <a:pt x="115948" y="420126"/>
                    <a:pt x="166807" y="575561"/>
                  </a:cubicBezTo>
                  <a:cubicBezTo>
                    <a:pt x="254811" y="845288"/>
                    <a:pt x="342243" y="1115586"/>
                    <a:pt x="430247" y="1385312"/>
                  </a:cubicBezTo>
                  <a:cubicBezTo>
                    <a:pt x="442248" y="1422457"/>
                    <a:pt x="442819" y="1421314"/>
                    <a:pt x="478250" y="1408742"/>
                  </a:cubicBezTo>
                  <a:cubicBezTo>
                    <a:pt x="687973" y="1333881"/>
                    <a:pt x="897126" y="1259592"/>
                    <a:pt x="1106278" y="1184160"/>
                  </a:cubicBezTo>
                  <a:cubicBezTo>
                    <a:pt x="1152566" y="1167588"/>
                    <a:pt x="1201139" y="1155016"/>
                    <a:pt x="1245141" y="1132729"/>
                  </a:cubicBezTo>
                  <a:lnTo>
                    <a:pt x="1245141" y="1132729"/>
                  </a:lnTo>
                  <a:lnTo>
                    <a:pt x="1245141" y="1132729"/>
                  </a:lnTo>
                  <a:cubicBezTo>
                    <a:pt x="1304573" y="1112157"/>
                    <a:pt x="1364004" y="1090442"/>
                    <a:pt x="1424007" y="1071012"/>
                  </a:cubicBezTo>
                  <a:cubicBezTo>
                    <a:pt x="1445150" y="1065298"/>
                    <a:pt x="1449722" y="1057869"/>
                    <a:pt x="1442293" y="1036725"/>
                  </a:cubicBezTo>
                  <a:lnTo>
                    <a:pt x="1442293" y="1036725"/>
                  </a:lnTo>
                  <a:close/>
                </a:path>
              </a:pathLst>
            </a:custGeom>
            <a:solidFill>
              <a:srgbClr val="00BDFB"/>
            </a:solidFill>
            <a:ln w="570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44" name="Freeform: Shape 296">
              <a:extLst>
                <a:ext uri="{FF2B5EF4-FFF2-40B4-BE49-F238E27FC236}">
                  <a16:creationId xmlns:a16="http://schemas.microsoft.com/office/drawing/2014/main" id="{2FCBC3C6-EFD0-15A1-697F-80EE492ACA9C}"/>
                </a:ext>
              </a:extLst>
            </p:cNvPr>
            <p:cNvSpPr/>
            <p:nvPr/>
          </p:nvSpPr>
          <p:spPr>
            <a:xfrm>
              <a:off x="7048837" y="4800764"/>
              <a:ext cx="1251998" cy="1394255"/>
            </a:xfrm>
            <a:custGeom>
              <a:avLst/>
              <a:gdLst>
                <a:gd name="connsiteX0" fmla="*/ 1251999 w 1251998"/>
                <a:gd name="connsiteY0" fmla="*/ 1108050 h 1394255"/>
                <a:gd name="connsiteX1" fmla="*/ 413104 w 1251998"/>
                <a:gd name="connsiteY1" fmla="*/ 0 h 1394255"/>
                <a:gd name="connsiteX2" fmla="*/ 62802 w 1251998"/>
                <a:gd name="connsiteY2" fmla="*/ 16001 h 1394255"/>
                <a:gd name="connsiteX3" fmla="*/ 13086 w 1251998"/>
                <a:gd name="connsiteY3" fmla="*/ 84575 h 1394255"/>
                <a:gd name="connsiteX4" fmla="*/ 166807 w 1251998"/>
                <a:gd name="connsiteY4" fmla="*/ 551453 h 1394255"/>
                <a:gd name="connsiteX5" fmla="*/ 429676 w 1251998"/>
                <a:gd name="connsiteY5" fmla="*/ 1362919 h 1394255"/>
                <a:gd name="connsiteX6" fmla="*/ 477678 w 1251998"/>
                <a:gd name="connsiteY6" fmla="*/ 1386348 h 1394255"/>
                <a:gd name="connsiteX7" fmla="*/ 1105706 w 1251998"/>
                <a:gd name="connsiteY7" fmla="*/ 1161195 h 1394255"/>
                <a:gd name="connsiteX8" fmla="*/ 1244570 w 1251998"/>
                <a:gd name="connsiteY8" fmla="*/ 1109764 h 1394255"/>
                <a:gd name="connsiteX9" fmla="*/ 1244570 w 1251998"/>
                <a:gd name="connsiteY9" fmla="*/ 1109764 h 1394255"/>
                <a:gd name="connsiteX10" fmla="*/ 1244570 w 1251998"/>
                <a:gd name="connsiteY10" fmla="*/ 1109764 h 1394255"/>
                <a:gd name="connsiteX11" fmla="*/ 1251999 w 1251998"/>
                <a:gd name="connsiteY11" fmla="*/ 1108050 h 1394255"/>
                <a:gd name="connsiteX12" fmla="*/ 1251999 w 1251998"/>
                <a:gd name="connsiteY12" fmla="*/ 1108050 h 139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1998" h="1394255">
                  <a:moveTo>
                    <a:pt x="1251999" y="1108050"/>
                  </a:moveTo>
                  <a:lnTo>
                    <a:pt x="413104" y="0"/>
                  </a:lnTo>
                  <a:cubicBezTo>
                    <a:pt x="296527" y="10858"/>
                    <a:pt x="179379" y="10286"/>
                    <a:pt x="62802" y="16001"/>
                  </a:cubicBezTo>
                  <a:cubicBezTo>
                    <a:pt x="-9201" y="19429"/>
                    <a:pt x="-9201" y="16572"/>
                    <a:pt x="13086" y="84575"/>
                  </a:cubicBezTo>
                  <a:cubicBezTo>
                    <a:pt x="64517" y="240011"/>
                    <a:pt x="115948" y="396018"/>
                    <a:pt x="166807" y="551453"/>
                  </a:cubicBezTo>
                  <a:cubicBezTo>
                    <a:pt x="254811" y="821751"/>
                    <a:pt x="342243" y="1092049"/>
                    <a:pt x="429676" y="1362919"/>
                  </a:cubicBezTo>
                  <a:cubicBezTo>
                    <a:pt x="441677" y="1400063"/>
                    <a:pt x="442248" y="1398920"/>
                    <a:pt x="477678" y="1386348"/>
                  </a:cubicBezTo>
                  <a:cubicBezTo>
                    <a:pt x="686830" y="1311488"/>
                    <a:pt x="896554" y="1237199"/>
                    <a:pt x="1105706" y="1161195"/>
                  </a:cubicBezTo>
                  <a:cubicBezTo>
                    <a:pt x="1151994" y="1144623"/>
                    <a:pt x="1200568" y="1132051"/>
                    <a:pt x="1244570" y="1109764"/>
                  </a:cubicBezTo>
                  <a:lnTo>
                    <a:pt x="1244570" y="1109764"/>
                  </a:lnTo>
                  <a:lnTo>
                    <a:pt x="1244570" y="1109764"/>
                  </a:lnTo>
                  <a:cubicBezTo>
                    <a:pt x="1247427" y="1109764"/>
                    <a:pt x="1249713" y="1108621"/>
                    <a:pt x="1251999" y="1108050"/>
                  </a:cubicBezTo>
                  <a:lnTo>
                    <a:pt x="1251999" y="1108050"/>
                  </a:lnTo>
                  <a:close/>
                </a:path>
              </a:pathLst>
            </a:custGeom>
            <a:solidFill>
              <a:sysClr val="window" lastClr="FFFFFF">
                <a:alpha val="40000"/>
              </a:sysClr>
            </a:solidFill>
            <a:ln w="570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45" name="Freeform: Shape 297">
              <a:extLst>
                <a:ext uri="{FF2B5EF4-FFF2-40B4-BE49-F238E27FC236}">
                  <a16:creationId xmlns:a16="http://schemas.microsoft.com/office/drawing/2014/main" id="{104CD7E1-16E9-4FB0-D824-C9C3DA123888}"/>
                </a:ext>
              </a:extLst>
            </p:cNvPr>
            <p:cNvSpPr/>
            <p:nvPr/>
          </p:nvSpPr>
          <p:spPr>
            <a:xfrm>
              <a:off x="7409336" y="6400982"/>
              <a:ext cx="1760252" cy="217078"/>
            </a:xfrm>
            <a:custGeom>
              <a:avLst/>
              <a:gdLst>
                <a:gd name="connsiteX0" fmla="*/ 1634963 w 1760252"/>
                <a:gd name="connsiteY0" fmla="*/ 216435 h 217078"/>
                <a:gd name="connsiteX1" fmla="*/ 84035 w 1760252"/>
                <a:gd name="connsiteY1" fmla="*/ 121574 h 217078"/>
                <a:gd name="connsiteX2" fmla="*/ 603 w 1760252"/>
                <a:gd name="connsiteY2" fmla="*/ 29570 h 217078"/>
                <a:gd name="connsiteX3" fmla="*/ 37748 w 1760252"/>
                <a:gd name="connsiteY3" fmla="*/ 997 h 217078"/>
                <a:gd name="connsiteX4" fmla="*/ 1735539 w 1760252"/>
                <a:gd name="connsiteY4" fmla="*/ 162718 h 217078"/>
                <a:gd name="connsiteX5" fmla="*/ 1760111 w 1760252"/>
                <a:gd name="connsiteY5" fmla="*/ 178719 h 217078"/>
                <a:gd name="connsiteX6" fmla="*/ 1737824 w 1760252"/>
                <a:gd name="connsiteY6" fmla="*/ 197577 h 217078"/>
                <a:gd name="connsiteX7" fmla="*/ 1634963 w 1760252"/>
                <a:gd name="connsiteY7" fmla="*/ 216435 h 217078"/>
                <a:gd name="connsiteX8" fmla="*/ 1634963 w 1760252"/>
                <a:gd name="connsiteY8" fmla="*/ 216435 h 21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252" h="217078">
                  <a:moveTo>
                    <a:pt x="1634963" y="216435"/>
                  </a:moveTo>
                  <a:cubicBezTo>
                    <a:pt x="1518386" y="208435"/>
                    <a:pt x="207470" y="130145"/>
                    <a:pt x="84035" y="121574"/>
                  </a:cubicBezTo>
                  <a:cubicBezTo>
                    <a:pt x="30319" y="118145"/>
                    <a:pt x="-5111" y="77572"/>
                    <a:pt x="603" y="29570"/>
                  </a:cubicBezTo>
                  <a:cubicBezTo>
                    <a:pt x="3460" y="7854"/>
                    <a:pt x="13175" y="-3575"/>
                    <a:pt x="37748" y="997"/>
                  </a:cubicBezTo>
                  <a:cubicBezTo>
                    <a:pt x="112608" y="13569"/>
                    <a:pt x="1641820" y="147289"/>
                    <a:pt x="1735539" y="162718"/>
                  </a:cubicBezTo>
                  <a:cubicBezTo>
                    <a:pt x="1746968" y="164433"/>
                    <a:pt x="1758397" y="167290"/>
                    <a:pt x="1760111" y="178719"/>
                  </a:cubicBezTo>
                  <a:cubicBezTo>
                    <a:pt x="1761825" y="192434"/>
                    <a:pt x="1747539" y="194148"/>
                    <a:pt x="1737824" y="197577"/>
                  </a:cubicBezTo>
                  <a:cubicBezTo>
                    <a:pt x="1704109" y="209006"/>
                    <a:pt x="1670964" y="219864"/>
                    <a:pt x="1634963" y="216435"/>
                  </a:cubicBezTo>
                  <a:lnTo>
                    <a:pt x="1634963" y="216435"/>
                  </a:lnTo>
                  <a:close/>
                </a:path>
              </a:pathLst>
            </a:custGeom>
            <a:solidFill>
              <a:srgbClr val="6F6F6F"/>
            </a:solidFill>
            <a:ln w="570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46" name="Freeform: Shape 298">
              <a:extLst>
                <a:ext uri="{FF2B5EF4-FFF2-40B4-BE49-F238E27FC236}">
                  <a16:creationId xmlns:a16="http://schemas.microsoft.com/office/drawing/2014/main" id="{5B7F46AA-E8AC-08F8-09C3-8BD1A94115E9}"/>
                </a:ext>
              </a:extLst>
            </p:cNvPr>
            <p:cNvSpPr/>
            <p:nvPr/>
          </p:nvSpPr>
          <p:spPr>
            <a:xfrm>
              <a:off x="6952507" y="4726584"/>
              <a:ext cx="531234" cy="1611633"/>
            </a:xfrm>
            <a:custGeom>
              <a:avLst/>
              <a:gdLst>
                <a:gd name="connsiteX0" fmla="*/ 531149 w 531234"/>
                <a:gd name="connsiteY0" fmla="*/ 1599963 h 1611633"/>
                <a:gd name="connsiteX1" fmla="*/ 524291 w 531234"/>
                <a:gd name="connsiteY1" fmla="*/ 1610821 h 1611633"/>
                <a:gd name="connsiteX2" fmla="*/ 511719 w 531234"/>
                <a:gd name="connsiteY2" fmla="*/ 1606249 h 1611633"/>
                <a:gd name="connsiteX3" fmla="*/ 500290 w 531234"/>
                <a:gd name="connsiteY3" fmla="*/ 1573105 h 1611633"/>
                <a:gd name="connsiteX4" fmla="*/ 294567 w 531234"/>
                <a:gd name="connsiteY4" fmla="*/ 933648 h 1611633"/>
                <a:gd name="connsiteX5" fmla="*/ 8840 w 531234"/>
                <a:gd name="connsiteY5" fmla="*/ 36464 h 1611633"/>
                <a:gd name="connsiteX6" fmla="*/ 8268 w 531234"/>
                <a:gd name="connsiteY6" fmla="*/ 1034 h 1611633"/>
                <a:gd name="connsiteX7" fmla="*/ 28269 w 531234"/>
                <a:gd name="connsiteY7" fmla="*/ 29035 h 1611633"/>
                <a:gd name="connsiteX8" fmla="*/ 288281 w 531234"/>
                <a:gd name="connsiteY8" fmla="*/ 843358 h 1611633"/>
                <a:gd name="connsiteX9" fmla="*/ 524863 w 531234"/>
                <a:gd name="connsiteY9" fmla="*/ 1579962 h 1611633"/>
                <a:gd name="connsiteX10" fmla="*/ 531149 w 531234"/>
                <a:gd name="connsiteY10" fmla="*/ 1599963 h 1611633"/>
                <a:gd name="connsiteX11" fmla="*/ 531149 w 531234"/>
                <a:gd name="connsiteY11" fmla="*/ 1599963 h 1611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1234" h="1611633">
                  <a:moveTo>
                    <a:pt x="531149" y="1599963"/>
                  </a:moveTo>
                  <a:cubicBezTo>
                    <a:pt x="531720" y="1604535"/>
                    <a:pt x="529434" y="1608535"/>
                    <a:pt x="524291" y="1610821"/>
                  </a:cubicBezTo>
                  <a:cubicBezTo>
                    <a:pt x="518577" y="1613107"/>
                    <a:pt x="514005" y="1610249"/>
                    <a:pt x="511719" y="1606249"/>
                  </a:cubicBezTo>
                  <a:cubicBezTo>
                    <a:pt x="507148" y="1595392"/>
                    <a:pt x="503719" y="1584534"/>
                    <a:pt x="500290" y="1573105"/>
                  </a:cubicBezTo>
                  <a:cubicBezTo>
                    <a:pt x="431716" y="1359953"/>
                    <a:pt x="363141" y="1146800"/>
                    <a:pt x="294567" y="933648"/>
                  </a:cubicBezTo>
                  <a:cubicBezTo>
                    <a:pt x="199134" y="634777"/>
                    <a:pt x="103701" y="335335"/>
                    <a:pt x="8840" y="36464"/>
                  </a:cubicBezTo>
                  <a:cubicBezTo>
                    <a:pt x="5411" y="25607"/>
                    <a:pt x="-8876" y="6749"/>
                    <a:pt x="8268" y="1034"/>
                  </a:cubicBezTo>
                  <a:cubicBezTo>
                    <a:pt x="27126" y="-5252"/>
                    <a:pt x="24840" y="18749"/>
                    <a:pt x="28269" y="29035"/>
                  </a:cubicBezTo>
                  <a:cubicBezTo>
                    <a:pt x="115702" y="299905"/>
                    <a:pt x="201420" y="571917"/>
                    <a:pt x="288281" y="843358"/>
                  </a:cubicBezTo>
                  <a:cubicBezTo>
                    <a:pt x="366570" y="1089083"/>
                    <a:pt x="446002" y="1334237"/>
                    <a:pt x="524863" y="1579962"/>
                  </a:cubicBezTo>
                  <a:cubicBezTo>
                    <a:pt x="526577" y="1585677"/>
                    <a:pt x="528292" y="1592535"/>
                    <a:pt x="531149" y="1599963"/>
                  </a:cubicBezTo>
                  <a:lnTo>
                    <a:pt x="531149" y="1599963"/>
                  </a:lnTo>
                  <a:close/>
                </a:path>
              </a:pathLst>
            </a:custGeom>
            <a:solidFill>
              <a:srgbClr val="909090"/>
            </a:solidFill>
            <a:ln w="570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47" name="Freeform: Shape 299">
              <a:extLst>
                <a:ext uri="{FF2B5EF4-FFF2-40B4-BE49-F238E27FC236}">
                  <a16:creationId xmlns:a16="http://schemas.microsoft.com/office/drawing/2014/main" id="{3C0C0F27-F9E2-60D9-1C73-6F535CAA9F64}"/>
                </a:ext>
              </a:extLst>
            </p:cNvPr>
            <p:cNvSpPr/>
            <p:nvPr/>
          </p:nvSpPr>
          <p:spPr>
            <a:xfrm>
              <a:off x="7729130" y="6057561"/>
              <a:ext cx="662402" cy="280414"/>
            </a:xfrm>
            <a:custGeom>
              <a:avLst/>
              <a:gdLst>
                <a:gd name="connsiteX0" fmla="*/ 13395 w 662402"/>
                <a:gd name="connsiteY0" fmla="*/ 280415 h 280414"/>
                <a:gd name="connsiteX1" fmla="*/ 251 w 662402"/>
                <a:gd name="connsiteY1" fmla="*/ 273557 h 280414"/>
                <a:gd name="connsiteX2" fmla="*/ 11109 w 662402"/>
                <a:gd name="connsiteY2" fmla="*/ 259271 h 280414"/>
                <a:gd name="connsiteX3" fmla="*/ 628280 w 662402"/>
                <a:gd name="connsiteY3" fmla="*/ 10117 h 280414"/>
                <a:gd name="connsiteX4" fmla="*/ 660853 w 662402"/>
                <a:gd name="connsiteY4" fmla="*/ 7260 h 280414"/>
                <a:gd name="connsiteX5" fmla="*/ 636852 w 662402"/>
                <a:gd name="connsiteY5" fmla="*/ 28975 h 280414"/>
                <a:gd name="connsiteX6" fmla="*/ 13395 w 662402"/>
                <a:gd name="connsiteY6" fmla="*/ 280415 h 280414"/>
                <a:gd name="connsiteX7" fmla="*/ 13395 w 662402"/>
                <a:gd name="connsiteY7" fmla="*/ 280415 h 28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402" h="280414">
                  <a:moveTo>
                    <a:pt x="13395" y="280415"/>
                  </a:moveTo>
                  <a:cubicBezTo>
                    <a:pt x="6537" y="280415"/>
                    <a:pt x="1394" y="279844"/>
                    <a:pt x="251" y="273557"/>
                  </a:cubicBezTo>
                  <a:cubicBezTo>
                    <a:pt x="-1463" y="264414"/>
                    <a:pt x="5966" y="261557"/>
                    <a:pt x="11109" y="259271"/>
                  </a:cubicBezTo>
                  <a:cubicBezTo>
                    <a:pt x="48825" y="243270"/>
                    <a:pt x="460272" y="77549"/>
                    <a:pt x="628280" y="10117"/>
                  </a:cubicBezTo>
                  <a:cubicBezTo>
                    <a:pt x="638566" y="6117"/>
                    <a:pt x="653995" y="-8741"/>
                    <a:pt x="660853" y="7260"/>
                  </a:cubicBezTo>
                  <a:cubicBezTo>
                    <a:pt x="668282" y="23832"/>
                    <a:pt x="647138" y="24403"/>
                    <a:pt x="636852" y="28975"/>
                  </a:cubicBezTo>
                  <a:cubicBezTo>
                    <a:pt x="435700" y="111265"/>
                    <a:pt x="18538" y="278701"/>
                    <a:pt x="13395" y="280415"/>
                  </a:cubicBezTo>
                  <a:lnTo>
                    <a:pt x="13395" y="280415"/>
                  </a:lnTo>
                  <a:close/>
                </a:path>
              </a:pathLst>
            </a:custGeom>
            <a:solidFill>
              <a:srgbClr val="908F90"/>
            </a:solidFill>
            <a:ln w="570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48" name="Freeform: Shape 300">
              <a:extLst>
                <a:ext uri="{FF2B5EF4-FFF2-40B4-BE49-F238E27FC236}">
                  <a16:creationId xmlns:a16="http://schemas.microsoft.com/office/drawing/2014/main" id="{526BAA3C-9441-41C1-C1B9-5CACE940DD72}"/>
                </a:ext>
              </a:extLst>
            </p:cNvPr>
            <p:cNvSpPr/>
            <p:nvPr/>
          </p:nvSpPr>
          <p:spPr>
            <a:xfrm>
              <a:off x="7609376" y="6263687"/>
              <a:ext cx="114290" cy="51430"/>
            </a:xfrm>
            <a:custGeom>
              <a:avLst/>
              <a:gdLst>
                <a:gd name="connsiteX0" fmla="*/ 0 w 114290"/>
                <a:gd name="connsiteY0" fmla="*/ 42288 h 51430"/>
                <a:gd name="connsiteX1" fmla="*/ 110862 w 114290"/>
                <a:gd name="connsiteY1" fmla="*/ 0 h 51430"/>
                <a:gd name="connsiteX2" fmla="*/ 114291 w 114290"/>
                <a:gd name="connsiteY2" fmla="*/ 9143 h 51430"/>
                <a:gd name="connsiteX3" fmla="*/ 3429 w 114290"/>
                <a:gd name="connsiteY3" fmla="*/ 51431 h 51430"/>
                <a:gd name="connsiteX4" fmla="*/ 0 w 114290"/>
                <a:gd name="connsiteY4" fmla="*/ 42288 h 51430"/>
                <a:gd name="connsiteX5" fmla="*/ 0 w 114290"/>
                <a:gd name="connsiteY5" fmla="*/ 42288 h 5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290" h="51430">
                  <a:moveTo>
                    <a:pt x="0" y="42288"/>
                  </a:moveTo>
                  <a:cubicBezTo>
                    <a:pt x="36573" y="28001"/>
                    <a:pt x="73718" y="14286"/>
                    <a:pt x="110862" y="0"/>
                  </a:cubicBezTo>
                  <a:cubicBezTo>
                    <a:pt x="112005" y="3429"/>
                    <a:pt x="113148" y="6286"/>
                    <a:pt x="114291" y="9143"/>
                  </a:cubicBezTo>
                  <a:cubicBezTo>
                    <a:pt x="77718" y="23429"/>
                    <a:pt x="40573" y="37145"/>
                    <a:pt x="3429" y="51431"/>
                  </a:cubicBezTo>
                  <a:cubicBezTo>
                    <a:pt x="2286" y="48574"/>
                    <a:pt x="1143" y="45145"/>
                    <a:pt x="0" y="42288"/>
                  </a:cubicBezTo>
                  <a:lnTo>
                    <a:pt x="0" y="42288"/>
                  </a:lnTo>
                  <a:close/>
                </a:path>
              </a:pathLst>
            </a:custGeom>
            <a:solidFill>
              <a:srgbClr val="D0D0D0"/>
            </a:solidFill>
            <a:ln w="570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grpSp>
      <p:grpSp>
        <p:nvGrpSpPr>
          <p:cNvPr id="49" name="그룹 14">
            <a:extLst>
              <a:ext uri="{FF2B5EF4-FFF2-40B4-BE49-F238E27FC236}">
                <a16:creationId xmlns:a16="http://schemas.microsoft.com/office/drawing/2014/main" id="{135F1373-4B9A-1D39-6B3D-A5BBE52B2152}"/>
              </a:ext>
            </a:extLst>
          </p:cNvPr>
          <p:cNvGrpSpPr/>
          <p:nvPr/>
        </p:nvGrpSpPr>
        <p:grpSpPr>
          <a:xfrm>
            <a:off x="3245127" y="2991892"/>
            <a:ext cx="1354484" cy="1923181"/>
            <a:chOff x="4160927" y="2978939"/>
            <a:chExt cx="1013906" cy="1439607"/>
          </a:xfrm>
        </p:grpSpPr>
        <p:grpSp>
          <p:nvGrpSpPr>
            <p:cNvPr id="50" name="Group 33">
              <a:extLst>
                <a:ext uri="{FF2B5EF4-FFF2-40B4-BE49-F238E27FC236}">
                  <a16:creationId xmlns:a16="http://schemas.microsoft.com/office/drawing/2014/main" id="{D83A8450-7BD5-E5F2-7502-DF4339C6E772}"/>
                </a:ext>
              </a:extLst>
            </p:cNvPr>
            <p:cNvGrpSpPr/>
            <p:nvPr/>
          </p:nvGrpSpPr>
          <p:grpSpPr>
            <a:xfrm>
              <a:off x="4160927" y="2978939"/>
              <a:ext cx="1013906" cy="1439607"/>
              <a:chOff x="5537539" y="2335977"/>
              <a:chExt cx="1157120" cy="2061311"/>
            </a:xfrm>
            <a:solidFill>
              <a:srgbClr val="00BDFB"/>
            </a:solidFill>
          </p:grpSpPr>
          <p:sp>
            <p:nvSpPr>
              <p:cNvPr id="63" name="Freeform: Shape 3">
                <a:extLst>
                  <a:ext uri="{FF2B5EF4-FFF2-40B4-BE49-F238E27FC236}">
                    <a16:creationId xmlns:a16="http://schemas.microsoft.com/office/drawing/2014/main" id="{E0032A96-40F2-862A-D8F5-1B19C7E3D87D}"/>
                  </a:ext>
                </a:extLst>
              </p:cNvPr>
              <p:cNvSpPr/>
              <p:nvPr/>
            </p:nvSpPr>
            <p:spPr>
              <a:xfrm>
                <a:off x="5537852" y="2496480"/>
                <a:ext cx="1156465" cy="606268"/>
              </a:xfrm>
              <a:custGeom>
                <a:avLst/>
                <a:gdLst>
                  <a:gd name="connsiteX0" fmla="*/ 701 w 1156465"/>
                  <a:gd name="connsiteY0" fmla="*/ 0 h 606268"/>
                  <a:gd name="connsiteX1" fmla="*/ 143682 w 1156465"/>
                  <a:gd name="connsiteY1" fmla="*/ 60977 h 606268"/>
                  <a:gd name="connsiteX2" fmla="*/ 393899 w 1156465"/>
                  <a:gd name="connsiteY2" fmla="*/ 96723 h 606268"/>
                  <a:gd name="connsiteX3" fmla="*/ 619935 w 1156465"/>
                  <a:gd name="connsiteY3" fmla="*/ 103381 h 606268"/>
                  <a:gd name="connsiteX4" fmla="*/ 1035562 w 1156465"/>
                  <a:gd name="connsiteY4" fmla="*/ 55721 h 606268"/>
                  <a:gd name="connsiteX5" fmla="*/ 1157867 w 1156465"/>
                  <a:gd name="connsiteY5" fmla="*/ 350 h 606268"/>
                  <a:gd name="connsiteX6" fmla="*/ 1157867 w 1156465"/>
                  <a:gd name="connsiteY6" fmla="*/ 15069 h 606268"/>
                  <a:gd name="connsiteX7" fmla="*/ 1158217 w 1156465"/>
                  <a:gd name="connsiteY7" fmla="*/ 477305 h 606268"/>
                  <a:gd name="connsiteX8" fmla="*/ 1136490 w 1156465"/>
                  <a:gd name="connsiteY8" fmla="*/ 519007 h 606268"/>
                  <a:gd name="connsiteX9" fmla="*/ 1049229 w 1156465"/>
                  <a:gd name="connsiteY9" fmla="*/ 557206 h 606268"/>
                  <a:gd name="connsiteX10" fmla="*/ 819338 w 1156465"/>
                  <a:gd name="connsiteY10" fmla="*/ 598558 h 606268"/>
                  <a:gd name="connsiteX11" fmla="*/ 524264 w 1156465"/>
                  <a:gd name="connsiteY11" fmla="*/ 609072 h 606268"/>
                  <a:gd name="connsiteX12" fmla="*/ 129314 w 1156465"/>
                  <a:gd name="connsiteY12" fmla="*/ 562112 h 606268"/>
                  <a:gd name="connsiteX13" fmla="*/ 31890 w 1156465"/>
                  <a:gd name="connsiteY13" fmla="*/ 524264 h 606268"/>
                  <a:gd name="connsiteX14" fmla="*/ 0 w 1156465"/>
                  <a:gd name="connsiteY14" fmla="*/ 469945 h 606268"/>
                  <a:gd name="connsiteX15" fmla="*/ 701 w 1156465"/>
                  <a:gd name="connsiteY15" fmla="*/ 15420 h 606268"/>
                  <a:gd name="connsiteX16" fmla="*/ 701 w 1156465"/>
                  <a:gd name="connsiteY16" fmla="*/ 0 h 606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56465" h="606268">
                    <a:moveTo>
                      <a:pt x="701" y="0"/>
                    </a:moveTo>
                    <a:cubicBezTo>
                      <a:pt x="43805" y="34344"/>
                      <a:pt x="93568" y="48712"/>
                      <a:pt x="143682" y="60977"/>
                    </a:cubicBezTo>
                    <a:cubicBezTo>
                      <a:pt x="226036" y="80953"/>
                      <a:pt x="309442" y="92517"/>
                      <a:pt x="393899" y="96723"/>
                    </a:cubicBezTo>
                    <a:cubicBezTo>
                      <a:pt x="469244" y="100577"/>
                      <a:pt x="544590" y="104432"/>
                      <a:pt x="619935" y="103381"/>
                    </a:cubicBezTo>
                    <a:cubicBezTo>
                      <a:pt x="759762" y="101278"/>
                      <a:pt x="899239" y="91466"/>
                      <a:pt x="1035562" y="55721"/>
                    </a:cubicBezTo>
                    <a:cubicBezTo>
                      <a:pt x="1078667" y="44506"/>
                      <a:pt x="1120369" y="30138"/>
                      <a:pt x="1157867" y="350"/>
                    </a:cubicBezTo>
                    <a:cubicBezTo>
                      <a:pt x="1157867" y="6308"/>
                      <a:pt x="1157867" y="10864"/>
                      <a:pt x="1157867" y="15069"/>
                    </a:cubicBezTo>
                    <a:cubicBezTo>
                      <a:pt x="1157867" y="169264"/>
                      <a:pt x="1157516" y="323109"/>
                      <a:pt x="1158217" y="477305"/>
                    </a:cubicBezTo>
                    <a:cubicBezTo>
                      <a:pt x="1158217" y="496579"/>
                      <a:pt x="1150858" y="508845"/>
                      <a:pt x="1136490" y="519007"/>
                    </a:cubicBezTo>
                    <a:cubicBezTo>
                      <a:pt x="1109856" y="537581"/>
                      <a:pt x="1079718" y="548094"/>
                      <a:pt x="1049229" y="557206"/>
                    </a:cubicBezTo>
                    <a:cubicBezTo>
                      <a:pt x="974234" y="579284"/>
                      <a:pt x="897137" y="590148"/>
                      <a:pt x="819338" y="598558"/>
                    </a:cubicBezTo>
                    <a:cubicBezTo>
                      <a:pt x="721214" y="609072"/>
                      <a:pt x="622739" y="610824"/>
                      <a:pt x="524264" y="609072"/>
                    </a:cubicBezTo>
                    <a:cubicBezTo>
                      <a:pt x="391095" y="606618"/>
                      <a:pt x="258628" y="596806"/>
                      <a:pt x="129314" y="562112"/>
                    </a:cubicBezTo>
                    <a:cubicBezTo>
                      <a:pt x="96022" y="553001"/>
                      <a:pt x="63781" y="538632"/>
                      <a:pt x="31890" y="524264"/>
                    </a:cubicBezTo>
                    <a:cubicBezTo>
                      <a:pt x="9462" y="514452"/>
                      <a:pt x="0" y="496579"/>
                      <a:pt x="0" y="469945"/>
                    </a:cubicBezTo>
                    <a:cubicBezTo>
                      <a:pt x="1051" y="318554"/>
                      <a:pt x="701" y="166811"/>
                      <a:pt x="701" y="15420"/>
                    </a:cubicBezTo>
                    <a:cubicBezTo>
                      <a:pt x="701" y="11214"/>
                      <a:pt x="701" y="6658"/>
                      <a:pt x="701" y="0"/>
                    </a:cubicBezTo>
                    <a:close/>
                  </a:path>
                </a:pathLst>
              </a:custGeom>
              <a:grpFill/>
              <a:ln w="350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64" name="Freeform: Shape 4">
                <a:extLst>
                  <a:ext uri="{FF2B5EF4-FFF2-40B4-BE49-F238E27FC236}">
                    <a16:creationId xmlns:a16="http://schemas.microsoft.com/office/drawing/2014/main" id="{8A2C3612-10FC-B47D-829E-4691F00029D0}"/>
                  </a:ext>
                </a:extLst>
              </p:cNvPr>
              <p:cNvSpPr/>
              <p:nvPr/>
            </p:nvSpPr>
            <p:spPr>
              <a:xfrm>
                <a:off x="5538194" y="3144451"/>
                <a:ext cx="1156465" cy="606268"/>
              </a:xfrm>
              <a:custGeom>
                <a:avLst/>
                <a:gdLst>
                  <a:gd name="connsiteX0" fmla="*/ 1157875 w 1156465"/>
                  <a:gd name="connsiteY0" fmla="*/ 3154 h 606268"/>
                  <a:gd name="connsiteX1" fmla="*/ 1157875 w 1156465"/>
                  <a:gd name="connsiteY1" fmla="*/ 12616 h 606268"/>
                  <a:gd name="connsiteX2" fmla="*/ 1158226 w 1156465"/>
                  <a:gd name="connsiteY2" fmla="*/ 478706 h 606268"/>
                  <a:gd name="connsiteX3" fmla="*/ 1141404 w 1156465"/>
                  <a:gd name="connsiteY3" fmla="*/ 513751 h 606268"/>
                  <a:gd name="connsiteX4" fmla="*/ 1043981 w 1156465"/>
                  <a:gd name="connsiteY4" fmla="*/ 557556 h 606268"/>
                  <a:gd name="connsiteX5" fmla="*/ 802525 w 1156465"/>
                  <a:gd name="connsiteY5" fmla="*/ 598909 h 606268"/>
                  <a:gd name="connsiteX6" fmla="*/ 525324 w 1156465"/>
                  <a:gd name="connsiteY6" fmla="*/ 608371 h 606268"/>
                  <a:gd name="connsiteX7" fmla="*/ 132827 w 1156465"/>
                  <a:gd name="connsiteY7" fmla="*/ 562112 h 606268"/>
                  <a:gd name="connsiteX8" fmla="*/ 34001 w 1156465"/>
                  <a:gd name="connsiteY8" fmla="*/ 524615 h 606268"/>
                  <a:gd name="connsiteX9" fmla="*/ 8 w 1156465"/>
                  <a:gd name="connsiteY9" fmla="*/ 467843 h 606268"/>
                  <a:gd name="connsiteX10" fmla="*/ 709 w 1156465"/>
                  <a:gd name="connsiteY10" fmla="*/ 14368 h 606268"/>
                  <a:gd name="connsiteX11" fmla="*/ 709 w 1156465"/>
                  <a:gd name="connsiteY11" fmla="*/ 0 h 606268"/>
                  <a:gd name="connsiteX12" fmla="*/ 225694 w 1156465"/>
                  <a:gd name="connsiteY12" fmla="*/ 76046 h 606268"/>
                  <a:gd name="connsiteX13" fmla="*/ 659193 w 1156465"/>
                  <a:gd name="connsiteY13" fmla="*/ 101278 h 606268"/>
                  <a:gd name="connsiteX14" fmla="*/ 1020151 w 1156465"/>
                  <a:gd name="connsiteY14" fmla="*/ 58174 h 606268"/>
                  <a:gd name="connsiteX15" fmla="*/ 1082530 w 1156465"/>
                  <a:gd name="connsiteY15" fmla="*/ 39250 h 606268"/>
                  <a:gd name="connsiteX16" fmla="*/ 1157875 w 1156465"/>
                  <a:gd name="connsiteY16" fmla="*/ 3154 h 606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56465" h="606268">
                    <a:moveTo>
                      <a:pt x="1157875" y="3154"/>
                    </a:moveTo>
                    <a:cubicBezTo>
                      <a:pt x="1157875" y="4906"/>
                      <a:pt x="1157875" y="8761"/>
                      <a:pt x="1157875" y="12616"/>
                    </a:cubicBezTo>
                    <a:cubicBezTo>
                      <a:pt x="1157875" y="167863"/>
                      <a:pt x="1157875" y="323460"/>
                      <a:pt x="1158226" y="478706"/>
                    </a:cubicBezTo>
                    <a:cubicBezTo>
                      <a:pt x="1158226" y="493776"/>
                      <a:pt x="1152619" y="504990"/>
                      <a:pt x="1141404" y="513751"/>
                    </a:cubicBezTo>
                    <a:cubicBezTo>
                      <a:pt x="1112668" y="536530"/>
                      <a:pt x="1078675" y="547393"/>
                      <a:pt x="1043981" y="557556"/>
                    </a:cubicBezTo>
                    <a:cubicBezTo>
                      <a:pt x="965131" y="580335"/>
                      <a:pt x="884178" y="591199"/>
                      <a:pt x="802525" y="598909"/>
                    </a:cubicBezTo>
                    <a:cubicBezTo>
                      <a:pt x="710358" y="607670"/>
                      <a:pt x="617841" y="610473"/>
                      <a:pt x="525324" y="608371"/>
                    </a:cubicBezTo>
                    <a:cubicBezTo>
                      <a:pt x="393206" y="605217"/>
                      <a:pt x="261089" y="596105"/>
                      <a:pt x="132827" y="562112"/>
                    </a:cubicBezTo>
                    <a:cubicBezTo>
                      <a:pt x="98833" y="553351"/>
                      <a:pt x="66242" y="538632"/>
                      <a:pt x="34001" y="524615"/>
                    </a:cubicBezTo>
                    <a:cubicBezTo>
                      <a:pt x="10522" y="514101"/>
                      <a:pt x="-342" y="495878"/>
                      <a:pt x="8" y="467843"/>
                    </a:cubicBezTo>
                    <a:cubicBezTo>
                      <a:pt x="1410" y="316801"/>
                      <a:pt x="709" y="165760"/>
                      <a:pt x="709" y="14368"/>
                    </a:cubicBezTo>
                    <a:cubicBezTo>
                      <a:pt x="709" y="9812"/>
                      <a:pt x="709" y="5257"/>
                      <a:pt x="709" y="0"/>
                    </a:cubicBezTo>
                    <a:cubicBezTo>
                      <a:pt x="69046" y="48712"/>
                      <a:pt x="147545" y="62729"/>
                      <a:pt x="225694" y="76046"/>
                    </a:cubicBezTo>
                    <a:cubicBezTo>
                      <a:pt x="369026" y="100928"/>
                      <a:pt x="514110" y="105484"/>
                      <a:pt x="659193" y="101278"/>
                    </a:cubicBezTo>
                    <a:cubicBezTo>
                      <a:pt x="780797" y="97774"/>
                      <a:pt x="901700" y="87261"/>
                      <a:pt x="1020151" y="58174"/>
                    </a:cubicBezTo>
                    <a:cubicBezTo>
                      <a:pt x="1041177" y="52917"/>
                      <a:pt x="1062554" y="47660"/>
                      <a:pt x="1082530" y="39250"/>
                    </a:cubicBezTo>
                    <a:cubicBezTo>
                      <a:pt x="1107762" y="29087"/>
                      <a:pt x="1132293" y="15770"/>
                      <a:pt x="1157875" y="3154"/>
                    </a:cubicBezTo>
                    <a:close/>
                  </a:path>
                </a:pathLst>
              </a:custGeom>
              <a:grpFill/>
              <a:ln w="350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65" name="Freeform: Shape 5">
                <a:extLst>
                  <a:ext uri="{FF2B5EF4-FFF2-40B4-BE49-F238E27FC236}">
                    <a16:creationId xmlns:a16="http://schemas.microsoft.com/office/drawing/2014/main" id="{AD85807C-1C37-A1E8-5A79-F66C4E7DD6B0}"/>
                  </a:ext>
                </a:extLst>
              </p:cNvPr>
              <p:cNvSpPr/>
              <p:nvPr/>
            </p:nvSpPr>
            <p:spPr>
              <a:xfrm>
                <a:off x="5538187" y="3791020"/>
                <a:ext cx="1156465" cy="606268"/>
              </a:xfrm>
              <a:custGeom>
                <a:avLst/>
                <a:gdLst>
                  <a:gd name="connsiteX0" fmla="*/ 365 w 1156465"/>
                  <a:gd name="connsiteY0" fmla="*/ 0 h 606268"/>
                  <a:gd name="connsiteX1" fmla="*/ 188554 w 1156465"/>
                  <a:gd name="connsiteY1" fmla="*/ 69738 h 606268"/>
                  <a:gd name="connsiteX2" fmla="*/ 443677 w 1156465"/>
                  <a:gd name="connsiteY2" fmla="*/ 98825 h 606268"/>
                  <a:gd name="connsiteX3" fmla="*/ 609787 w 1156465"/>
                  <a:gd name="connsiteY3" fmla="*/ 102680 h 606268"/>
                  <a:gd name="connsiteX4" fmla="*/ 1014199 w 1156465"/>
                  <a:gd name="connsiteY4" fmla="*/ 59575 h 606268"/>
                  <a:gd name="connsiteX5" fmla="*/ 1118982 w 1156465"/>
                  <a:gd name="connsiteY5" fmla="*/ 23480 h 606268"/>
                  <a:gd name="connsiteX6" fmla="*/ 1155779 w 1156465"/>
                  <a:gd name="connsiteY6" fmla="*/ 1402 h 606268"/>
                  <a:gd name="connsiteX7" fmla="*/ 1156480 w 1156465"/>
                  <a:gd name="connsiteY7" fmla="*/ 14719 h 606268"/>
                  <a:gd name="connsiteX8" fmla="*/ 1156830 w 1156465"/>
                  <a:gd name="connsiteY8" fmla="*/ 479407 h 606268"/>
                  <a:gd name="connsiteX9" fmla="*/ 1140359 w 1156465"/>
                  <a:gd name="connsiteY9" fmla="*/ 513400 h 606268"/>
                  <a:gd name="connsiteX10" fmla="*/ 1071322 w 1156465"/>
                  <a:gd name="connsiteY10" fmla="*/ 548445 h 606268"/>
                  <a:gd name="connsiteX11" fmla="*/ 864210 w 1156465"/>
                  <a:gd name="connsiteY11" fmla="*/ 592601 h 606268"/>
                  <a:gd name="connsiteX12" fmla="*/ 523227 w 1156465"/>
                  <a:gd name="connsiteY12" fmla="*/ 608371 h 606268"/>
                  <a:gd name="connsiteX13" fmla="*/ 147902 w 1156465"/>
                  <a:gd name="connsiteY13" fmla="*/ 566668 h 606268"/>
                  <a:gd name="connsiteX14" fmla="*/ 43119 w 1156465"/>
                  <a:gd name="connsiteY14" fmla="*/ 530923 h 606268"/>
                  <a:gd name="connsiteX15" fmla="*/ 18238 w 1156465"/>
                  <a:gd name="connsiteY15" fmla="*/ 515503 h 606268"/>
                  <a:gd name="connsiteX16" fmla="*/ 15 w 1156465"/>
                  <a:gd name="connsiteY16" fmla="*/ 478356 h 606268"/>
                  <a:gd name="connsiteX17" fmla="*/ 365 w 1156465"/>
                  <a:gd name="connsiteY17" fmla="*/ 16120 h 606268"/>
                  <a:gd name="connsiteX18" fmla="*/ 365 w 1156465"/>
                  <a:gd name="connsiteY18" fmla="*/ 0 h 606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56465" h="606268">
                    <a:moveTo>
                      <a:pt x="365" y="0"/>
                    </a:moveTo>
                    <a:cubicBezTo>
                      <a:pt x="57838" y="42404"/>
                      <a:pt x="123020" y="56421"/>
                      <a:pt x="188554" y="69738"/>
                    </a:cubicBezTo>
                    <a:cubicBezTo>
                      <a:pt x="272660" y="86560"/>
                      <a:pt x="357818" y="95671"/>
                      <a:pt x="443677" y="98825"/>
                    </a:cubicBezTo>
                    <a:cubicBezTo>
                      <a:pt x="499047" y="100928"/>
                      <a:pt x="554417" y="103381"/>
                      <a:pt x="609787" y="102680"/>
                    </a:cubicBezTo>
                    <a:cubicBezTo>
                      <a:pt x="745759" y="100227"/>
                      <a:pt x="881381" y="92167"/>
                      <a:pt x="1014199" y="59575"/>
                    </a:cubicBezTo>
                    <a:cubicBezTo>
                      <a:pt x="1049945" y="50814"/>
                      <a:pt x="1084639" y="36797"/>
                      <a:pt x="1118982" y="23480"/>
                    </a:cubicBezTo>
                    <a:cubicBezTo>
                      <a:pt x="1131949" y="18573"/>
                      <a:pt x="1142813" y="9462"/>
                      <a:pt x="1155779" y="1402"/>
                    </a:cubicBezTo>
                    <a:cubicBezTo>
                      <a:pt x="1156129" y="5957"/>
                      <a:pt x="1156480" y="10163"/>
                      <a:pt x="1156480" y="14719"/>
                    </a:cubicBezTo>
                    <a:cubicBezTo>
                      <a:pt x="1156480" y="169615"/>
                      <a:pt x="1156480" y="324511"/>
                      <a:pt x="1156830" y="479407"/>
                    </a:cubicBezTo>
                    <a:cubicBezTo>
                      <a:pt x="1156830" y="494126"/>
                      <a:pt x="1152625" y="506392"/>
                      <a:pt x="1140359" y="513400"/>
                    </a:cubicBezTo>
                    <a:cubicBezTo>
                      <a:pt x="1117931" y="526367"/>
                      <a:pt x="1095503" y="539684"/>
                      <a:pt x="1071322" y="548445"/>
                    </a:cubicBezTo>
                    <a:cubicBezTo>
                      <a:pt x="1004387" y="572625"/>
                      <a:pt x="934649" y="583489"/>
                      <a:pt x="864210" y="592601"/>
                    </a:cubicBezTo>
                    <a:cubicBezTo>
                      <a:pt x="751016" y="606969"/>
                      <a:pt x="637472" y="610473"/>
                      <a:pt x="523227" y="608371"/>
                    </a:cubicBezTo>
                    <a:cubicBezTo>
                      <a:pt x="396717" y="606268"/>
                      <a:pt x="271258" y="596806"/>
                      <a:pt x="147902" y="566668"/>
                    </a:cubicBezTo>
                    <a:cubicBezTo>
                      <a:pt x="112157" y="557907"/>
                      <a:pt x="77813" y="543539"/>
                      <a:pt x="43119" y="530923"/>
                    </a:cubicBezTo>
                    <a:cubicBezTo>
                      <a:pt x="34008" y="527769"/>
                      <a:pt x="25948" y="521461"/>
                      <a:pt x="18238" y="515503"/>
                    </a:cubicBezTo>
                    <a:cubicBezTo>
                      <a:pt x="5622" y="506392"/>
                      <a:pt x="-336" y="494827"/>
                      <a:pt x="15" y="478356"/>
                    </a:cubicBezTo>
                    <a:cubicBezTo>
                      <a:pt x="365" y="324161"/>
                      <a:pt x="365" y="170316"/>
                      <a:pt x="365" y="16120"/>
                    </a:cubicBezTo>
                    <a:cubicBezTo>
                      <a:pt x="365" y="11565"/>
                      <a:pt x="365" y="7009"/>
                      <a:pt x="365" y="0"/>
                    </a:cubicBezTo>
                    <a:close/>
                  </a:path>
                </a:pathLst>
              </a:custGeom>
              <a:grpFill/>
              <a:ln w="350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66" name="Freeform: Shape 6">
                <a:extLst>
                  <a:ext uri="{FF2B5EF4-FFF2-40B4-BE49-F238E27FC236}">
                    <a16:creationId xmlns:a16="http://schemas.microsoft.com/office/drawing/2014/main" id="{0DE3BA46-0486-4CF8-A892-95ED8F225C6B}"/>
                  </a:ext>
                </a:extLst>
              </p:cNvPr>
              <p:cNvSpPr/>
              <p:nvPr/>
            </p:nvSpPr>
            <p:spPr>
              <a:xfrm>
                <a:off x="5537539" y="2335977"/>
                <a:ext cx="1156465" cy="245311"/>
              </a:xfrm>
              <a:custGeom>
                <a:avLst/>
                <a:gdLst>
                  <a:gd name="connsiteX0" fmla="*/ 576442 w 1156465"/>
                  <a:gd name="connsiteY0" fmla="*/ 3504 h 245310"/>
                  <a:gd name="connsiteX1" fmla="*/ 913920 w 1156465"/>
                  <a:gd name="connsiteY1" fmla="*/ 26984 h 245310"/>
                  <a:gd name="connsiteX2" fmla="*/ 1101758 w 1156465"/>
                  <a:gd name="connsiteY2" fmla="*/ 75696 h 245310"/>
                  <a:gd name="connsiteX3" fmla="*/ 1147666 w 1156465"/>
                  <a:gd name="connsiteY3" fmla="*/ 105133 h 245310"/>
                  <a:gd name="connsiteX4" fmla="*/ 1147666 w 1156465"/>
                  <a:gd name="connsiteY4" fmla="*/ 147186 h 245310"/>
                  <a:gd name="connsiteX5" fmla="*/ 1100706 w 1156465"/>
                  <a:gd name="connsiteY5" fmla="*/ 176974 h 245310"/>
                  <a:gd name="connsiteX6" fmla="*/ 926536 w 1156465"/>
                  <a:gd name="connsiteY6" fmla="*/ 223233 h 245310"/>
                  <a:gd name="connsiteX7" fmla="*/ 650386 w 1156465"/>
                  <a:gd name="connsiteY7" fmla="*/ 247413 h 245310"/>
                  <a:gd name="connsiteX8" fmla="*/ 230904 w 1156465"/>
                  <a:gd name="connsiteY8" fmla="*/ 223233 h 245310"/>
                  <a:gd name="connsiteX9" fmla="*/ 70401 w 1156465"/>
                  <a:gd name="connsiteY9" fmla="*/ 182231 h 245310"/>
                  <a:gd name="connsiteX10" fmla="*/ 19937 w 1156465"/>
                  <a:gd name="connsiteY10" fmla="*/ 155247 h 245310"/>
                  <a:gd name="connsiteX11" fmla="*/ 19236 w 1156465"/>
                  <a:gd name="connsiteY11" fmla="*/ 98124 h 245310"/>
                  <a:gd name="connsiteX12" fmla="*/ 98437 w 1156465"/>
                  <a:gd name="connsiteY12" fmla="*/ 60276 h 245310"/>
                  <a:gd name="connsiteX13" fmla="*/ 319917 w 1156465"/>
                  <a:gd name="connsiteY13" fmla="*/ 17172 h 245310"/>
                  <a:gd name="connsiteX14" fmla="*/ 576092 w 1156465"/>
                  <a:gd name="connsiteY14" fmla="*/ 0 h 245310"/>
                  <a:gd name="connsiteX15" fmla="*/ 576442 w 1156465"/>
                  <a:gd name="connsiteY15" fmla="*/ 3504 h 245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56465" h="245310">
                    <a:moveTo>
                      <a:pt x="576442" y="3504"/>
                    </a:moveTo>
                    <a:cubicBezTo>
                      <a:pt x="689636" y="3855"/>
                      <a:pt x="802128" y="9812"/>
                      <a:pt x="913920" y="26984"/>
                    </a:cubicBezTo>
                    <a:cubicBezTo>
                      <a:pt x="978401" y="36797"/>
                      <a:pt x="1042182" y="49062"/>
                      <a:pt x="1101758" y="75696"/>
                    </a:cubicBezTo>
                    <a:cubicBezTo>
                      <a:pt x="1118228" y="83055"/>
                      <a:pt x="1133648" y="93569"/>
                      <a:pt x="1147666" y="105133"/>
                    </a:cubicBezTo>
                    <a:cubicBezTo>
                      <a:pt x="1162735" y="117749"/>
                      <a:pt x="1162735" y="134570"/>
                      <a:pt x="1147666" y="147186"/>
                    </a:cubicBezTo>
                    <a:cubicBezTo>
                      <a:pt x="1133648" y="159102"/>
                      <a:pt x="1117528" y="169615"/>
                      <a:pt x="1100706" y="176974"/>
                    </a:cubicBezTo>
                    <a:cubicBezTo>
                      <a:pt x="1044986" y="201856"/>
                      <a:pt x="986111" y="213771"/>
                      <a:pt x="926536" y="223233"/>
                    </a:cubicBezTo>
                    <a:cubicBezTo>
                      <a:pt x="835070" y="237951"/>
                      <a:pt x="742903" y="244960"/>
                      <a:pt x="650386" y="247413"/>
                    </a:cubicBezTo>
                    <a:cubicBezTo>
                      <a:pt x="509858" y="251268"/>
                      <a:pt x="370031" y="244960"/>
                      <a:pt x="230904" y="223233"/>
                    </a:cubicBezTo>
                    <a:cubicBezTo>
                      <a:pt x="176585" y="214472"/>
                      <a:pt x="122267" y="203257"/>
                      <a:pt x="70401" y="182231"/>
                    </a:cubicBezTo>
                    <a:cubicBezTo>
                      <a:pt x="52879" y="175222"/>
                      <a:pt x="35357" y="166110"/>
                      <a:pt x="19937" y="155247"/>
                    </a:cubicBezTo>
                    <a:cubicBezTo>
                      <a:pt x="-5996" y="137024"/>
                      <a:pt x="-7047" y="114946"/>
                      <a:pt x="19236" y="98124"/>
                    </a:cubicBezTo>
                    <a:cubicBezTo>
                      <a:pt x="43767" y="82354"/>
                      <a:pt x="70751" y="69738"/>
                      <a:pt x="98437" y="60276"/>
                    </a:cubicBezTo>
                    <a:cubicBezTo>
                      <a:pt x="170278" y="35745"/>
                      <a:pt x="244922" y="24181"/>
                      <a:pt x="319917" y="17172"/>
                    </a:cubicBezTo>
                    <a:cubicBezTo>
                      <a:pt x="405075" y="9462"/>
                      <a:pt x="490934" y="5607"/>
                      <a:pt x="576092" y="0"/>
                    </a:cubicBezTo>
                    <a:cubicBezTo>
                      <a:pt x="576442" y="1051"/>
                      <a:pt x="576442" y="2103"/>
                      <a:pt x="576442" y="3504"/>
                    </a:cubicBezTo>
                    <a:close/>
                  </a:path>
                </a:pathLst>
              </a:custGeom>
              <a:grpFill/>
              <a:ln w="350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67" name="Freeform: Shape 7">
                <a:extLst>
                  <a:ext uri="{FF2B5EF4-FFF2-40B4-BE49-F238E27FC236}">
                    <a16:creationId xmlns:a16="http://schemas.microsoft.com/office/drawing/2014/main" id="{7BE954EF-D26C-90C7-D6C1-B81DBE1BB2B8}"/>
                  </a:ext>
                </a:extLst>
              </p:cNvPr>
              <p:cNvSpPr/>
              <p:nvPr/>
            </p:nvSpPr>
            <p:spPr>
              <a:xfrm>
                <a:off x="5537671" y="3699734"/>
                <a:ext cx="1156465" cy="175222"/>
              </a:xfrm>
              <a:custGeom>
                <a:avLst/>
                <a:gdLst>
                  <a:gd name="connsiteX0" fmla="*/ 574909 w 1156465"/>
                  <a:gd name="connsiteY0" fmla="*/ 177146 h 175221"/>
                  <a:gd name="connsiteX1" fmla="*/ 204490 w 1156465"/>
                  <a:gd name="connsiteY1" fmla="*/ 148409 h 175221"/>
                  <a:gd name="connsiteX2" fmla="*/ 57303 w 1156465"/>
                  <a:gd name="connsiteY2" fmla="*/ 106706 h 175221"/>
                  <a:gd name="connsiteX3" fmla="*/ 13147 w 1156465"/>
                  <a:gd name="connsiteY3" fmla="*/ 79372 h 175221"/>
                  <a:gd name="connsiteX4" fmla="*/ 12096 w 1156465"/>
                  <a:gd name="connsiteY4" fmla="*/ 33463 h 175221"/>
                  <a:gd name="connsiteX5" fmla="*/ 52747 w 1156465"/>
                  <a:gd name="connsiteY5" fmla="*/ 7180 h 175221"/>
                  <a:gd name="connsiteX6" fmla="*/ 63261 w 1156465"/>
                  <a:gd name="connsiteY6" fmla="*/ 7180 h 175221"/>
                  <a:gd name="connsiteX7" fmla="*/ 314529 w 1156465"/>
                  <a:gd name="connsiteY7" fmla="*/ 56593 h 175221"/>
                  <a:gd name="connsiteX8" fmla="*/ 601893 w 1156465"/>
                  <a:gd name="connsiteY8" fmla="*/ 68858 h 175221"/>
                  <a:gd name="connsiteX9" fmla="*/ 981424 w 1156465"/>
                  <a:gd name="connsiteY9" fmla="*/ 30309 h 175221"/>
                  <a:gd name="connsiteX10" fmla="*/ 1079548 w 1156465"/>
                  <a:gd name="connsiteY10" fmla="*/ 1924 h 175221"/>
                  <a:gd name="connsiteX11" fmla="*/ 1090412 w 1156465"/>
                  <a:gd name="connsiteY11" fmla="*/ 522 h 175221"/>
                  <a:gd name="connsiteX12" fmla="*/ 1146833 w 1156465"/>
                  <a:gd name="connsiteY12" fmla="*/ 34515 h 175221"/>
                  <a:gd name="connsiteX13" fmla="*/ 1147184 w 1156465"/>
                  <a:gd name="connsiteY13" fmla="*/ 76568 h 175221"/>
                  <a:gd name="connsiteX14" fmla="*/ 1100224 w 1156465"/>
                  <a:gd name="connsiteY14" fmla="*/ 106356 h 175221"/>
                  <a:gd name="connsiteX15" fmla="*/ 922900 w 1156465"/>
                  <a:gd name="connsiteY15" fmla="*/ 152965 h 175221"/>
                  <a:gd name="connsiteX16" fmla="*/ 644297 w 1156465"/>
                  <a:gd name="connsiteY16" fmla="*/ 176445 h 175221"/>
                  <a:gd name="connsiteX17" fmla="*/ 574909 w 1156465"/>
                  <a:gd name="connsiteY17" fmla="*/ 177146 h 175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6465" h="175221">
                    <a:moveTo>
                      <a:pt x="574909" y="177146"/>
                    </a:moveTo>
                    <a:cubicBezTo>
                      <a:pt x="450852" y="178197"/>
                      <a:pt x="327145" y="170837"/>
                      <a:pt x="204490" y="148409"/>
                    </a:cubicBezTo>
                    <a:cubicBezTo>
                      <a:pt x="154026" y="139297"/>
                      <a:pt x="104263" y="128083"/>
                      <a:pt x="57303" y="106706"/>
                    </a:cubicBezTo>
                    <a:cubicBezTo>
                      <a:pt x="41533" y="99697"/>
                      <a:pt x="26464" y="90235"/>
                      <a:pt x="13147" y="79372"/>
                    </a:cubicBezTo>
                    <a:cubicBezTo>
                      <a:pt x="-4025" y="65354"/>
                      <a:pt x="-4375" y="47832"/>
                      <a:pt x="12096" y="33463"/>
                    </a:cubicBezTo>
                    <a:cubicBezTo>
                      <a:pt x="24011" y="22950"/>
                      <a:pt x="38730" y="15591"/>
                      <a:pt x="52747" y="7180"/>
                    </a:cubicBezTo>
                    <a:cubicBezTo>
                      <a:pt x="55551" y="5428"/>
                      <a:pt x="60107" y="6129"/>
                      <a:pt x="63261" y="7180"/>
                    </a:cubicBezTo>
                    <a:cubicBezTo>
                      <a:pt x="144914" y="34515"/>
                      <a:pt x="229371" y="47481"/>
                      <a:pt x="314529" y="56593"/>
                    </a:cubicBezTo>
                    <a:cubicBezTo>
                      <a:pt x="410200" y="66756"/>
                      <a:pt x="505871" y="70610"/>
                      <a:pt x="601893" y="68858"/>
                    </a:cubicBezTo>
                    <a:cubicBezTo>
                      <a:pt x="729455" y="66405"/>
                      <a:pt x="856315" y="58345"/>
                      <a:pt x="981424" y="30309"/>
                    </a:cubicBezTo>
                    <a:cubicBezTo>
                      <a:pt x="1014716" y="22950"/>
                      <a:pt x="1046957" y="11385"/>
                      <a:pt x="1079548" y="1924"/>
                    </a:cubicBezTo>
                    <a:cubicBezTo>
                      <a:pt x="1083053" y="872"/>
                      <a:pt x="1087959" y="-880"/>
                      <a:pt x="1090412" y="522"/>
                    </a:cubicBezTo>
                    <a:cubicBezTo>
                      <a:pt x="1109686" y="11385"/>
                      <a:pt x="1129662" y="21198"/>
                      <a:pt x="1146833" y="34515"/>
                    </a:cubicBezTo>
                    <a:cubicBezTo>
                      <a:pt x="1162253" y="46430"/>
                      <a:pt x="1161903" y="63952"/>
                      <a:pt x="1147184" y="76568"/>
                    </a:cubicBezTo>
                    <a:cubicBezTo>
                      <a:pt x="1133166" y="88483"/>
                      <a:pt x="1117046" y="98996"/>
                      <a:pt x="1100224" y="106356"/>
                    </a:cubicBezTo>
                    <a:cubicBezTo>
                      <a:pt x="1043803" y="131588"/>
                      <a:pt x="983526" y="143152"/>
                      <a:pt x="922900" y="152965"/>
                    </a:cubicBezTo>
                    <a:cubicBezTo>
                      <a:pt x="830733" y="167683"/>
                      <a:pt x="737515" y="175393"/>
                      <a:pt x="644297" y="176445"/>
                    </a:cubicBezTo>
                    <a:cubicBezTo>
                      <a:pt x="621168" y="177146"/>
                      <a:pt x="598038" y="177146"/>
                      <a:pt x="574909" y="177146"/>
                    </a:cubicBezTo>
                    <a:close/>
                  </a:path>
                </a:pathLst>
              </a:custGeom>
              <a:grpFill/>
              <a:ln w="350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sp>
            <p:nvSpPr>
              <p:cNvPr id="68" name="Freeform: Shape 8">
                <a:extLst>
                  <a:ext uri="{FF2B5EF4-FFF2-40B4-BE49-F238E27FC236}">
                    <a16:creationId xmlns:a16="http://schemas.microsoft.com/office/drawing/2014/main" id="{3D09F87D-0CD8-2D6A-0888-F63B420B8E31}"/>
                  </a:ext>
                </a:extLst>
              </p:cNvPr>
              <p:cNvSpPr/>
              <p:nvPr/>
            </p:nvSpPr>
            <p:spPr>
              <a:xfrm>
                <a:off x="5537669" y="3055216"/>
                <a:ext cx="1156465" cy="175222"/>
              </a:xfrm>
              <a:custGeom>
                <a:avLst/>
                <a:gdLst>
                  <a:gd name="connsiteX0" fmla="*/ 587526 w 1156465"/>
                  <a:gd name="connsiteY0" fmla="*/ 175794 h 175221"/>
                  <a:gd name="connsiteX1" fmla="*/ 226919 w 1156465"/>
                  <a:gd name="connsiteY1" fmla="*/ 149862 h 175221"/>
                  <a:gd name="connsiteX2" fmla="*/ 42235 w 1156465"/>
                  <a:gd name="connsiteY2" fmla="*/ 96944 h 175221"/>
                  <a:gd name="connsiteX3" fmla="*/ 10345 w 1156465"/>
                  <a:gd name="connsiteY3" fmla="*/ 73815 h 175221"/>
                  <a:gd name="connsiteX4" fmla="*/ 9644 w 1156465"/>
                  <a:gd name="connsiteY4" fmla="*/ 34566 h 175221"/>
                  <a:gd name="connsiteX5" fmla="*/ 54851 w 1156465"/>
                  <a:gd name="connsiteY5" fmla="*/ 4427 h 175221"/>
                  <a:gd name="connsiteX6" fmla="*/ 65715 w 1156465"/>
                  <a:gd name="connsiteY6" fmla="*/ 5128 h 175221"/>
                  <a:gd name="connsiteX7" fmla="*/ 304368 w 1156465"/>
                  <a:gd name="connsiteY7" fmla="*/ 53489 h 175221"/>
                  <a:gd name="connsiteX8" fmla="*/ 608202 w 1156465"/>
                  <a:gd name="connsiteY8" fmla="*/ 67157 h 175221"/>
                  <a:gd name="connsiteX9" fmla="*/ 1000349 w 1156465"/>
                  <a:gd name="connsiteY9" fmla="*/ 25103 h 175221"/>
                  <a:gd name="connsiteX10" fmla="*/ 1079900 w 1156465"/>
                  <a:gd name="connsiteY10" fmla="*/ 1273 h 175221"/>
                  <a:gd name="connsiteX11" fmla="*/ 1096371 w 1156465"/>
                  <a:gd name="connsiteY11" fmla="*/ 1624 h 175221"/>
                  <a:gd name="connsiteX12" fmla="*/ 1141578 w 1156465"/>
                  <a:gd name="connsiteY12" fmla="*/ 27557 h 175221"/>
                  <a:gd name="connsiteX13" fmla="*/ 1141578 w 1156465"/>
                  <a:gd name="connsiteY13" fmla="*/ 81525 h 175221"/>
                  <a:gd name="connsiteX14" fmla="*/ 1045556 w 1156465"/>
                  <a:gd name="connsiteY14" fmla="*/ 125330 h 175221"/>
                  <a:gd name="connsiteX15" fmla="*/ 842299 w 1156465"/>
                  <a:gd name="connsiteY15" fmla="*/ 163178 h 175221"/>
                  <a:gd name="connsiteX16" fmla="*/ 587526 w 1156465"/>
                  <a:gd name="connsiteY16" fmla="*/ 175794 h 175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56465" h="175221">
                    <a:moveTo>
                      <a:pt x="587526" y="175794"/>
                    </a:moveTo>
                    <a:cubicBezTo>
                      <a:pt x="461366" y="176495"/>
                      <a:pt x="343617" y="169486"/>
                      <a:pt x="226919" y="149862"/>
                    </a:cubicBezTo>
                    <a:cubicBezTo>
                      <a:pt x="163489" y="139348"/>
                      <a:pt x="100059" y="126732"/>
                      <a:pt x="42235" y="96944"/>
                    </a:cubicBezTo>
                    <a:cubicBezTo>
                      <a:pt x="30671" y="90987"/>
                      <a:pt x="19807" y="82927"/>
                      <a:pt x="10345" y="73815"/>
                    </a:cubicBezTo>
                    <a:cubicBezTo>
                      <a:pt x="-2972" y="61199"/>
                      <a:pt x="-3673" y="46831"/>
                      <a:pt x="9644" y="34566"/>
                    </a:cubicBezTo>
                    <a:cubicBezTo>
                      <a:pt x="22961" y="22650"/>
                      <a:pt x="39432" y="13889"/>
                      <a:pt x="54851" y="4427"/>
                    </a:cubicBezTo>
                    <a:cubicBezTo>
                      <a:pt x="57305" y="3026"/>
                      <a:pt x="62211" y="3726"/>
                      <a:pt x="65715" y="5128"/>
                    </a:cubicBezTo>
                    <a:cubicBezTo>
                      <a:pt x="143163" y="32112"/>
                      <a:pt x="223415" y="44378"/>
                      <a:pt x="304368" y="53489"/>
                    </a:cubicBezTo>
                    <a:cubicBezTo>
                      <a:pt x="405295" y="65054"/>
                      <a:pt x="506924" y="68909"/>
                      <a:pt x="608202" y="67157"/>
                    </a:cubicBezTo>
                    <a:cubicBezTo>
                      <a:pt x="739969" y="65054"/>
                      <a:pt x="871386" y="55592"/>
                      <a:pt x="1000349" y="25103"/>
                    </a:cubicBezTo>
                    <a:cubicBezTo>
                      <a:pt x="1027333" y="18796"/>
                      <a:pt x="1053266" y="8983"/>
                      <a:pt x="1079900" y="1273"/>
                    </a:cubicBezTo>
                    <a:cubicBezTo>
                      <a:pt x="1085157" y="-128"/>
                      <a:pt x="1091815" y="-829"/>
                      <a:pt x="1096371" y="1624"/>
                    </a:cubicBezTo>
                    <a:cubicBezTo>
                      <a:pt x="1111791" y="9334"/>
                      <a:pt x="1127911" y="17043"/>
                      <a:pt x="1141578" y="27557"/>
                    </a:cubicBezTo>
                    <a:cubicBezTo>
                      <a:pt x="1164007" y="44378"/>
                      <a:pt x="1163656" y="63652"/>
                      <a:pt x="1141578" y="81525"/>
                    </a:cubicBezTo>
                    <a:cubicBezTo>
                      <a:pt x="1113192" y="104304"/>
                      <a:pt x="1079550" y="115168"/>
                      <a:pt x="1045556" y="125330"/>
                    </a:cubicBezTo>
                    <a:cubicBezTo>
                      <a:pt x="978972" y="144955"/>
                      <a:pt x="910986" y="155469"/>
                      <a:pt x="842299" y="163178"/>
                    </a:cubicBezTo>
                    <a:cubicBezTo>
                      <a:pt x="755389" y="171940"/>
                      <a:pt x="667778" y="176846"/>
                      <a:pt x="587526" y="175794"/>
                    </a:cubicBezTo>
                    <a:close/>
                  </a:path>
                </a:pathLst>
              </a:custGeom>
              <a:grpFill/>
              <a:ln w="350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ndParaRPr>
              </a:p>
            </p:txBody>
          </p:sp>
        </p:grpSp>
        <p:grpSp>
          <p:nvGrpSpPr>
            <p:cNvPr id="51" name="그룹 13">
              <a:extLst>
                <a:ext uri="{FF2B5EF4-FFF2-40B4-BE49-F238E27FC236}">
                  <a16:creationId xmlns:a16="http://schemas.microsoft.com/office/drawing/2014/main" id="{2A5DD045-BF76-3E6D-5733-AFD7DBCF6296}"/>
                </a:ext>
              </a:extLst>
            </p:cNvPr>
            <p:cNvGrpSpPr/>
            <p:nvPr/>
          </p:nvGrpSpPr>
          <p:grpSpPr>
            <a:xfrm flipV="1">
              <a:off x="4432813" y="3299472"/>
              <a:ext cx="527928" cy="58693"/>
              <a:chOff x="3058239" y="2911633"/>
              <a:chExt cx="1213216" cy="134881"/>
            </a:xfrm>
            <a:solidFill>
              <a:sysClr val="window" lastClr="FFFFFF"/>
            </a:solidFill>
          </p:grpSpPr>
          <p:sp>
            <p:nvSpPr>
              <p:cNvPr id="60" name="사각형: 둥근 모서리 12">
                <a:extLst>
                  <a:ext uri="{FF2B5EF4-FFF2-40B4-BE49-F238E27FC236}">
                    <a16:creationId xmlns:a16="http://schemas.microsoft.com/office/drawing/2014/main" id="{1FBE1469-DD04-44BA-1E75-2D7305BC2044}"/>
                  </a:ext>
                </a:extLst>
              </p:cNvPr>
              <p:cNvSpPr/>
              <p:nvPr/>
            </p:nvSpPr>
            <p:spPr>
              <a:xfrm>
                <a:off x="3058239" y="2911633"/>
                <a:ext cx="710482" cy="134881"/>
              </a:xfrm>
              <a:prstGeom prst="roundRect">
                <a:avLst>
                  <a:gd name="adj" fmla="val 50000"/>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61" name="사각형: 둥근 모서리 203">
                <a:extLst>
                  <a:ext uri="{FF2B5EF4-FFF2-40B4-BE49-F238E27FC236}">
                    <a16:creationId xmlns:a16="http://schemas.microsoft.com/office/drawing/2014/main" id="{8C70F319-519F-BBA4-525B-2E0AABF03685}"/>
                  </a:ext>
                </a:extLst>
              </p:cNvPr>
              <p:cNvSpPr/>
              <p:nvPr/>
            </p:nvSpPr>
            <p:spPr>
              <a:xfrm>
                <a:off x="3804088" y="2911633"/>
                <a:ext cx="216000" cy="134881"/>
              </a:xfrm>
              <a:prstGeom prst="roundRect">
                <a:avLst>
                  <a:gd name="adj" fmla="val 50000"/>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62" name="사각형: 둥근 모서리 204">
                <a:extLst>
                  <a:ext uri="{FF2B5EF4-FFF2-40B4-BE49-F238E27FC236}">
                    <a16:creationId xmlns:a16="http://schemas.microsoft.com/office/drawing/2014/main" id="{0EE9F5B2-4FE5-EE7C-CD52-411C862FEB17}"/>
                  </a:ext>
                </a:extLst>
              </p:cNvPr>
              <p:cNvSpPr/>
              <p:nvPr/>
            </p:nvSpPr>
            <p:spPr>
              <a:xfrm>
                <a:off x="4055455" y="2911633"/>
                <a:ext cx="216000" cy="134881"/>
              </a:xfrm>
              <a:prstGeom prst="roundRect">
                <a:avLst>
                  <a:gd name="adj" fmla="val 50000"/>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grpSp>
        <p:grpSp>
          <p:nvGrpSpPr>
            <p:cNvPr id="52" name="그룹 205">
              <a:extLst>
                <a:ext uri="{FF2B5EF4-FFF2-40B4-BE49-F238E27FC236}">
                  <a16:creationId xmlns:a16="http://schemas.microsoft.com/office/drawing/2014/main" id="{DB1A0E4E-1D45-8605-C4E5-7189583DD5A6}"/>
                </a:ext>
              </a:extLst>
            </p:cNvPr>
            <p:cNvGrpSpPr/>
            <p:nvPr/>
          </p:nvGrpSpPr>
          <p:grpSpPr>
            <a:xfrm flipV="1">
              <a:off x="4432813" y="3755468"/>
              <a:ext cx="527928" cy="58693"/>
              <a:chOff x="3058239" y="2911633"/>
              <a:chExt cx="1213216" cy="134881"/>
            </a:xfrm>
            <a:solidFill>
              <a:sysClr val="window" lastClr="FFFFFF"/>
            </a:solidFill>
          </p:grpSpPr>
          <p:sp>
            <p:nvSpPr>
              <p:cNvPr id="57" name="사각형: 둥근 모서리 206">
                <a:extLst>
                  <a:ext uri="{FF2B5EF4-FFF2-40B4-BE49-F238E27FC236}">
                    <a16:creationId xmlns:a16="http://schemas.microsoft.com/office/drawing/2014/main" id="{A662ADC1-0F9B-7D83-3D1A-FB31E768CCC8}"/>
                  </a:ext>
                </a:extLst>
              </p:cNvPr>
              <p:cNvSpPr/>
              <p:nvPr/>
            </p:nvSpPr>
            <p:spPr>
              <a:xfrm>
                <a:off x="3058239" y="2911633"/>
                <a:ext cx="710482" cy="134881"/>
              </a:xfrm>
              <a:prstGeom prst="roundRect">
                <a:avLst>
                  <a:gd name="adj" fmla="val 50000"/>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58" name="사각형: 둥근 모서리 207">
                <a:extLst>
                  <a:ext uri="{FF2B5EF4-FFF2-40B4-BE49-F238E27FC236}">
                    <a16:creationId xmlns:a16="http://schemas.microsoft.com/office/drawing/2014/main" id="{7385290E-DEC1-4417-22E0-CFFBA14499DA}"/>
                  </a:ext>
                </a:extLst>
              </p:cNvPr>
              <p:cNvSpPr/>
              <p:nvPr/>
            </p:nvSpPr>
            <p:spPr>
              <a:xfrm>
                <a:off x="3804088" y="2911633"/>
                <a:ext cx="216000" cy="134881"/>
              </a:xfrm>
              <a:prstGeom prst="roundRect">
                <a:avLst>
                  <a:gd name="adj" fmla="val 50000"/>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59" name="사각형: 둥근 모서리 208">
                <a:extLst>
                  <a:ext uri="{FF2B5EF4-FFF2-40B4-BE49-F238E27FC236}">
                    <a16:creationId xmlns:a16="http://schemas.microsoft.com/office/drawing/2014/main" id="{7B78E1E7-C5B6-F95E-DCF5-F69757518244}"/>
                  </a:ext>
                </a:extLst>
              </p:cNvPr>
              <p:cNvSpPr/>
              <p:nvPr/>
            </p:nvSpPr>
            <p:spPr>
              <a:xfrm>
                <a:off x="4055455" y="2911633"/>
                <a:ext cx="216000" cy="134881"/>
              </a:xfrm>
              <a:prstGeom prst="roundRect">
                <a:avLst>
                  <a:gd name="adj" fmla="val 50000"/>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grpSp>
        <p:grpSp>
          <p:nvGrpSpPr>
            <p:cNvPr id="53" name="그룹 209">
              <a:extLst>
                <a:ext uri="{FF2B5EF4-FFF2-40B4-BE49-F238E27FC236}">
                  <a16:creationId xmlns:a16="http://schemas.microsoft.com/office/drawing/2014/main" id="{0991C80F-06B2-7149-E901-ECD62A9DF26D}"/>
                </a:ext>
              </a:extLst>
            </p:cNvPr>
            <p:cNvGrpSpPr/>
            <p:nvPr/>
          </p:nvGrpSpPr>
          <p:grpSpPr>
            <a:xfrm flipV="1">
              <a:off x="4432813" y="4211464"/>
              <a:ext cx="527928" cy="58693"/>
              <a:chOff x="3058239" y="2911633"/>
              <a:chExt cx="1213216" cy="134881"/>
            </a:xfrm>
            <a:solidFill>
              <a:sysClr val="window" lastClr="FFFFFF"/>
            </a:solidFill>
          </p:grpSpPr>
          <p:sp>
            <p:nvSpPr>
              <p:cNvPr id="54" name="사각형: 둥근 모서리 210">
                <a:extLst>
                  <a:ext uri="{FF2B5EF4-FFF2-40B4-BE49-F238E27FC236}">
                    <a16:creationId xmlns:a16="http://schemas.microsoft.com/office/drawing/2014/main" id="{3F74D94F-2E31-45F0-B32C-47160F33DB8C}"/>
                  </a:ext>
                </a:extLst>
              </p:cNvPr>
              <p:cNvSpPr/>
              <p:nvPr/>
            </p:nvSpPr>
            <p:spPr>
              <a:xfrm>
                <a:off x="3058239" y="2911633"/>
                <a:ext cx="710482" cy="134881"/>
              </a:xfrm>
              <a:prstGeom prst="roundRect">
                <a:avLst>
                  <a:gd name="adj" fmla="val 50000"/>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55" name="사각형: 둥근 모서리 211">
                <a:extLst>
                  <a:ext uri="{FF2B5EF4-FFF2-40B4-BE49-F238E27FC236}">
                    <a16:creationId xmlns:a16="http://schemas.microsoft.com/office/drawing/2014/main" id="{DC1D24C8-0375-6FAD-1CC5-98CB4A9CA67C}"/>
                  </a:ext>
                </a:extLst>
              </p:cNvPr>
              <p:cNvSpPr/>
              <p:nvPr/>
            </p:nvSpPr>
            <p:spPr>
              <a:xfrm>
                <a:off x="3804088" y="2911633"/>
                <a:ext cx="216000" cy="134881"/>
              </a:xfrm>
              <a:prstGeom prst="roundRect">
                <a:avLst>
                  <a:gd name="adj" fmla="val 50000"/>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56" name="사각형: 둥근 모서리 212">
                <a:extLst>
                  <a:ext uri="{FF2B5EF4-FFF2-40B4-BE49-F238E27FC236}">
                    <a16:creationId xmlns:a16="http://schemas.microsoft.com/office/drawing/2014/main" id="{5743D743-774D-C5C7-CBB4-BCCF1A8A552F}"/>
                  </a:ext>
                </a:extLst>
              </p:cNvPr>
              <p:cNvSpPr/>
              <p:nvPr/>
            </p:nvSpPr>
            <p:spPr>
              <a:xfrm>
                <a:off x="4055455" y="2911633"/>
                <a:ext cx="216000" cy="134881"/>
              </a:xfrm>
              <a:prstGeom prst="roundRect">
                <a:avLst>
                  <a:gd name="adj" fmla="val 50000"/>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grpSp>
      </p:grpSp>
      <p:grpSp>
        <p:nvGrpSpPr>
          <p:cNvPr id="69" name="Group 26">
            <a:extLst>
              <a:ext uri="{FF2B5EF4-FFF2-40B4-BE49-F238E27FC236}">
                <a16:creationId xmlns:a16="http://schemas.microsoft.com/office/drawing/2014/main" id="{EDF46D0F-2F6F-67BA-A7D2-F76DA45F77A7}"/>
              </a:ext>
            </a:extLst>
          </p:cNvPr>
          <p:cNvGrpSpPr/>
          <p:nvPr/>
        </p:nvGrpSpPr>
        <p:grpSpPr>
          <a:xfrm>
            <a:off x="1607414" y="3131011"/>
            <a:ext cx="1914233" cy="1051822"/>
            <a:chOff x="3767143" y="2916389"/>
            <a:chExt cx="1029430" cy="565645"/>
          </a:xfrm>
        </p:grpSpPr>
        <p:sp>
          <p:nvSpPr>
            <p:cNvPr id="70" name="Freeform: Shape 27">
              <a:extLst>
                <a:ext uri="{FF2B5EF4-FFF2-40B4-BE49-F238E27FC236}">
                  <a16:creationId xmlns:a16="http://schemas.microsoft.com/office/drawing/2014/main" id="{492FB137-469C-FF1D-240C-B2DDBF119A7B}"/>
                </a:ext>
              </a:extLst>
            </p:cNvPr>
            <p:cNvSpPr/>
            <p:nvPr/>
          </p:nvSpPr>
          <p:spPr>
            <a:xfrm>
              <a:off x="3813737" y="2969274"/>
              <a:ext cx="942959" cy="464494"/>
            </a:xfrm>
            <a:custGeom>
              <a:avLst/>
              <a:gdLst>
                <a:gd name="connsiteX0" fmla="*/ 0 w 967795"/>
                <a:gd name="connsiteY0" fmla="*/ 543968 h 543968"/>
                <a:gd name="connsiteX1" fmla="*/ 240280 w 967795"/>
                <a:gd name="connsiteY1" fmla="*/ 233606 h 543968"/>
                <a:gd name="connsiteX2" fmla="*/ 490572 w 967795"/>
                <a:gd name="connsiteY2" fmla="*/ 423828 h 543968"/>
                <a:gd name="connsiteX3" fmla="*/ 724178 w 967795"/>
                <a:gd name="connsiteY3" fmla="*/ 280327 h 543968"/>
                <a:gd name="connsiteX4" fmla="*/ 967795 w 967795"/>
                <a:gd name="connsiteY4" fmla="*/ 0 h 543968"/>
                <a:gd name="connsiteX0" fmla="*/ 0 w 967795"/>
                <a:gd name="connsiteY0" fmla="*/ 543968 h 543968"/>
                <a:gd name="connsiteX1" fmla="*/ 230044 w 967795"/>
                <a:gd name="connsiteY1" fmla="*/ 233606 h 543968"/>
                <a:gd name="connsiteX2" fmla="*/ 490572 w 967795"/>
                <a:gd name="connsiteY2" fmla="*/ 423828 h 543968"/>
                <a:gd name="connsiteX3" fmla="*/ 724178 w 967795"/>
                <a:gd name="connsiteY3" fmla="*/ 280327 h 543968"/>
                <a:gd name="connsiteX4" fmla="*/ 967795 w 967795"/>
                <a:gd name="connsiteY4" fmla="*/ 0 h 543968"/>
                <a:gd name="connsiteX0" fmla="*/ 0 w 967795"/>
                <a:gd name="connsiteY0" fmla="*/ 543968 h 543968"/>
                <a:gd name="connsiteX1" fmla="*/ 230044 w 967795"/>
                <a:gd name="connsiteY1" fmla="*/ 233606 h 543968"/>
                <a:gd name="connsiteX2" fmla="*/ 480336 w 967795"/>
                <a:gd name="connsiteY2" fmla="*/ 430652 h 543968"/>
                <a:gd name="connsiteX3" fmla="*/ 724178 w 967795"/>
                <a:gd name="connsiteY3" fmla="*/ 280327 h 543968"/>
                <a:gd name="connsiteX4" fmla="*/ 967795 w 967795"/>
                <a:gd name="connsiteY4" fmla="*/ 0 h 543968"/>
                <a:gd name="connsiteX0" fmla="*/ 0 w 967795"/>
                <a:gd name="connsiteY0" fmla="*/ 543968 h 543968"/>
                <a:gd name="connsiteX1" fmla="*/ 195274 w 967795"/>
                <a:gd name="connsiteY1" fmla="*/ 327981 h 543968"/>
                <a:gd name="connsiteX2" fmla="*/ 480336 w 967795"/>
                <a:gd name="connsiteY2" fmla="*/ 430652 h 543968"/>
                <a:gd name="connsiteX3" fmla="*/ 724178 w 967795"/>
                <a:gd name="connsiteY3" fmla="*/ 280327 h 543968"/>
                <a:gd name="connsiteX4" fmla="*/ 967795 w 967795"/>
                <a:gd name="connsiteY4" fmla="*/ 0 h 543968"/>
                <a:gd name="connsiteX0" fmla="*/ 0 w 967795"/>
                <a:gd name="connsiteY0" fmla="*/ 543968 h 543968"/>
                <a:gd name="connsiteX1" fmla="*/ 195274 w 967795"/>
                <a:gd name="connsiteY1" fmla="*/ 327981 h 543968"/>
                <a:gd name="connsiteX2" fmla="*/ 480336 w 967795"/>
                <a:gd name="connsiteY2" fmla="*/ 341244 h 543968"/>
                <a:gd name="connsiteX3" fmla="*/ 724178 w 967795"/>
                <a:gd name="connsiteY3" fmla="*/ 280327 h 543968"/>
                <a:gd name="connsiteX4" fmla="*/ 967795 w 967795"/>
                <a:gd name="connsiteY4" fmla="*/ 0 h 543968"/>
                <a:gd name="connsiteX0" fmla="*/ 0 w 967795"/>
                <a:gd name="connsiteY0" fmla="*/ 543968 h 543968"/>
                <a:gd name="connsiteX1" fmla="*/ 195274 w 967795"/>
                <a:gd name="connsiteY1" fmla="*/ 327981 h 543968"/>
                <a:gd name="connsiteX2" fmla="*/ 480336 w 967795"/>
                <a:gd name="connsiteY2" fmla="*/ 341244 h 543968"/>
                <a:gd name="connsiteX3" fmla="*/ 704310 w 967795"/>
                <a:gd name="connsiteY3" fmla="*/ 230656 h 543968"/>
                <a:gd name="connsiteX4" fmla="*/ 967795 w 967795"/>
                <a:gd name="connsiteY4" fmla="*/ 0 h 543968"/>
                <a:gd name="connsiteX0" fmla="*/ 0 w 942959"/>
                <a:gd name="connsiteY0" fmla="*/ 464494 h 464494"/>
                <a:gd name="connsiteX1" fmla="*/ 195274 w 942959"/>
                <a:gd name="connsiteY1" fmla="*/ 248507 h 464494"/>
                <a:gd name="connsiteX2" fmla="*/ 480336 w 942959"/>
                <a:gd name="connsiteY2" fmla="*/ 261770 h 464494"/>
                <a:gd name="connsiteX3" fmla="*/ 704310 w 942959"/>
                <a:gd name="connsiteY3" fmla="*/ 151182 h 464494"/>
                <a:gd name="connsiteX4" fmla="*/ 942959 w 942959"/>
                <a:gd name="connsiteY4" fmla="*/ 0 h 464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959" h="464494">
                  <a:moveTo>
                    <a:pt x="0" y="464494"/>
                  </a:moveTo>
                  <a:lnTo>
                    <a:pt x="195274" y="248507"/>
                  </a:lnTo>
                  <a:lnTo>
                    <a:pt x="480336" y="261770"/>
                  </a:lnTo>
                  <a:lnTo>
                    <a:pt x="704310" y="151182"/>
                  </a:lnTo>
                  <a:lnTo>
                    <a:pt x="942959" y="0"/>
                  </a:lnTo>
                </a:path>
              </a:pathLst>
            </a:custGeom>
            <a:noFill/>
            <a:ln w="25400" cap="flat" cmpd="sng" algn="ctr">
              <a:solidFill>
                <a:srgbClr val="59595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a:cs typeface="+mn-cs"/>
              </a:endParaRPr>
            </a:p>
          </p:txBody>
        </p:sp>
        <p:sp>
          <p:nvSpPr>
            <p:cNvPr id="71" name="Oval 28">
              <a:extLst>
                <a:ext uri="{FF2B5EF4-FFF2-40B4-BE49-F238E27FC236}">
                  <a16:creationId xmlns:a16="http://schemas.microsoft.com/office/drawing/2014/main" id="{E27C6576-B1F8-2969-6DE9-3A414D389177}"/>
                </a:ext>
              </a:extLst>
            </p:cNvPr>
            <p:cNvSpPr/>
            <p:nvPr/>
          </p:nvSpPr>
          <p:spPr>
            <a:xfrm>
              <a:off x="3767143" y="3389488"/>
              <a:ext cx="92546" cy="92546"/>
            </a:xfrm>
            <a:prstGeom prst="ellipse">
              <a:avLst/>
            </a:prstGeom>
            <a:solidFill>
              <a:srgbClr val="1ED0A6"/>
            </a:solidFill>
            <a:ln w="25400" cap="flat" cmpd="sng" algn="ctr">
              <a:solidFill>
                <a:srgbClr val="59595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72" name="Oval 29">
              <a:extLst>
                <a:ext uri="{FF2B5EF4-FFF2-40B4-BE49-F238E27FC236}">
                  <a16:creationId xmlns:a16="http://schemas.microsoft.com/office/drawing/2014/main" id="{07234D3E-05FB-C481-3AA9-F5EC8235CBE5}"/>
                </a:ext>
              </a:extLst>
            </p:cNvPr>
            <p:cNvSpPr/>
            <p:nvPr/>
          </p:nvSpPr>
          <p:spPr>
            <a:xfrm>
              <a:off x="3955029" y="3180022"/>
              <a:ext cx="92546" cy="92546"/>
            </a:xfrm>
            <a:prstGeom prst="ellipse">
              <a:avLst/>
            </a:prstGeom>
            <a:solidFill>
              <a:srgbClr val="1ED0A6"/>
            </a:solidFill>
            <a:ln w="25400" cap="flat" cmpd="sng" algn="ctr">
              <a:solidFill>
                <a:srgbClr val="59595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73" name="Oval 30">
              <a:extLst>
                <a:ext uri="{FF2B5EF4-FFF2-40B4-BE49-F238E27FC236}">
                  <a16:creationId xmlns:a16="http://schemas.microsoft.com/office/drawing/2014/main" id="{32295592-6F8F-62F7-77F0-C3DBE658552F}"/>
                </a:ext>
              </a:extLst>
            </p:cNvPr>
            <p:cNvSpPr/>
            <p:nvPr/>
          </p:nvSpPr>
          <p:spPr>
            <a:xfrm>
              <a:off x="4238282" y="3178466"/>
              <a:ext cx="92546" cy="92546"/>
            </a:xfrm>
            <a:prstGeom prst="ellipse">
              <a:avLst/>
            </a:prstGeom>
            <a:solidFill>
              <a:srgbClr val="1ED0A6"/>
            </a:solidFill>
            <a:ln w="25400" cap="flat" cmpd="sng" algn="ctr">
              <a:solidFill>
                <a:srgbClr val="59595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74" name="Oval 31">
              <a:extLst>
                <a:ext uri="{FF2B5EF4-FFF2-40B4-BE49-F238E27FC236}">
                  <a16:creationId xmlns:a16="http://schemas.microsoft.com/office/drawing/2014/main" id="{56D5BF78-8E45-10FE-F1F3-CFE4794918C9}"/>
                </a:ext>
              </a:extLst>
            </p:cNvPr>
            <p:cNvSpPr/>
            <p:nvPr/>
          </p:nvSpPr>
          <p:spPr>
            <a:xfrm>
              <a:off x="4458316" y="3064666"/>
              <a:ext cx="92546" cy="92546"/>
            </a:xfrm>
            <a:prstGeom prst="ellipse">
              <a:avLst/>
            </a:prstGeom>
            <a:solidFill>
              <a:srgbClr val="1ED0A6"/>
            </a:solidFill>
            <a:ln w="25400" cap="flat" cmpd="sng" algn="ctr">
              <a:solidFill>
                <a:srgbClr val="59595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75" name="Oval 32">
              <a:extLst>
                <a:ext uri="{FF2B5EF4-FFF2-40B4-BE49-F238E27FC236}">
                  <a16:creationId xmlns:a16="http://schemas.microsoft.com/office/drawing/2014/main" id="{2A15A83A-C713-F654-B63A-466E7A778A53}"/>
                </a:ext>
              </a:extLst>
            </p:cNvPr>
            <p:cNvSpPr/>
            <p:nvPr/>
          </p:nvSpPr>
          <p:spPr>
            <a:xfrm>
              <a:off x="4704027" y="2916389"/>
              <a:ext cx="92546" cy="92546"/>
            </a:xfrm>
            <a:prstGeom prst="ellipse">
              <a:avLst/>
            </a:prstGeom>
            <a:solidFill>
              <a:srgbClr val="1ED0A6"/>
            </a:solidFill>
            <a:ln w="25400" cap="flat" cmpd="sng" algn="ctr">
              <a:solidFill>
                <a:srgbClr val="59595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grpSp>
      <p:grpSp>
        <p:nvGrpSpPr>
          <p:cNvPr id="82" name="Group 81">
            <a:extLst>
              <a:ext uri="{FF2B5EF4-FFF2-40B4-BE49-F238E27FC236}">
                <a16:creationId xmlns:a16="http://schemas.microsoft.com/office/drawing/2014/main" id="{01CD8C0A-5C45-DE41-0187-4EB6F04113DD}"/>
              </a:ext>
            </a:extLst>
          </p:cNvPr>
          <p:cNvGrpSpPr/>
          <p:nvPr/>
        </p:nvGrpSpPr>
        <p:grpSpPr>
          <a:xfrm>
            <a:off x="4595889" y="5504172"/>
            <a:ext cx="655327" cy="631272"/>
            <a:chOff x="5117258" y="5986452"/>
            <a:chExt cx="655327" cy="631272"/>
          </a:xfrm>
        </p:grpSpPr>
        <p:sp>
          <p:nvSpPr>
            <p:cNvPr id="81" name="Oval 39">
              <a:extLst>
                <a:ext uri="{FF2B5EF4-FFF2-40B4-BE49-F238E27FC236}">
                  <a16:creationId xmlns:a16="http://schemas.microsoft.com/office/drawing/2014/main" id="{56120BD7-A2F7-E8E3-F311-7E8E45CA82A1}"/>
                </a:ext>
              </a:extLst>
            </p:cNvPr>
            <p:cNvSpPr/>
            <p:nvPr/>
          </p:nvSpPr>
          <p:spPr>
            <a:xfrm rot="5400000">
              <a:off x="5129286" y="5974424"/>
              <a:ext cx="631272" cy="655327"/>
            </a:xfrm>
            <a:prstGeom prst="ellipse">
              <a:avLst/>
            </a:prstGeom>
            <a:solidFill>
              <a:sysClr val="window" lastClr="FFFFFF"/>
            </a:solidFill>
            <a:ln w="38100" cap="flat" cmpd="sng" algn="ctr">
              <a:solidFill>
                <a:schemeClr val="accent2">
                  <a:lumMod val="7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dirty="0">
                <a:ln>
                  <a:noFill/>
                </a:ln>
                <a:solidFill>
                  <a:prstClr val="white"/>
                </a:solidFill>
                <a:effectLst/>
                <a:uLnTx/>
                <a:uFillTx/>
                <a:latin typeface="Arial"/>
                <a:cs typeface="+mn-cs"/>
              </a:endParaRPr>
            </a:p>
          </p:txBody>
        </p:sp>
        <p:pic>
          <p:nvPicPr>
            <p:cNvPr id="76" name="Picture 75">
              <a:extLst>
                <a:ext uri="{FF2B5EF4-FFF2-40B4-BE49-F238E27FC236}">
                  <a16:creationId xmlns:a16="http://schemas.microsoft.com/office/drawing/2014/main" id="{9EF43A01-3C14-B2BC-B758-45EE891DB8C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51216" y="6094277"/>
              <a:ext cx="398500" cy="398500"/>
            </a:xfrm>
            <a:prstGeom prst="rect">
              <a:avLst/>
            </a:prstGeom>
          </p:spPr>
        </p:pic>
      </p:grpSp>
      <p:pic>
        <p:nvPicPr>
          <p:cNvPr id="77" name="Picture 76">
            <a:extLst>
              <a:ext uri="{FF2B5EF4-FFF2-40B4-BE49-F238E27FC236}">
                <a16:creationId xmlns:a16="http://schemas.microsoft.com/office/drawing/2014/main" id="{15B36267-CA82-2C75-4C1C-F27AA76E2AD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471722" y="2065720"/>
            <a:ext cx="433581" cy="413931"/>
          </a:xfrm>
          <a:prstGeom prst="rect">
            <a:avLst/>
          </a:prstGeom>
        </p:spPr>
      </p:pic>
      <p:pic>
        <p:nvPicPr>
          <p:cNvPr id="78" name="Picture 77">
            <a:extLst>
              <a:ext uri="{FF2B5EF4-FFF2-40B4-BE49-F238E27FC236}">
                <a16:creationId xmlns:a16="http://schemas.microsoft.com/office/drawing/2014/main" id="{13F85A15-3158-8999-FB40-B0E163D9527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60693" y="2800298"/>
            <a:ext cx="411893" cy="411893"/>
          </a:xfrm>
          <a:prstGeom prst="rect">
            <a:avLst/>
          </a:prstGeom>
        </p:spPr>
      </p:pic>
      <p:pic>
        <p:nvPicPr>
          <p:cNvPr id="79" name="Picture 2" descr="innovations, creative ideas vector line icon">
            <a:extLst>
              <a:ext uri="{FF2B5EF4-FFF2-40B4-BE49-F238E27FC236}">
                <a16:creationId xmlns:a16="http://schemas.microsoft.com/office/drawing/2014/main" id="{B837DCEF-C269-8847-E6D3-E9939ECD2856}"/>
              </a:ext>
            </a:extLst>
          </p:cNvPr>
          <p:cNvPicPr>
            <a:picLocks noChangeAspect="1" noChangeArrowheads="1"/>
          </p:cNvPicPr>
          <p:nvPr/>
        </p:nvPicPr>
        <p:blipFill rotWithShape="1">
          <a:blip r:embed="rId10" cstate="print">
            <a:extLst>
              <a:ext uri="{BEBA8EAE-BF5A-486C-A8C5-ECC9F3942E4B}">
                <a14:imgProps xmlns:a14="http://schemas.microsoft.com/office/drawing/2010/main">
                  <a14:imgLayer r:embed="rId11">
                    <a14:imgEffect>
                      <a14:sharpenSoften amount="50000"/>
                    </a14:imgEffect>
                  </a14:imgLayer>
                </a14:imgProps>
              </a:ext>
              <a:ext uri="{28A0092B-C50C-407E-A947-70E740481C1C}">
                <a14:useLocalDpi xmlns:a14="http://schemas.microsoft.com/office/drawing/2010/main" val="0"/>
              </a:ext>
            </a:extLst>
          </a:blip>
          <a:srcRect l="21270" t="21658" r="20229" b="13569"/>
          <a:stretch/>
        </p:blipFill>
        <p:spPr bwMode="auto">
          <a:xfrm>
            <a:off x="5666002" y="3807519"/>
            <a:ext cx="430259" cy="345110"/>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79">
            <a:extLst>
              <a:ext uri="{FF2B5EF4-FFF2-40B4-BE49-F238E27FC236}">
                <a16:creationId xmlns:a16="http://schemas.microsoft.com/office/drawing/2014/main" id="{D25077C5-D68A-4E0F-61A3-83CC9C7255C4}"/>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499860" y="4826988"/>
            <a:ext cx="444765" cy="444765"/>
          </a:xfrm>
          <a:prstGeom prst="rect">
            <a:avLst/>
          </a:prstGeom>
        </p:spPr>
      </p:pic>
      <p:sp>
        <p:nvSpPr>
          <p:cNvPr id="87" name="TextBox 86">
            <a:extLst>
              <a:ext uri="{FF2B5EF4-FFF2-40B4-BE49-F238E27FC236}">
                <a16:creationId xmlns:a16="http://schemas.microsoft.com/office/drawing/2014/main" id="{8BE2D003-AD23-2AF1-453E-F21FAA6B665F}"/>
              </a:ext>
            </a:extLst>
          </p:cNvPr>
          <p:cNvSpPr txBox="1"/>
          <p:nvPr/>
        </p:nvSpPr>
        <p:spPr>
          <a:xfrm>
            <a:off x="5350569" y="1795886"/>
            <a:ext cx="5694150" cy="338554"/>
          </a:xfrm>
          <a:prstGeom prst="rect">
            <a:avLst/>
          </a:prstGeom>
          <a:noFill/>
        </p:spPr>
        <p:txBody>
          <a:bodyPr wrap="square" rtlCol="0">
            <a:spAutoFit/>
          </a:bodyPr>
          <a:lstStyle/>
          <a:p>
            <a:r>
              <a:rPr lang="en-US" altLang="ko-KR" sz="1600" b="1" dirty="0">
                <a:solidFill>
                  <a:prstClr val="black">
                    <a:lumMod val="75000"/>
                    <a:lumOff val="25000"/>
                  </a:prstClr>
                </a:solidFill>
                <a:latin typeface="Times New Roman" panose="02020603050405020304" pitchFamily="18" charset="0"/>
                <a:cs typeface="Times New Roman" panose="02020603050405020304" pitchFamily="18" charset="0"/>
              </a:rPr>
              <a:t>INTRODUCTION &amp; IMPORTANCE OF THE RESEARCH</a:t>
            </a:r>
            <a:endParaRPr lang="ko-KR" altLang="en-US" sz="1600" b="1" dirty="0">
              <a:solidFill>
                <a:prstClr val="black">
                  <a:lumMod val="75000"/>
                  <a:lumOff val="25000"/>
                </a:prstClr>
              </a:solidFill>
              <a:latin typeface="Times New Roman" panose="02020603050405020304" pitchFamily="18" charset="0"/>
              <a:cs typeface="Times New Roman" panose="02020603050405020304" pitchFamily="18" charset="0"/>
            </a:endParaRPr>
          </a:p>
        </p:txBody>
      </p:sp>
      <p:sp>
        <p:nvSpPr>
          <p:cNvPr id="88" name="TextBox 87">
            <a:extLst>
              <a:ext uri="{FF2B5EF4-FFF2-40B4-BE49-F238E27FC236}">
                <a16:creationId xmlns:a16="http://schemas.microsoft.com/office/drawing/2014/main" id="{F5549CB0-9534-6F36-0B84-BE241C5ED1FB}"/>
              </a:ext>
            </a:extLst>
          </p:cNvPr>
          <p:cNvSpPr txBox="1"/>
          <p:nvPr/>
        </p:nvSpPr>
        <p:spPr>
          <a:xfrm>
            <a:off x="5944625" y="2732654"/>
            <a:ext cx="5694150" cy="338554"/>
          </a:xfrm>
          <a:prstGeom prst="rect">
            <a:avLst/>
          </a:prstGeom>
          <a:noFill/>
        </p:spPr>
        <p:txBody>
          <a:bodyPr wrap="square" rtlCol="0">
            <a:spAutoFit/>
          </a:bodyPr>
          <a:lstStyle/>
          <a:p>
            <a:r>
              <a:rPr lang="en-US" altLang="ko-KR" sz="1600" b="1" dirty="0">
                <a:solidFill>
                  <a:prstClr val="black">
                    <a:lumMod val="75000"/>
                    <a:lumOff val="25000"/>
                  </a:prstClr>
                </a:solidFill>
                <a:latin typeface="Times New Roman" panose="02020603050405020304" pitchFamily="18" charset="0"/>
                <a:cs typeface="Times New Roman" panose="02020603050405020304" pitchFamily="18" charset="0"/>
              </a:rPr>
              <a:t>OBJECTIVES OF THE STUDY</a:t>
            </a:r>
            <a:endParaRPr lang="ko-KR" altLang="en-US" sz="1600" b="1" dirty="0">
              <a:solidFill>
                <a:prstClr val="black">
                  <a:lumMod val="75000"/>
                  <a:lumOff val="25000"/>
                </a:prstClr>
              </a:solidFill>
              <a:latin typeface="Times New Roman" panose="02020603050405020304" pitchFamily="18" charset="0"/>
              <a:cs typeface="Times New Roman" panose="02020603050405020304" pitchFamily="18" charset="0"/>
            </a:endParaRPr>
          </a:p>
        </p:txBody>
      </p:sp>
      <p:sp>
        <p:nvSpPr>
          <p:cNvPr id="89" name="TextBox 88">
            <a:extLst>
              <a:ext uri="{FF2B5EF4-FFF2-40B4-BE49-F238E27FC236}">
                <a16:creationId xmlns:a16="http://schemas.microsoft.com/office/drawing/2014/main" id="{7921100F-0811-E79B-C966-8740FE15E6B8}"/>
              </a:ext>
            </a:extLst>
          </p:cNvPr>
          <p:cNvSpPr txBox="1"/>
          <p:nvPr/>
        </p:nvSpPr>
        <p:spPr>
          <a:xfrm>
            <a:off x="6226564" y="3790058"/>
            <a:ext cx="5694150" cy="338554"/>
          </a:xfrm>
          <a:prstGeom prst="rect">
            <a:avLst/>
          </a:prstGeom>
          <a:noFill/>
        </p:spPr>
        <p:txBody>
          <a:bodyPr wrap="square" rtlCol="0">
            <a:spAutoFit/>
          </a:bodyPr>
          <a:lstStyle/>
          <a:p>
            <a:r>
              <a:rPr lang="en-US" altLang="ko-KR" sz="1600" b="1" dirty="0">
                <a:solidFill>
                  <a:prstClr val="black">
                    <a:lumMod val="75000"/>
                    <a:lumOff val="25000"/>
                  </a:prstClr>
                </a:solidFill>
                <a:latin typeface="Times New Roman" panose="02020603050405020304" pitchFamily="18" charset="0"/>
                <a:cs typeface="Times New Roman" panose="02020603050405020304" pitchFamily="18" charset="0"/>
              </a:rPr>
              <a:t>PROPOSED ANDROID MALWARE DETECTION</a:t>
            </a:r>
            <a:endParaRPr lang="ko-KR" altLang="en-US" sz="1600" b="1" dirty="0">
              <a:solidFill>
                <a:prstClr val="black">
                  <a:lumMod val="75000"/>
                  <a:lumOff val="25000"/>
                </a:prstClr>
              </a:solidFill>
              <a:latin typeface="Times New Roman" panose="02020603050405020304" pitchFamily="18" charset="0"/>
              <a:cs typeface="Times New Roman" panose="02020603050405020304" pitchFamily="18" charset="0"/>
            </a:endParaRPr>
          </a:p>
        </p:txBody>
      </p:sp>
      <p:sp>
        <p:nvSpPr>
          <p:cNvPr id="90" name="TextBox 89">
            <a:extLst>
              <a:ext uri="{FF2B5EF4-FFF2-40B4-BE49-F238E27FC236}">
                <a16:creationId xmlns:a16="http://schemas.microsoft.com/office/drawing/2014/main" id="{9BAC806A-0C96-EE0D-978D-ABE6DCA25C82}"/>
              </a:ext>
            </a:extLst>
          </p:cNvPr>
          <p:cNvSpPr txBox="1"/>
          <p:nvPr/>
        </p:nvSpPr>
        <p:spPr>
          <a:xfrm>
            <a:off x="6005897" y="4826988"/>
            <a:ext cx="5694150" cy="338554"/>
          </a:xfrm>
          <a:prstGeom prst="rect">
            <a:avLst/>
          </a:prstGeom>
          <a:noFill/>
        </p:spPr>
        <p:txBody>
          <a:bodyPr wrap="square" rtlCol="0">
            <a:spAutoFit/>
          </a:bodyPr>
          <a:lstStyle/>
          <a:p>
            <a:r>
              <a:rPr lang="en-US" altLang="ko-KR" sz="1600" b="1" dirty="0">
                <a:solidFill>
                  <a:prstClr val="black">
                    <a:lumMod val="75000"/>
                    <a:lumOff val="25000"/>
                  </a:prstClr>
                </a:solidFill>
                <a:latin typeface="Times New Roman" panose="02020603050405020304" pitchFamily="18" charset="0"/>
                <a:cs typeface="Times New Roman" panose="02020603050405020304" pitchFamily="18" charset="0"/>
              </a:rPr>
              <a:t>INTERPRETATION OF RESULTS</a:t>
            </a:r>
            <a:endParaRPr lang="ko-KR" altLang="en-US" sz="1600" b="1" dirty="0">
              <a:solidFill>
                <a:prstClr val="black">
                  <a:lumMod val="75000"/>
                  <a:lumOff val="25000"/>
                </a:prstClr>
              </a:solidFill>
              <a:latin typeface="Times New Roman" panose="02020603050405020304" pitchFamily="18" charset="0"/>
              <a:cs typeface="Times New Roman" panose="02020603050405020304" pitchFamily="18" charset="0"/>
            </a:endParaRPr>
          </a:p>
        </p:txBody>
      </p:sp>
      <p:sp>
        <p:nvSpPr>
          <p:cNvPr id="91" name="TextBox 90">
            <a:extLst>
              <a:ext uri="{FF2B5EF4-FFF2-40B4-BE49-F238E27FC236}">
                <a16:creationId xmlns:a16="http://schemas.microsoft.com/office/drawing/2014/main" id="{194D727D-0CC8-6C0C-77EC-052A3616F027}"/>
              </a:ext>
            </a:extLst>
          </p:cNvPr>
          <p:cNvSpPr txBox="1"/>
          <p:nvPr/>
        </p:nvSpPr>
        <p:spPr>
          <a:xfrm>
            <a:off x="5262305" y="5708315"/>
            <a:ext cx="5694150" cy="338554"/>
          </a:xfrm>
          <a:prstGeom prst="rect">
            <a:avLst/>
          </a:prstGeom>
          <a:noFill/>
        </p:spPr>
        <p:txBody>
          <a:bodyPr wrap="square" rtlCol="0">
            <a:spAutoFit/>
          </a:bodyPr>
          <a:lstStyle/>
          <a:p>
            <a:r>
              <a:rPr lang="en-US" altLang="ko-KR" sz="1600" b="1" dirty="0">
                <a:solidFill>
                  <a:prstClr val="black">
                    <a:lumMod val="75000"/>
                    <a:lumOff val="25000"/>
                  </a:prstClr>
                </a:solidFill>
                <a:latin typeface="Times New Roman" panose="02020603050405020304" pitchFamily="18" charset="0"/>
                <a:cs typeface="Times New Roman" panose="02020603050405020304" pitchFamily="18" charset="0"/>
              </a:rPr>
              <a:t>CONCLUSION &amp; FUTURE WORK</a:t>
            </a:r>
            <a:endParaRPr lang="ko-KR" altLang="en-US" sz="1600" b="1" dirty="0">
              <a:solidFill>
                <a:prstClr val="black">
                  <a:lumMod val="75000"/>
                  <a:lumOff val="25000"/>
                </a:prstClr>
              </a:solidFill>
              <a:latin typeface="Times New Roman" panose="02020603050405020304" pitchFamily="18" charset="0"/>
              <a:cs typeface="Times New Roman" panose="02020603050405020304" pitchFamily="18" charset="0"/>
            </a:endParaRPr>
          </a:p>
        </p:txBody>
      </p:sp>
      <p:sp>
        <p:nvSpPr>
          <p:cNvPr id="93" name="TextBox 92">
            <a:extLst>
              <a:ext uri="{FF2B5EF4-FFF2-40B4-BE49-F238E27FC236}">
                <a16:creationId xmlns:a16="http://schemas.microsoft.com/office/drawing/2014/main" id="{50C41556-8716-F85A-15CB-47A7B62EBEF7}"/>
              </a:ext>
            </a:extLst>
          </p:cNvPr>
          <p:cNvSpPr txBox="1"/>
          <p:nvPr/>
        </p:nvSpPr>
        <p:spPr>
          <a:xfrm>
            <a:off x="3913860" y="955496"/>
            <a:ext cx="3717452" cy="523220"/>
          </a:xfrm>
          <a:prstGeom prst="rect">
            <a:avLst/>
          </a:prstGeom>
          <a:noFill/>
        </p:spPr>
        <p:txBody>
          <a:bodyPr wrap="square">
            <a:spAutoFit/>
          </a:bodyPr>
          <a:lstStyle/>
          <a:p>
            <a:pPr marL="0" indent="0" algn="ctr">
              <a:buNone/>
            </a:pPr>
            <a:r>
              <a:rPr lang="en-US" sz="2800" b="1" dirty="0">
                <a:latin typeface="Times New Roman" panose="02020603050405020304" pitchFamily="18" charset="0"/>
                <a:cs typeface="Times New Roman" panose="02020603050405020304" pitchFamily="18" charset="0"/>
              </a:rPr>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graphicFrame>
        <p:nvGraphicFramePr>
          <p:cNvPr id="110" name="Google Shape;110;p3"/>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3" imgW="1611796" imgH="1097280" progId="Paint.Picture">
                  <p:embed/>
                </p:oleObj>
              </mc:Choice>
              <mc:Fallback>
                <p:oleObj r:id="rId3" imgW="1611796" imgH="1097280" progId="Paint.Picture">
                  <p:embed/>
                  <p:pic>
                    <p:nvPicPr>
                      <p:cNvPr id="110" name="Google Shape;110;p3"/>
                      <p:cNvPicPr preferRelativeResize="0"/>
                      <p:nvPr/>
                    </p:nvPicPr>
                    <p:blipFill rotWithShape="1">
                      <a:blip r:embed="rId4">
                        <a:alphaModFix/>
                      </a:blip>
                      <a:srcRect/>
                      <a:stretch/>
                    </p:blipFill>
                    <p:spPr>
                      <a:xfrm>
                        <a:off x="10553065" y="19050"/>
                        <a:ext cx="1611796" cy="1097280"/>
                      </a:xfrm>
                      <a:prstGeom prst="rect">
                        <a:avLst/>
                      </a:prstGeom>
                      <a:noFill/>
                      <a:ln>
                        <a:noFill/>
                      </a:ln>
                    </p:spPr>
                  </p:pic>
                </p:oleObj>
              </mc:Fallback>
            </mc:AlternateContent>
          </a:graphicData>
        </a:graphic>
      </p:graphicFrame>
      <p:sp>
        <p:nvSpPr>
          <p:cNvPr id="111" name="Google Shape;111;p3"/>
          <p:cNvSpPr txBox="1"/>
          <p:nvPr/>
        </p:nvSpPr>
        <p:spPr>
          <a:xfrm>
            <a:off x="3877494" y="219596"/>
            <a:ext cx="4064000" cy="5219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7030A0"/>
                </a:solidFill>
                <a:latin typeface="Calibri"/>
                <a:ea typeface="Calibri"/>
                <a:cs typeface="Calibri"/>
                <a:sym typeface="Calibri"/>
              </a:rPr>
              <a:t>ICPERES 2024</a:t>
            </a:r>
            <a:endParaRPr sz="2800" b="1" dirty="0">
              <a:solidFill>
                <a:srgbClr val="7030A0"/>
              </a:solidFill>
              <a:latin typeface="Calibri"/>
              <a:ea typeface="Calibri"/>
              <a:cs typeface="Calibri"/>
              <a:sym typeface="Calibri"/>
            </a:endParaRPr>
          </a:p>
        </p:txBody>
      </p:sp>
      <p:graphicFrame>
        <p:nvGraphicFramePr>
          <p:cNvPr id="112" name="Google Shape;112;p3"/>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5" imgW="1109177" imgH="1188720" progId="Paint.Picture">
                  <p:embed/>
                </p:oleObj>
              </mc:Choice>
              <mc:Fallback>
                <p:oleObj r:id="rId5" imgW="1109177" imgH="1188720" progId="Paint.Picture">
                  <p:embed/>
                  <p:pic>
                    <p:nvPicPr>
                      <p:cNvPr id="112" name="Google Shape;112;p3"/>
                      <p:cNvPicPr preferRelativeResize="0"/>
                      <p:nvPr/>
                    </p:nvPicPr>
                    <p:blipFill rotWithShape="1">
                      <a:blip r:embed="rId6">
                        <a:alphaModFix/>
                      </a:blip>
                      <a:srcRect/>
                      <a:stretch/>
                    </p:blipFill>
                    <p:spPr>
                      <a:xfrm>
                        <a:off x="0" y="-11430"/>
                        <a:ext cx="1109177" cy="1188720"/>
                      </a:xfrm>
                      <a:prstGeom prst="rect">
                        <a:avLst/>
                      </a:prstGeom>
                      <a:noFill/>
                      <a:ln>
                        <a:noFill/>
                      </a:ln>
                    </p:spPr>
                  </p:pic>
                </p:oleObj>
              </mc:Fallback>
            </mc:AlternateContent>
          </a:graphicData>
        </a:graphic>
      </p:graphicFrame>
      <p:sp>
        <p:nvSpPr>
          <p:cNvPr id="113" name="Google Shape;113;p3"/>
          <p:cNvSpPr txBox="1">
            <a:spLocks noGrp="1"/>
          </p:cNvSpPr>
          <p:nvPr>
            <p:ph type="ctrTitle" idx="4294967295"/>
          </p:nvPr>
        </p:nvSpPr>
        <p:spPr>
          <a:xfrm>
            <a:off x="3877494" y="916290"/>
            <a:ext cx="4064100" cy="5220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ct val="100000"/>
              <a:buFont typeface="Calibri"/>
              <a:buNone/>
            </a:pPr>
            <a:r>
              <a:rPr lang="en-US" sz="3600" dirty="0">
                <a:latin typeface="Times New Roman" panose="02020603050405020304" pitchFamily="18" charset="0"/>
                <a:cs typeface="Times New Roman" panose="02020603050405020304" pitchFamily="18" charset="0"/>
              </a:rPr>
              <a:t>Introduction</a:t>
            </a:r>
            <a:endParaRPr sz="3600" b="0" i="0" u="none" strike="noStrike" cap="none" dirty="0">
              <a:solidFill>
                <a:schemeClr val="dk1"/>
              </a:solidFill>
              <a:latin typeface="Times New Roman" panose="02020603050405020304" pitchFamily="18" charset="0"/>
              <a:cs typeface="Times New Roman" panose="02020603050405020304" pitchFamily="18" charset="0"/>
              <a:sym typeface="Calibri"/>
            </a:endParaRPr>
          </a:p>
        </p:txBody>
      </p:sp>
      <p:sp>
        <p:nvSpPr>
          <p:cNvPr id="114" name="Google Shape;114;p3"/>
          <p:cNvSpPr txBox="1">
            <a:spLocks noGrp="1"/>
          </p:cNvSpPr>
          <p:nvPr>
            <p:ph type="body" idx="1"/>
          </p:nvPr>
        </p:nvSpPr>
        <p:spPr>
          <a:xfrm>
            <a:off x="1915885" y="1613014"/>
            <a:ext cx="8360229" cy="4192415"/>
          </a:xfrm>
          <a:prstGeom prst="rect">
            <a:avLst/>
          </a:prstGeom>
          <a:noFill/>
          <a:ln>
            <a:noFill/>
          </a:ln>
        </p:spPr>
        <p:txBody>
          <a:bodyPr spcFirstLastPara="1" wrap="square" lIns="91425" tIns="45700" rIns="91425" bIns="45700" anchor="t" anchorCtr="0">
            <a:noAutofit/>
          </a:bodyPr>
          <a:lstStyle/>
          <a:p>
            <a:pPr marL="434340" algn="just">
              <a:lnSpc>
                <a:spcPct val="100000"/>
              </a:lnSpc>
              <a:spcBef>
                <a:spcPts val="1200"/>
              </a:spcBef>
              <a:buSzPts val="2160"/>
            </a:pPr>
            <a:r>
              <a:rPr lang="en-US" sz="2160" dirty="0">
                <a:latin typeface="Times New Roman" panose="02020603050405020304" pitchFamily="18" charset="0"/>
                <a:cs typeface="Times New Roman" panose="02020603050405020304" pitchFamily="18" charset="0"/>
              </a:rPr>
              <a:t>Android devices, being the most widely used mobile operating system, are prime targets for a variety of malware threats, including trojans, worms, botnets, ransomware, and zero-day attacks.</a:t>
            </a:r>
          </a:p>
          <a:p>
            <a:pPr marL="434340" algn="just">
              <a:lnSpc>
                <a:spcPct val="100000"/>
              </a:lnSpc>
              <a:spcBef>
                <a:spcPts val="1200"/>
              </a:spcBef>
              <a:buSzPts val="2160"/>
            </a:pPr>
            <a:r>
              <a:rPr lang="en-US" sz="2160" dirty="0">
                <a:latin typeface="Times New Roman" panose="02020603050405020304" pitchFamily="18" charset="0"/>
                <a:cs typeface="Times New Roman" panose="02020603050405020304" pitchFamily="18" charset="0"/>
              </a:rPr>
              <a:t>These threats exploit system vulnerabilities, bypass traditional security measures, and pose significant risks like data theft and financial loss.</a:t>
            </a:r>
          </a:p>
          <a:p>
            <a:pPr marL="434340" algn="just">
              <a:lnSpc>
                <a:spcPct val="100000"/>
              </a:lnSpc>
              <a:spcBef>
                <a:spcPts val="1200"/>
              </a:spcBef>
              <a:buSzPts val="2160"/>
            </a:pPr>
            <a:r>
              <a:rPr lang="en-US" sz="2160" dirty="0">
                <a:latin typeface="Times New Roman" panose="02020603050405020304" pitchFamily="18" charset="0"/>
                <a:cs typeface="Times New Roman" panose="02020603050405020304" pitchFamily="18" charset="0"/>
              </a:rPr>
              <a:t>Traditional security mechanisms often struggle to detect these evolving threats, which exploit system and app vulnerabilities. </a:t>
            </a:r>
          </a:p>
          <a:p>
            <a:pPr marL="434340" algn="just">
              <a:lnSpc>
                <a:spcPct val="100000"/>
              </a:lnSpc>
              <a:spcBef>
                <a:spcPts val="1200"/>
              </a:spcBef>
              <a:buSzPts val="2160"/>
            </a:pPr>
            <a:r>
              <a:rPr lang="en-US" sz="2160" dirty="0">
                <a:latin typeface="Times New Roman" panose="02020603050405020304" pitchFamily="18" charset="0"/>
                <a:cs typeface="Times New Roman" panose="02020603050405020304" pitchFamily="18" charset="0"/>
              </a:rPr>
              <a:t>As a result, there is a growing need for advanced detection methods, such as machine learning, to enhance protection against these dynamic and sophisticated malware risks.</a:t>
            </a:r>
            <a:endParaRPr sz="2160" dirty="0">
              <a:latin typeface="Times New Roman" panose="02020603050405020304" pitchFamily="18" charset="0"/>
              <a:cs typeface="Times New Roman" panose="02020603050405020304" pitchFamily="18" charset="0"/>
            </a:endParaRPr>
          </a:p>
          <a:p>
            <a:pPr marL="800100">
              <a:lnSpc>
                <a:spcPct val="100000"/>
              </a:lnSpc>
              <a:spcBef>
                <a:spcPts val="1200"/>
              </a:spcBef>
            </a:pPr>
            <a:endParaRPr sz="2160" dirty="0"/>
          </a:p>
        </p:txBody>
      </p:sp>
      <p:sp>
        <p:nvSpPr>
          <p:cNvPr id="115" name="Google Shape;115;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graphicFrame>
        <p:nvGraphicFramePr>
          <p:cNvPr id="120" name="Google Shape;120;p4"/>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3" imgW="1611796" imgH="1097280" progId="Paint.Picture">
                  <p:embed/>
                </p:oleObj>
              </mc:Choice>
              <mc:Fallback>
                <p:oleObj r:id="rId3" imgW="1611796" imgH="1097280" progId="Paint.Picture">
                  <p:embed/>
                  <p:pic>
                    <p:nvPicPr>
                      <p:cNvPr id="120" name="Google Shape;120;p4"/>
                      <p:cNvPicPr preferRelativeResize="0"/>
                      <p:nvPr/>
                    </p:nvPicPr>
                    <p:blipFill rotWithShape="1">
                      <a:blip r:embed="rId4">
                        <a:alphaModFix/>
                      </a:blip>
                      <a:srcRect/>
                      <a:stretch/>
                    </p:blipFill>
                    <p:spPr>
                      <a:xfrm>
                        <a:off x="10553065" y="19050"/>
                        <a:ext cx="1611796" cy="1097280"/>
                      </a:xfrm>
                      <a:prstGeom prst="rect">
                        <a:avLst/>
                      </a:prstGeom>
                      <a:noFill/>
                      <a:ln>
                        <a:noFill/>
                      </a:ln>
                    </p:spPr>
                  </p:pic>
                </p:oleObj>
              </mc:Fallback>
            </mc:AlternateContent>
          </a:graphicData>
        </a:graphic>
      </p:graphicFrame>
      <p:sp>
        <p:nvSpPr>
          <p:cNvPr id="121" name="Google Shape;121;p4"/>
          <p:cNvSpPr txBox="1"/>
          <p:nvPr/>
        </p:nvSpPr>
        <p:spPr>
          <a:xfrm>
            <a:off x="3799121" y="306705"/>
            <a:ext cx="4064000" cy="5219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7030A0"/>
                </a:solidFill>
                <a:latin typeface="Calibri"/>
                <a:ea typeface="Calibri"/>
                <a:cs typeface="Calibri"/>
                <a:sym typeface="Calibri"/>
              </a:rPr>
              <a:t>ICPERES 2024</a:t>
            </a:r>
            <a:endParaRPr sz="2800" b="1" dirty="0">
              <a:solidFill>
                <a:srgbClr val="7030A0"/>
              </a:solidFill>
              <a:latin typeface="Calibri"/>
              <a:ea typeface="Calibri"/>
              <a:cs typeface="Calibri"/>
              <a:sym typeface="Calibri"/>
            </a:endParaRPr>
          </a:p>
        </p:txBody>
      </p:sp>
      <p:graphicFrame>
        <p:nvGraphicFramePr>
          <p:cNvPr id="122" name="Google Shape;122;p4"/>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5" imgW="1109177" imgH="1188720" progId="Paint.Picture">
                  <p:embed/>
                </p:oleObj>
              </mc:Choice>
              <mc:Fallback>
                <p:oleObj r:id="rId5" imgW="1109177" imgH="1188720" progId="Paint.Picture">
                  <p:embed/>
                  <p:pic>
                    <p:nvPicPr>
                      <p:cNvPr id="122" name="Google Shape;122;p4"/>
                      <p:cNvPicPr preferRelativeResize="0"/>
                      <p:nvPr/>
                    </p:nvPicPr>
                    <p:blipFill rotWithShape="1">
                      <a:blip r:embed="rId6">
                        <a:alphaModFix/>
                      </a:blip>
                      <a:srcRect/>
                      <a:stretch/>
                    </p:blipFill>
                    <p:spPr>
                      <a:xfrm>
                        <a:off x="0" y="-11430"/>
                        <a:ext cx="1109177" cy="1188720"/>
                      </a:xfrm>
                      <a:prstGeom prst="rect">
                        <a:avLst/>
                      </a:prstGeom>
                      <a:noFill/>
                      <a:ln>
                        <a:noFill/>
                      </a:ln>
                    </p:spPr>
                  </p:pic>
                </p:oleObj>
              </mc:Fallback>
            </mc:AlternateContent>
          </a:graphicData>
        </a:graphic>
      </p:graphicFrame>
      <p:sp>
        <p:nvSpPr>
          <p:cNvPr id="123" name="Google Shape;123;p4"/>
          <p:cNvSpPr txBox="1">
            <a:spLocks noGrp="1"/>
          </p:cNvSpPr>
          <p:nvPr>
            <p:ph type="ctrTitle" idx="4294967295"/>
          </p:nvPr>
        </p:nvSpPr>
        <p:spPr>
          <a:xfrm>
            <a:off x="2951768" y="862503"/>
            <a:ext cx="6288464" cy="52197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4400"/>
              <a:buFont typeface="Calibri"/>
              <a:buNone/>
            </a:pPr>
            <a:r>
              <a:rPr lang="en-US" sz="3600" dirty="0">
                <a:latin typeface="Times New Roman" panose="02020603050405020304" pitchFamily="18" charset="0"/>
                <a:cs typeface="Times New Roman" panose="02020603050405020304" pitchFamily="18" charset="0"/>
              </a:rPr>
              <a:t>Importance of the Research</a:t>
            </a:r>
            <a:endParaRPr sz="3600" b="0" i="0" u="none" strike="noStrike" cap="none" dirty="0">
              <a:solidFill>
                <a:schemeClr val="dk1"/>
              </a:solidFill>
              <a:latin typeface="Times New Roman" panose="02020603050405020304" pitchFamily="18" charset="0"/>
              <a:cs typeface="Times New Roman" panose="02020603050405020304" pitchFamily="18" charset="0"/>
              <a:sym typeface="Calibri"/>
            </a:endParaRPr>
          </a:p>
        </p:txBody>
      </p:sp>
      <p:sp>
        <p:nvSpPr>
          <p:cNvPr id="124" name="Google Shape;124;p4"/>
          <p:cNvSpPr txBox="1">
            <a:spLocks noGrp="1"/>
          </p:cNvSpPr>
          <p:nvPr>
            <p:ph type="body" idx="1"/>
          </p:nvPr>
        </p:nvSpPr>
        <p:spPr>
          <a:xfrm>
            <a:off x="1109177" y="1581610"/>
            <a:ext cx="10515600" cy="4577603"/>
          </a:xfrm>
          <a:prstGeom prst="rect">
            <a:avLst/>
          </a:prstGeom>
          <a:noFill/>
          <a:ln>
            <a:noFill/>
          </a:ln>
        </p:spPr>
        <p:txBody>
          <a:bodyPr spcFirstLastPara="1" wrap="square" lIns="91425" tIns="45700" rIns="91425" bIns="45700" anchor="t" anchorCtr="0">
            <a:normAutofit fontScale="92500" lnSpcReduction="10000"/>
          </a:bodyPr>
          <a:lstStyle/>
          <a:p>
            <a:pPr marL="114300" indent="0" algn="just">
              <a:buNone/>
            </a:pPr>
            <a:r>
              <a:rPr lang="en-US" b="1" dirty="0">
                <a:latin typeface="Times New Roman" panose="02020603050405020304" pitchFamily="18" charset="0"/>
                <a:cs typeface="Times New Roman" panose="02020603050405020304" pitchFamily="18" charset="0"/>
              </a:rPr>
              <a:t>Growing Threat</a:t>
            </a:r>
            <a:r>
              <a:rPr lang="en-US" dirty="0">
                <a:latin typeface="Times New Roman" panose="02020603050405020304" pitchFamily="18" charset="0"/>
                <a:cs typeface="Times New Roman" panose="02020603050405020304" pitchFamily="18" charset="0"/>
              </a:rPr>
              <a:t>:</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Android malware exploits undiscovered vulnerabilities, impacting billions of users globally.</a:t>
            </a:r>
          </a:p>
          <a:p>
            <a:pPr marL="114300" indent="0" algn="just">
              <a:buNone/>
            </a:pPr>
            <a:r>
              <a:rPr lang="en-US" b="1" dirty="0">
                <a:latin typeface="Times New Roman" panose="02020603050405020304" pitchFamily="18" charset="0"/>
                <a:cs typeface="Times New Roman" panose="02020603050405020304" pitchFamily="18" charset="0"/>
              </a:rPr>
              <a:t>Limitations of Traditional Methods</a:t>
            </a:r>
            <a:r>
              <a:rPr lang="en-US" dirty="0">
                <a:latin typeface="Times New Roman" panose="02020603050405020304" pitchFamily="18" charset="0"/>
                <a:cs typeface="Times New Roman" panose="02020603050405020304" pitchFamily="18" charset="0"/>
              </a:rPr>
              <a:t>:</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Existing detection systems are insufficient to counter evolving malware threats.</a:t>
            </a:r>
          </a:p>
          <a:p>
            <a:pPr marL="114300" indent="0" algn="just">
              <a:buNone/>
            </a:pPr>
            <a:r>
              <a:rPr lang="en-US" b="1" dirty="0">
                <a:latin typeface="Times New Roman" panose="02020603050405020304" pitchFamily="18" charset="0"/>
                <a:cs typeface="Times New Roman" panose="02020603050405020304" pitchFamily="18" charset="0"/>
              </a:rPr>
              <a:t>Role of Machine Learning</a:t>
            </a:r>
            <a:r>
              <a:rPr lang="en-US" dirty="0">
                <a:latin typeface="Times New Roman" panose="02020603050405020304" pitchFamily="18" charset="0"/>
                <a:cs typeface="Times New Roman" panose="02020603050405020304" pitchFamily="18" charset="0"/>
              </a:rPr>
              <a:t>:</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Advanced machine learning techniques enable effective malware detection with high accuracy.</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Reduces false positives and negatives.</a:t>
            </a:r>
          </a:p>
          <a:p>
            <a:pPr marL="114300" indent="0" algn="just">
              <a:buNone/>
            </a:pPr>
            <a:r>
              <a:rPr lang="en-US" b="1" dirty="0">
                <a:latin typeface="Times New Roman" panose="02020603050405020304" pitchFamily="18" charset="0"/>
                <a:cs typeface="Times New Roman" panose="02020603050405020304" pitchFamily="18" charset="0"/>
              </a:rPr>
              <a:t>Real-Time and Scalable Solutions</a:t>
            </a:r>
            <a:r>
              <a:rPr lang="en-US" dirty="0">
                <a:latin typeface="Times New Roman" panose="02020603050405020304" pitchFamily="18" charset="0"/>
                <a:cs typeface="Times New Roman" panose="02020603050405020304" pitchFamily="18" charset="0"/>
              </a:rPr>
              <a:t>:</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Development of robust models for real-time detection.</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Enhances mobile security by addressing sophisticated malware challenges.</a:t>
            </a:r>
          </a:p>
          <a:p>
            <a:pPr marL="177800" indent="0">
              <a:spcBef>
                <a:spcPts val="0"/>
              </a:spcBef>
              <a:buSzPct val="100000"/>
              <a:buNone/>
            </a:pPr>
            <a:endParaRPr sz="2160" dirty="0"/>
          </a:p>
        </p:txBody>
      </p:sp>
      <p:sp>
        <p:nvSpPr>
          <p:cNvPr id="126" name="Google Shape;12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graphicFrame>
        <p:nvGraphicFramePr>
          <p:cNvPr id="131" name="Google Shape;131;p5"/>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3" imgW="1611796" imgH="1097280" progId="Paint.Picture">
                  <p:embed/>
                </p:oleObj>
              </mc:Choice>
              <mc:Fallback>
                <p:oleObj r:id="rId3" imgW="1611796" imgH="1097280" progId="Paint.Picture">
                  <p:embed/>
                  <p:pic>
                    <p:nvPicPr>
                      <p:cNvPr id="131" name="Google Shape;131;p5"/>
                      <p:cNvPicPr preferRelativeResize="0"/>
                      <p:nvPr/>
                    </p:nvPicPr>
                    <p:blipFill rotWithShape="1">
                      <a:blip r:embed="rId4">
                        <a:alphaModFix/>
                      </a:blip>
                      <a:srcRect/>
                      <a:stretch/>
                    </p:blipFill>
                    <p:spPr>
                      <a:xfrm>
                        <a:off x="10553065" y="19050"/>
                        <a:ext cx="1611796" cy="1097280"/>
                      </a:xfrm>
                      <a:prstGeom prst="rect">
                        <a:avLst/>
                      </a:prstGeom>
                      <a:noFill/>
                      <a:ln>
                        <a:noFill/>
                      </a:ln>
                    </p:spPr>
                  </p:pic>
                </p:oleObj>
              </mc:Fallback>
            </mc:AlternateContent>
          </a:graphicData>
        </a:graphic>
      </p:graphicFrame>
      <p:sp>
        <p:nvSpPr>
          <p:cNvPr id="132" name="Google Shape;132;p5"/>
          <p:cNvSpPr txBox="1"/>
          <p:nvPr/>
        </p:nvSpPr>
        <p:spPr>
          <a:xfrm>
            <a:off x="3903558" y="360974"/>
            <a:ext cx="4064000" cy="5219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7030A0"/>
                </a:solidFill>
                <a:latin typeface="Calibri"/>
                <a:ea typeface="Calibri"/>
                <a:cs typeface="Calibri"/>
                <a:sym typeface="Calibri"/>
              </a:rPr>
              <a:t>ICPERES 2024</a:t>
            </a:r>
            <a:endParaRPr sz="2800" b="1" dirty="0">
              <a:solidFill>
                <a:srgbClr val="7030A0"/>
              </a:solidFill>
              <a:latin typeface="Calibri"/>
              <a:ea typeface="Calibri"/>
              <a:cs typeface="Calibri"/>
              <a:sym typeface="Calibri"/>
            </a:endParaRPr>
          </a:p>
        </p:txBody>
      </p:sp>
      <p:graphicFrame>
        <p:nvGraphicFramePr>
          <p:cNvPr id="133" name="Google Shape;133;p5"/>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5" imgW="1109177" imgH="1188720" progId="Paint.Picture">
                  <p:embed/>
                </p:oleObj>
              </mc:Choice>
              <mc:Fallback>
                <p:oleObj r:id="rId5" imgW="1109177" imgH="1188720" progId="Paint.Picture">
                  <p:embed/>
                  <p:pic>
                    <p:nvPicPr>
                      <p:cNvPr id="133" name="Google Shape;133;p5"/>
                      <p:cNvPicPr preferRelativeResize="0"/>
                      <p:nvPr/>
                    </p:nvPicPr>
                    <p:blipFill rotWithShape="1">
                      <a:blip r:embed="rId6">
                        <a:alphaModFix/>
                      </a:blip>
                      <a:srcRect/>
                      <a:stretch/>
                    </p:blipFill>
                    <p:spPr>
                      <a:xfrm>
                        <a:off x="0" y="-11430"/>
                        <a:ext cx="1109177" cy="1188720"/>
                      </a:xfrm>
                      <a:prstGeom prst="rect">
                        <a:avLst/>
                      </a:prstGeom>
                      <a:noFill/>
                      <a:ln>
                        <a:noFill/>
                      </a:ln>
                    </p:spPr>
                  </p:pic>
                </p:oleObj>
              </mc:Fallback>
            </mc:AlternateContent>
          </a:graphicData>
        </a:graphic>
      </p:graphicFrame>
      <p:sp>
        <p:nvSpPr>
          <p:cNvPr id="134" name="Google Shape;134;p5"/>
          <p:cNvSpPr txBox="1">
            <a:spLocks noGrp="1"/>
          </p:cNvSpPr>
          <p:nvPr>
            <p:ph type="ctrTitle" idx="4294967295"/>
          </p:nvPr>
        </p:nvSpPr>
        <p:spPr>
          <a:xfrm>
            <a:off x="3977565" y="1273917"/>
            <a:ext cx="3727450" cy="52197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4400"/>
              <a:buFont typeface="Calibri"/>
              <a:buNone/>
            </a:pPr>
            <a:r>
              <a:rPr lang="en-US" sz="3600" b="0" i="0" u="none" strike="noStrike" cap="none" dirty="0">
                <a:solidFill>
                  <a:schemeClr val="dk1"/>
                </a:solidFill>
                <a:latin typeface="Times New Roman" panose="02020603050405020304" pitchFamily="18" charset="0"/>
                <a:cs typeface="Times New Roman" panose="02020603050405020304" pitchFamily="18" charset="0"/>
                <a:sym typeface="Calibri"/>
              </a:rPr>
              <a:t>Objectives</a:t>
            </a:r>
            <a:endParaRPr sz="3600" b="0" i="0" u="none" strike="noStrike" cap="none" dirty="0">
              <a:solidFill>
                <a:schemeClr val="dk1"/>
              </a:solidFill>
              <a:latin typeface="Times New Roman" panose="02020603050405020304" pitchFamily="18" charset="0"/>
              <a:cs typeface="Times New Roman" panose="02020603050405020304" pitchFamily="18" charset="0"/>
              <a:sym typeface="Calibri"/>
            </a:endParaRPr>
          </a:p>
        </p:txBody>
      </p:sp>
      <p:sp>
        <p:nvSpPr>
          <p:cNvPr id="135" name="Google Shape;135;p5"/>
          <p:cNvSpPr txBox="1">
            <a:spLocks noGrp="1"/>
          </p:cNvSpPr>
          <p:nvPr>
            <p:ph type="body" idx="1"/>
          </p:nvPr>
        </p:nvSpPr>
        <p:spPr>
          <a:xfrm>
            <a:off x="1591638" y="1991096"/>
            <a:ext cx="9008724" cy="4170045"/>
          </a:xfrm>
          <a:prstGeom prst="rect">
            <a:avLst/>
          </a:prstGeom>
          <a:noFill/>
          <a:ln>
            <a:noFill/>
          </a:ln>
        </p:spPr>
        <p:txBody>
          <a:bodyPr spcFirstLastPara="1" wrap="square" lIns="91425" tIns="45700" rIns="91425" bIns="45700" anchor="t" anchorCtr="0">
            <a:normAutofit fontScale="92500" lnSpcReduction="10000"/>
          </a:bodyPr>
          <a:lstStyle/>
          <a:p>
            <a:pPr marL="520700" algn="just">
              <a:spcBef>
                <a:spcPts val="0"/>
              </a:spcBef>
              <a:buSzPts val="2800"/>
              <a:buFont typeface="Courier New" panose="02070309020205020404" pitchFamily="49" charset="0"/>
              <a:buChar char="o"/>
            </a:pPr>
            <a:endParaRPr lang="en-US" sz="2160" b="1" dirty="0">
              <a:latin typeface="Times New Roman" panose="02020603050405020304" pitchFamily="18" charset="0"/>
              <a:cs typeface="Times New Roman" panose="02020603050405020304" pitchFamily="18" charset="0"/>
            </a:endParaRPr>
          </a:p>
          <a:p>
            <a:pPr marL="520700" algn="just">
              <a:spcBef>
                <a:spcPts val="0"/>
              </a:spcBef>
              <a:buSzPts val="2800"/>
              <a:buFont typeface="Courier New" panose="02070309020205020404" pitchFamily="49" charset="0"/>
              <a:buChar char="o"/>
            </a:pPr>
            <a:r>
              <a:rPr lang="en-US" sz="2160" b="1" dirty="0">
                <a:latin typeface="Times New Roman" panose="02020603050405020304" pitchFamily="18" charset="0"/>
                <a:cs typeface="Times New Roman" panose="02020603050405020304" pitchFamily="18" charset="0"/>
              </a:rPr>
              <a:t>To develop and implement advanced machine learning algorithms and heuristic techniques </a:t>
            </a:r>
            <a:r>
              <a:rPr lang="en-US" sz="2160" dirty="0">
                <a:latin typeface="Times New Roman" panose="02020603050405020304" pitchFamily="18" charset="0"/>
                <a:cs typeface="Times New Roman" panose="02020603050405020304" pitchFamily="18" charset="0"/>
              </a:rPr>
              <a:t>to enhance the accuracy and robustness of malware detection, ensuring the system effectively identifies and differentiates malicious software from legitimate applications.</a:t>
            </a:r>
          </a:p>
          <a:p>
            <a:pPr marL="177800" indent="0" algn="just">
              <a:spcBef>
                <a:spcPts val="0"/>
              </a:spcBef>
              <a:buSzPts val="2800"/>
              <a:buNone/>
            </a:pPr>
            <a:endParaRPr lang="en-US" sz="2160" dirty="0">
              <a:latin typeface="Times New Roman" panose="02020603050405020304" pitchFamily="18" charset="0"/>
              <a:cs typeface="Times New Roman" panose="02020603050405020304" pitchFamily="18" charset="0"/>
            </a:endParaRPr>
          </a:p>
          <a:p>
            <a:pPr marL="177800" indent="0" algn="just">
              <a:spcBef>
                <a:spcPts val="0"/>
              </a:spcBef>
              <a:buSzPts val="2800"/>
              <a:buNone/>
            </a:pPr>
            <a:endParaRPr lang="en-US" sz="2160" dirty="0">
              <a:latin typeface="Times New Roman" panose="02020603050405020304" pitchFamily="18" charset="0"/>
              <a:cs typeface="Times New Roman" panose="02020603050405020304" pitchFamily="18" charset="0"/>
            </a:endParaRPr>
          </a:p>
          <a:p>
            <a:pPr marL="520700" algn="just">
              <a:spcBef>
                <a:spcPts val="0"/>
              </a:spcBef>
              <a:buSzPts val="2800"/>
              <a:buFont typeface="Courier New" panose="02070309020205020404" pitchFamily="49" charset="0"/>
              <a:buChar char="o"/>
            </a:pPr>
            <a:r>
              <a:rPr lang="en-US" sz="2160" b="1" dirty="0">
                <a:latin typeface="Times New Roman" panose="02020603050405020304" pitchFamily="18" charset="0"/>
                <a:cs typeface="Times New Roman" panose="02020603050405020304" pitchFamily="18" charset="0"/>
              </a:rPr>
              <a:t>To establish a dynamic and adaptive malware detection system </a:t>
            </a:r>
            <a:r>
              <a:rPr lang="en-US" sz="2160" dirty="0">
                <a:latin typeface="Times New Roman" panose="02020603050405020304" pitchFamily="18" charset="0"/>
                <a:cs typeface="Times New Roman" panose="02020603050405020304" pitchFamily="18" charset="0"/>
              </a:rPr>
              <a:t>capable of promptly recognizing new and evolving threats by leveraging machine learning models that continuously learn from emerging threat patterns, ensuring up-to-date and proactive protection against Android malware.</a:t>
            </a:r>
          </a:p>
          <a:p>
            <a:pPr marL="228600" lvl="0" indent="-50800" algn="l" rtl="0">
              <a:lnSpc>
                <a:spcPct val="90000"/>
              </a:lnSpc>
              <a:spcBef>
                <a:spcPts val="0"/>
              </a:spcBef>
              <a:spcAft>
                <a:spcPts val="0"/>
              </a:spcAft>
              <a:buClr>
                <a:schemeClr val="dk1"/>
              </a:buClr>
              <a:buSzPts val="2800"/>
              <a:buNone/>
            </a:pPr>
            <a:endParaRPr lang="en-US" sz="2160" dirty="0"/>
          </a:p>
          <a:p>
            <a:pPr marL="228600" lvl="0" indent="-50800" algn="l" rtl="0">
              <a:lnSpc>
                <a:spcPct val="90000"/>
              </a:lnSpc>
              <a:spcBef>
                <a:spcPts val="0"/>
              </a:spcBef>
              <a:spcAft>
                <a:spcPts val="0"/>
              </a:spcAft>
              <a:buClr>
                <a:schemeClr val="dk1"/>
              </a:buClr>
              <a:buSzPts val="2800"/>
              <a:buNone/>
            </a:pPr>
            <a:endParaRPr lang="en-US" sz="2160" dirty="0"/>
          </a:p>
          <a:p>
            <a:pPr marL="228600" lvl="0" indent="-50800" algn="l" rtl="0">
              <a:lnSpc>
                <a:spcPct val="90000"/>
              </a:lnSpc>
              <a:spcBef>
                <a:spcPts val="0"/>
              </a:spcBef>
              <a:spcAft>
                <a:spcPts val="0"/>
              </a:spcAft>
              <a:buClr>
                <a:schemeClr val="dk1"/>
              </a:buClr>
              <a:buSzPts val="2800"/>
              <a:buNone/>
            </a:pPr>
            <a:endParaRPr lang="en-US" sz="2160" dirty="0"/>
          </a:p>
          <a:p>
            <a:pPr marL="228600" lvl="0" indent="-50800" algn="l" rtl="0">
              <a:lnSpc>
                <a:spcPct val="90000"/>
              </a:lnSpc>
              <a:spcBef>
                <a:spcPts val="0"/>
              </a:spcBef>
              <a:spcAft>
                <a:spcPts val="0"/>
              </a:spcAft>
              <a:buClr>
                <a:schemeClr val="dk1"/>
              </a:buClr>
              <a:buSzPts val="2800"/>
              <a:buNone/>
            </a:pPr>
            <a:r>
              <a:rPr lang="en-US" sz="2160" dirty="0"/>
              <a:t> </a:t>
            </a:r>
            <a:endParaRPr sz="2160" dirty="0"/>
          </a:p>
        </p:txBody>
      </p:sp>
      <p:sp>
        <p:nvSpPr>
          <p:cNvPr id="137" name="Google Shape;137;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44F448AC-362A-2A1B-F7C5-2C83C83EBAE8}"/>
            </a:ext>
          </a:extLst>
        </p:cNvPr>
        <p:cNvGrpSpPr/>
        <p:nvPr/>
      </p:nvGrpSpPr>
      <p:grpSpPr>
        <a:xfrm>
          <a:off x="0" y="0"/>
          <a:ext cx="0" cy="0"/>
          <a:chOff x="0" y="0"/>
          <a:chExt cx="0" cy="0"/>
        </a:xfrm>
      </p:grpSpPr>
      <p:graphicFrame>
        <p:nvGraphicFramePr>
          <p:cNvPr id="142" name="Google Shape;142;p6">
            <a:extLst>
              <a:ext uri="{FF2B5EF4-FFF2-40B4-BE49-F238E27FC236}">
                <a16:creationId xmlns:a16="http://schemas.microsoft.com/office/drawing/2014/main" id="{0B8156FB-8E3A-CEBC-C75C-AF517D39FEF4}"/>
              </a:ext>
            </a:extLst>
          </p:cNvPr>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3" imgW="1611796" imgH="1097280" progId="Paint.Picture">
                  <p:embed/>
                </p:oleObj>
              </mc:Choice>
              <mc:Fallback>
                <p:oleObj r:id="rId3" imgW="1611796" imgH="1097280" progId="Paint.Picture">
                  <p:embed/>
                  <p:pic>
                    <p:nvPicPr>
                      <p:cNvPr id="142" name="Google Shape;142;p6">
                        <a:extLst>
                          <a:ext uri="{FF2B5EF4-FFF2-40B4-BE49-F238E27FC236}">
                            <a16:creationId xmlns:a16="http://schemas.microsoft.com/office/drawing/2014/main" id="{0B8156FB-8E3A-CEBC-C75C-AF517D39FEF4}"/>
                          </a:ext>
                        </a:extLst>
                      </p:cNvPr>
                      <p:cNvPicPr preferRelativeResize="0"/>
                      <p:nvPr/>
                    </p:nvPicPr>
                    <p:blipFill rotWithShape="1">
                      <a:blip r:embed="rId4">
                        <a:alphaModFix/>
                      </a:blip>
                      <a:srcRect/>
                      <a:stretch/>
                    </p:blipFill>
                    <p:spPr>
                      <a:xfrm>
                        <a:off x="10553065" y="19050"/>
                        <a:ext cx="1611796" cy="1097280"/>
                      </a:xfrm>
                      <a:prstGeom prst="rect">
                        <a:avLst/>
                      </a:prstGeom>
                      <a:noFill/>
                      <a:ln>
                        <a:noFill/>
                      </a:ln>
                    </p:spPr>
                  </p:pic>
                </p:oleObj>
              </mc:Fallback>
            </mc:AlternateContent>
          </a:graphicData>
        </a:graphic>
      </p:graphicFrame>
      <p:sp>
        <p:nvSpPr>
          <p:cNvPr id="143" name="Google Shape;143;p6">
            <a:extLst>
              <a:ext uri="{FF2B5EF4-FFF2-40B4-BE49-F238E27FC236}">
                <a16:creationId xmlns:a16="http://schemas.microsoft.com/office/drawing/2014/main" id="{38DA5CC2-0A04-E337-97FA-78E7AA9262F7}"/>
              </a:ext>
            </a:extLst>
          </p:cNvPr>
          <p:cNvSpPr txBox="1"/>
          <p:nvPr/>
        </p:nvSpPr>
        <p:spPr>
          <a:xfrm>
            <a:off x="3799121" y="306705"/>
            <a:ext cx="4064000" cy="5219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7030A0"/>
                </a:solidFill>
                <a:latin typeface="Calibri"/>
                <a:ea typeface="Calibri"/>
                <a:cs typeface="Calibri"/>
                <a:sym typeface="Calibri"/>
              </a:rPr>
              <a:t>ICPERES 2024</a:t>
            </a:r>
            <a:endParaRPr sz="2800" b="1" dirty="0">
              <a:solidFill>
                <a:srgbClr val="7030A0"/>
              </a:solidFill>
              <a:latin typeface="Calibri"/>
              <a:ea typeface="Calibri"/>
              <a:cs typeface="Calibri"/>
              <a:sym typeface="Calibri"/>
            </a:endParaRPr>
          </a:p>
        </p:txBody>
      </p:sp>
      <p:graphicFrame>
        <p:nvGraphicFramePr>
          <p:cNvPr id="144" name="Google Shape;144;p6">
            <a:extLst>
              <a:ext uri="{FF2B5EF4-FFF2-40B4-BE49-F238E27FC236}">
                <a16:creationId xmlns:a16="http://schemas.microsoft.com/office/drawing/2014/main" id="{3F976DF5-6A9A-A4AD-97B9-2B29C5E7363C}"/>
              </a:ext>
            </a:extLst>
          </p:cNvPr>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5" imgW="1109177" imgH="1188720" progId="Paint.Picture">
                  <p:embed/>
                </p:oleObj>
              </mc:Choice>
              <mc:Fallback>
                <p:oleObj r:id="rId5" imgW="1109177" imgH="1188720" progId="Paint.Picture">
                  <p:embed/>
                  <p:pic>
                    <p:nvPicPr>
                      <p:cNvPr id="144" name="Google Shape;144;p6">
                        <a:extLst>
                          <a:ext uri="{FF2B5EF4-FFF2-40B4-BE49-F238E27FC236}">
                            <a16:creationId xmlns:a16="http://schemas.microsoft.com/office/drawing/2014/main" id="{3F976DF5-6A9A-A4AD-97B9-2B29C5E7363C}"/>
                          </a:ext>
                        </a:extLst>
                      </p:cNvPr>
                      <p:cNvPicPr preferRelativeResize="0"/>
                      <p:nvPr/>
                    </p:nvPicPr>
                    <p:blipFill rotWithShape="1">
                      <a:blip r:embed="rId6">
                        <a:alphaModFix/>
                      </a:blip>
                      <a:srcRect/>
                      <a:stretch/>
                    </p:blipFill>
                    <p:spPr>
                      <a:xfrm>
                        <a:off x="0" y="-11430"/>
                        <a:ext cx="1109177" cy="1188720"/>
                      </a:xfrm>
                      <a:prstGeom prst="rect">
                        <a:avLst/>
                      </a:prstGeom>
                      <a:noFill/>
                      <a:ln>
                        <a:noFill/>
                      </a:ln>
                    </p:spPr>
                  </p:pic>
                </p:oleObj>
              </mc:Fallback>
            </mc:AlternateContent>
          </a:graphicData>
        </a:graphic>
      </p:graphicFrame>
      <p:sp>
        <p:nvSpPr>
          <p:cNvPr id="145" name="Google Shape;145;p6">
            <a:extLst>
              <a:ext uri="{FF2B5EF4-FFF2-40B4-BE49-F238E27FC236}">
                <a16:creationId xmlns:a16="http://schemas.microsoft.com/office/drawing/2014/main" id="{292C8AE8-27D1-F968-329B-83952F99246D}"/>
              </a:ext>
            </a:extLst>
          </p:cNvPr>
          <p:cNvSpPr txBox="1">
            <a:spLocks noGrp="1"/>
          </p:cNvSpPr>
          <p:nvPr>
            <p:ph type="ctrTitle" idx="4294967295"/>
          </p:nvPr>
        </p:nvSpPr>
        <p:spPr>
          <a:xfrm>
            <a:off x="1888732" y="1298141"/>
            <a:ext cx="8414535" cy="462915"/>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4400"/>
              <a:buFont typeface="Calibri"/>
              <a:buNone/>
            </a:pPr>
            <a:r>
              <a:rPr lang="en-US" sz="3200" b="1" i="0" u="none" strike="noStrike" cap="none" dirty="0">
                <a:solidFill>
                  <a:schemeClr val="dk1"/>
                </a:solidFill>
                <a:latin typeface="Times New Roman" panose="02020603050405020304" pitchFamily="18" charset="0"/>
                <a:cs typeface="Times New Roman" panose="02020603050405020304" pitchFamily="18" charset="0"/>
                <a:sym typeface="Calibri"/>
              </a:rPr>
              <a:t>Proposed </a:t>
            </a:r>
            <a:r>
              <a:rPr lang="en-IN" sz="3200" b="1" dirty="0">
                <a:latin typeface="Times New Roman" panose="02020603050405020304" pitchFamily="18" charset="0"/>
                <a:cs typeface="Times New Roman" panose="02020603050405020304" pitchFamily="18" charset="0"/>
              </a:rPr>
              <a:t>Android Malware Detection System </a:t>
            </a:r>
            <a:endParaRPr sz="3200" b="1" dirty="0">
              <a:latin typeface="Times New Roman" panose="02020603050405020304" pitchFamily="18" charset="0"/>
              <a:cs typeface="Times New Roman" panose="02020603050405020304" pitchFamily="18" charset="0"/>
            </a:endParaRPr>
          </a:p>
        </p:txBody>
      </p:sp>
      <p:sp>
        <p:nvSpPr>
          <p:cNvPr id="148" name="Google Shape;148;p6">
            <a:extLst>
              <a:ext uri="{FF2B5EF4-FFF2-40B4-BE49-F238E27FC236}">
                <a16:creationId xmlns:a16="http://schemas.microsoft.com/office/drawing/2014/main" id="{2544EEB0-A00D-5F4B-0902-A39D0FCC721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2" name="Text Placeholder 1">
            <a:extLst>
              <a:ext uri="{FF2B5EF4-FFF2-40B4-BE49-F238E27FC236}">
                <a16:creationId xmlns:a16="http://schemas.microsoft.com/office/drawing/2014/main" id="{06CA3788-7E67-D513-52EA-71433AF4325B}"/>
              </a:ext>
            </a:extLst>
          </p:cNvPr>
          <p:cNvSpPr>
            <a:spLocks noGrp="1" noChangeArrowheads="1"/>
          </p:cNvSpPr>
          <p:nvPr>
            <p:ph type="body" idx="1"/>
          </p:nvPr>
        </p:nvSpPr>
        <p:spPr bwMode="auto">
          <a:xfrm>
            <a:off x="1551398" y="2416056"/>
            <a:ext cx="9606337" cy="3354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eaLnBrk="0" fontAlgn="base" hangingPunct="0">
              <a:lnSpc>
                <a:spcPct val="100000"/>
              </a:lnSpc>
              <a:spcBef>
                <a:spcPct val="0"/>
              </a:spcBef>
              <a:spcAft>
                <a:spcPct val="0"/>
              </a:spcAft>
              <a:buClrTx/>
              <a:buSzTx/>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Ensemble Learning Approach</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just" eaLnBrk="0" fontAlgn="base" hangingPunct="0">
              <a:lnSpc>
                <a:spcPct val="10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enhances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Android malware detection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leveraging advanced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ensemble learning techniques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improve accuracy and robustness.</a:t>
            </a:r>
          </a:p>
          <a:p>
            <a:pPr marL="285750" indent="-285750" algn="just" eaLnBrk="0" fontAlgn="base" hangingPunct="0">
              <a:lnSpc>
                <a:spcPct val="100000"/>
              </a:lnSpc>
              <a:spcBef>
                <a:spcPct val="0"/>
              </a:spcBef>
              <a:spcAft>
                <a:spcPct val="0"/>
              </a:spcAft>
              <a:buClrTx/>
              <a:buSzTx/>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Selection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just" eaLnBrk="0" fontAlgn="base" hangingPunct="0">
              <a:lnSpc>
                <a:spcPct val="100000"/>
              </a:lnSpc>
              <a:spcBef>
                <a:spcPct val="0"/>
              </a:spcBef>
              <a:spcAft>
                <a:spcPct val="0"/>
              </a:spcAft>
              <a:buClrTx/>
              <a:buSzTx/>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selection methods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employed to identify the most discriminative features.</a:t>
            </a:r>
          </a:p>
          <a:p>
            <a:pPr marL="742950" lvl="1" indent="-285750" algn="just" eaLnBrk="0" fontAlgn="base" hangingPunct="0">
              <a:lnSpc>
                <a:spcPct val="10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process reduces dimensionality and improves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efficiency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the model.</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93865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5EDC1653-04BA-4510-B26F-E53E7E855BB4}"/>
            </a:ext>
          </a:extLst>
        </p:cNvPr>
        <p:cNvGrpSpPr/>
        <p:nvPr/>
      </p:nvGrpSpPr>
      <p:grpSpPr>
        <a:xfrm>
          <a:off x="0" y="0"/>
          <a:ext cx="0" cy="0"/>
          <a:chOff x="0" y="0"/>
          <a:chExt cx="0" cy="0"/>
        </a:xfrm>
      </p:grpSpPr>
      <p:graphicFrame>
        <p:nvGraphicFramePr>
          <p:cNvPr id="142" name="Google Shape;142;p6">
            <a:extLst>
              <a:ext uri="{FF2B5EF4-FFF2-40B4-BE49-F238E27FC236}">
                <a16:creationId xmlns:a16="http://schemas.microsoft.com/office/drawing/2014/main" id="{EC7BB31C-D01A-F518-737B-BF944FEF3DFC}"/>
              </a:ext>
            </a:extLst>
          </p:cNvPr>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3" imgW="1611796" imgH="1097280" progId="Paint.Picture">
                  <p:embed/>
                </p:oleObj>
              </mc:Choice>
              <mc:Fallback>
                <p:oleObj r:id="rId3" imgW="1611796" imgH="1097280" progId="Paint.Picture">
                  <p:embed/>
                  <p:pic>
                    <p:nvPicPr>
                      <p:cNvPr id="142" name="Google Shape;142;p6">
                        <a:extLst>
                          <a:ext uri="{FF2B5EF4-FFF2-40B4-BE49-F238E27FC236}">
                            <a16:creationId xmlns:a16="http://schemas.microsoft.com/office/drawing/2014/main" id="{EC7BB31C-D01A-F518-737B-BF944FEF3DFC}"/>
                          </a:ext>
                        </a:extLst>
                      </p:cNvPr>
                      <p:cNvPicPr preferRelativeResize="0"/>
                      <p:nvPr/>
                    </p:nvPicPr>
                    <p:blipFill rotWithShape="1">
                      <a:blip r:embed="rId4">
                        <a:alphaModFix/>
                      </a:blip>
                      <a:srcRect/>
                      <a:stretch/>
                    </p:blipFill>
                    <p:spPr>
                      <a:xfrm>
                        <a:off x="10553065" y="19050"/>
                        <a:ext cx="1611796" cy="1097280"/>
                      </a:xfrm>
                      <a:prstGeom prst="rect">
                        <a:avLst/>
                      </a:prstGeom>
                      <a:noFill/>
                      <a:ln>
                        <a:noFill/>
                      </a:ln>
                    </p:spPr>
                  </p:pic>
                </p:oleObj>
              </mc:Fallback>
            </mc:AlternateContent>
          </a:graphicData>
        </a:graphic>
      </p:graphicFrame>
      <p:sp>
        <p:nvSpPr>
          <p:cNvPr id="143" name="Google Shape;143;p6">
            <a:extLst>
              <a:ext uri="{FF2B5EF4-FFF2-40B4-BE49-F238E27FC236}">
                <a16:creationId xmlns:a16="http://schemas.microsoft.com/office/drawing/2014/main" id="{FD1B313A-0BD7-1CB0-86D9-28272416B7FF}"/>
              </a:ext>
            </a:extLst>
          </p:cNvPr>
          <p:cNvSpPr txBox="1"/>
          <p:nvPr/>
        </p:nvSpPr>
        <p:spPr>
          <a:xfrm>
            <a:off x="3799121" y="253791"/>
            <a:ext cx="4064000" cy="5219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7030A0"/>
                </a:solidFill>
                <a:latin typeface="Calibri"/>
                <a:ea typeface="Calibri"/>
                <a:cs typeface="Calibri"/>
                <a:sym typeface="Calibri"/>
              </a:rPr>
              <a:t>ICPERES 2024</a:t>
            </a:r>
            <a:endParaRPr sz="2800" b="1" dirty="0">
              <a:solidFill>
                <a:srgbClr val="7030A0"/>
              </a:solidFill>
              <a:latin typeface="Calibri"/>
              <a:ea typeface="Calibri"/>
              <a:cs typeface="Calibri"/>
              <a:sym typeface="Calibri"/>
            </a:endParaRPr>
          </a:p>
        </p:txBody>
      </p:sp>
      <p:graphicFrame>
        <p:nvGraphicFramePr>
          <p:cNvPr id="144" name="Google Shape;144;p6">
            <a:extLst>
              <a:ext uri="{FF2B5EF4-FFF2-40B4-BE49-F238E27FC236}">
                <a16:creationId xmlns:a16="http://schemas.microsoft.com/office/drawing/2014/main" id="{90FD1440-5B0F-E7D7-F269-E00D46EDB575}"/>
              </a:ext>
            </a:extLst>
          </p:cNvPr>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5" imgW="1109177" imgH="1188720" progId="Paint.Picture">
                  <p:embed/>
                </p:oleObj>
              </mc:Choice>
              <mc:Fallback>
                <p:oleObj r:id="rId5" imgW="1109177" imgH="1188720" progId="Paint.Picture">
                  <p:embed/>
                  <p:pic>
                    <p:nvPicPr>
                      <p:cNvPr id="144" name="Google Shape;144;p6">
                        <a:extLst>
                          <a:ext uri="{FF2B5EF4-FFF2-40B4-BE49-F238E27FC236}">
                            <a16:creationId xmlns:a16="http://schemas.microsoft.com/office/drawing/2014/main" id="{90FD1440-5B0F-E7D7-F269-E00D46EDB575}"/>
                          </a:ext>
                        </a:extLst>
                      </p:cNvPr>
                      <p:cNvPicPr preferRelativeResize="0"/>
                      <p:nvPr/>
                    </p:nvPicPr>
                    <p:blipFill rotWithShape="1">
                      <a:blip r:embed="rId6">
                        <a:alphaModFix/>
                      </a:blip>
                      <a:srcRect/>
                      <a:stretch/>
                    </p:blipFill>
                    <p:spPr>
                      <a:xfrm>
                        <a:off x="0" y="-11430"/>
                        <a:ext cx="1109177" cy="1188720"/>
                      </a:xfrm>
                      <a:prstGeom prst="rect">
                        <a:avLst/>
                      </a:prstGeom>
                      <a:noFill/>
                      <a:ln>
                        <a:noFill/>
                      </a:ln>
                    </p:spPr>
                  </p:pic>
                </p:oleObj>
              </mc:Fallback>
            </mc:AlternateContent>
          </a:graphicData>
        </a:graphic>
      </p:graphicFrame>
      <p:sp>
        <p:nvSpPr>
          <p:cNvPr id="145" name="Google Shape;145;p6">
            <a:extLst>
              <a:ext uri="{FF2B5EF4-FFF2-40B4-BE49-F238E27FC236}">
                <a16:creationId xmlns:a16="http://schemas.microsoft.com/office/drawing/2014/main" id="{4CA9CFCF-21F3-4BC6-9E0E-6176C3F8E5D2}"/>
              </a:ext>
            </a:extLst>
          </p:cNvPr>
          <p:cNvSpPr txBox="1">
            <a:spLocks noGrp="1"/>
          </p:cNvSpPr>
          <p:nvPr>
            <p:ph type="ctrTitle" idx="4294967295"/>
          </p:nvPr>
        </p:nvSpPr>
        <p:spPr>
          <a:xfrm>
            <a:off x="1888732" y="1381541"/>
            <a:ext cx="8414535" cy="462915"/>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4400"/>
              <a:buFont typeface="Calibri"/>
              <a:buNone/>
            </a:pPr>
            <a:r>
              <a:rPr lang="en-US" sz="3200" b="1" i="0" u="none" strike="noStrike" cap="none" dirty="0">
                <a:solidFill>
                  <a:schemeClr val="dk1"/>
                </a:solidFill>
                <a:latin typeface="Times New Roman" panose="02020603050405020304" pitchFamily="18" charset="0"/>
                <a:cs typeface="Times New Roman" panose="02020603050405020304" pitchFamily="18" charset="0"/>
                <a:sym typeface="Calibri"/>
              </a:rPr>
              <a:t>Proposed </a:t>
            </a:r>
            <a:r>
              <a:rPr lang="en-IN" sz="3200" b="1" dirty="0">
                <a:latin typeface="Times New Roman" panose="02020603050405020304" pitchFamily="18" charset="0"/>
                <a:cs typeface="Times New Roman" panose="02020603050405020304" pitchFamily="18" charset="0"/>
              </a:rPr>
              <a:t>Android Malware Detection System </a:t>
            </a:r>
            <a:br>
              <a:rPr lang="en-IN" sz="3600" b="1" dirty="0">
                <a:latin typeface="Times New Roman" panose="02020603050405020304" pitchFamily="18" charset="0"/>
                <a:cs typeface="Times New Roman" panose="02020603050405020304" pitchFamily="18" charset="0"/>
              </a:rPr>
            </a:br>
            <a:endParaRPr sz="3600" b="1" dirty="0">
              <a:latin typeface="Times New Roman" panose="02020603050405020304" pitchFamily="18" charset="0"/>
              <a:cs typeface="Times New Roman" panose="02020603050405020304" pitchFamily="18" charset="0"/>
            </a:endParaRPr>
          </a:p>
        </p:txBody>
      </p:sp>
      <p:sp>
        <p:nvSpPr>
          <p:cNvPr id="148" name="Google Shape;148;p6">
            <a:extLst>
              <a:ext uri="{FF2B5EF4-FFF2-40B4-BE49-F238E27FC236}">
                <a16:creationId xmlns:a16="http://schemas.microsoft.com/office/drawing/2014/main" id="{B237B0E9-42BC-FF2A-3AF4-A716DEBBEED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2" name="Text Placeholder 1">
            <a:extLst>
              <a:ext uri="{FF2B5EF4-FFF2-40B4-BE49-F238E27FC236}">
                <a16:creationId xmlns:a16="http://schemas.microsoft.com/office/drawing/2014/main" id="{A6F6EA04-2BF7-AC7D-F9E4-99CF8574399C}"/>
              </a:ext>
            </a:extLst>
          </p:cNvPr>
          <p:cNvSpPr>
            <a:spLocks noGrp="1" noChangeArrowheads="1"/>
          </p:cNvSpPr>
          <p:nvPr>
            <p:ph type="body" idx="1"/>
          </p:nvPr>
        </p:nvSpPr>
        <p:spPr bwMode="auto">
          <a:xfrm>
            <a:off x="400692" y="1997105"/>
            <a:ext cx="11548153"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eaLnBrk="0" fontAlgn="base" hangingPunct="0">
              <a:lnSpc>
                <a:spcPct val="100000"/>
              </a:lnSpc>
              <a:spcBef>
                <a:spcPct val="0"/>
              </a:spcBef>
              <a:spcAft>
                <a:spcPct val="0"/>
              </a:spcAft>
              <a:buClrTx/>
              <a:buSzTx/>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Hybrid Ensemble Strategy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novel hybrid approach combines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bagging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stacking techniques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increase model stability and accuracy.</a:t>
            </a:r>
          </a:p>
          <a:p>
            <a:pPr marL="0" indent="0" algn="just" eaLnBrk="0" fontAlgn="base" hangingPunct="0">
              <a:lnSpc>
                <a:spcPct val="100000"/>
              </a:lnSpc>
              <a:spcBef>
                <a:spcPct val="0"/>
              </a:spcBef>
              <a:spcAft>
                <a:spcPct val="0"/>
              </a:spcAft>
              <a:buClrTx/>
              <a:buSzTx/>
              <a:buNone/>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200150" lvl="2" indent="-285750" algn="just" eaLnBrk="0" fontAlgn="base" hangingPunct="0">
              <a:lnSpc>
                <a:spcPct val="100000"/>
              </a:lnSpc>
              <a:spcBef>
                <a:spcPct val="0"/>
              </a:spcBef>
              <a:spcAft>
                <a:spcPct val="0"/>
              </a:spcAft>
              <a:buClrTx/>
              <a:buSzTx/>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Bagging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Trains multiple base learners to reduce variance and improve generalization.</a:t>
            </a:r>
          </a:p>
          <a:p>
            <a:pPr marL="1200150" lvl="2" indent="-285750" algn="just" eaLnBrk="0" fontAlgn="base" hangingPunct="0">
              <a:lnSpc>
                <a:spcPct val="100000"/>
              </a:lnSpc>
              <a:spcBef>
                <a:spcPct val="0"/>
              </a:spcBef>
              <a:spcAft>
                <a:spcPct val="0"/>
              </a:spcAft>
              <a:buClrTx/>
              <a:buSzTx/>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Stacking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Combines the outputs of base learners into a powerful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meta-learner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further refine predictions.</a:t>
            </a:r>
          </a:p>
          <a:p>
            <a:pPr marL="1200150" lvl="2" indent="-285750" algn="just" eaLnBrk="0" fontAlgn="base" hangingPunct="0">
              <a:lnSpc>
                <a:spcPct val="100000"/>
              </a:lnSpc>
              <a:spcBef>
                <a:spcPct val="0"/>
              </a:spcBef>
              <a:spcAft>
                <a:spcPct val="0"/>
              </a:spcAft>
              <a:buClrTx/>
              <a:buSzTx/>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eaLnBrk="0" fontAlgn="base" hangingPunct="0">
              <a:lnSpc>
                <a:spcPct val="100000"/>
              </a:lnSpc>
              <a:spcBef>
                <a:spcPct val="0"/>
              </a:spcBef>
              <a:spcAft>
                <a:spcPct val="0"/>
              </a:spcAft>
              <a:buClrTx/>
              <a:buSzTx/>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Complementary Strengths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742950" lvl="1" indent="-285750" algn="just" eaLnBrk="0" fontAlgn="base" hangingPunct="0">
              <a:lnSpc>
                <a:spcPct val="10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integrating the complementary strengths of bagging and stacking, the proposed system creates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robust and accurate meta-model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lvl="1" indent="0" algn="just" eaLnBrk="0" fontAlgn="base" hangingPunct="0">
              <a:lnSpc>
                <a:spcPct val="100000"/>
              </a:lnSpc>
              <a:spcBef>
                <a:spcPct val="0"/>
              </a:spcBef>
              <a:spcAft>
                <a:spcPct val="0"/>
              </a:spcAft>
              <a:buClrTx/>
              <a:buSzTx/>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eaLnBrk="0" fontAlgn="base" hangingPunct="0">
              <a:lnSpc>
                <a:spcPct val="10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hybrid model effectively detects and distinguishes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Android malware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from legitimate applications.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84175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graphicFrame>
        <p:nvGraphicFramePr>
          <p:cNvPr id="153" name="Google Shape;153;p7"/>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3" imgW="1611796" imgH="1097280" progId="Paint.Picture">
                  <p:embed/>
                </p:oleObj>
              </mc:Choice>
              <mc:Fallback>
                <p:oleObj r:id="rId3" imgW="1611796" imgH="1097280" progId="Paint.Picture">
                  <p:embed/>
                  <p:pic>
                    <p:nvPicPr>
                      <p:cNvPr id="153" name="Google Shape;153;p7"/>
                      <p:cNvPicPr preferRelativeResize="0"/>
                      <p:nvPr/>
                    </p:nvPicPr>
                    <p:blipFill rotWithShape="1">
                      <a:blip r:embed="rId4">
                        <a:alphaModFix/>
                      </a:blip>
                      <a:srcRect/>
                      <a:stretch/>
                    </p:blipFill>
                    <p:spPr>
                      <a:xfrm>
                        <a:off x="10553065" y="19050"/>
                        <a:ext cx="1611796" cy="1097280"/>
                      </a:xfrm>
                      <a:prstGeom prst="rect">
                        <a:avLst/>
                      </a:prstGeom>
                      <a:noFill/>
                      <a:ln>
                        <a:noFill/>
                      </a:ln>
                    </p:spPr>
                  </p:pic>
                </p:oleObj>
              </mc:Fallback>
            </mc:AlternateContent>
          </a:graphicData>
        </a:graphic>
      </p:graphicFrame>
      <p:sp>
        <p:nvSpPr>
          <p:cNvPr id="154" name="Google Shape;154;p7"/>
          <p:cNvSpPr txBox="1"/>
          <p:nvPr/>
        </p:nvSpPr>
        <p:spPr>
          <a:xfrm>
            <a:off x="4565650" y="229870"/>
            <a:ext cx="4064000" cy="5219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7030A0"/>
                </a:solidFill>
                <a:latin typeface="Calibri"/>
                <a:ea typeface="Calibri"/>
                <a:cs typeface="Calibri"/>
                <a:sym typeface="Calibri"/>
              </a:rPr>
              <a:t>ICPERES 2024</a:t>
            </a:r>
            <a:endParaRPr sz="2800" b="1">
              <a:solidFill>
                <a:srgbClr val="7030A0"/>
              </a:solidFill>
              <a:latin typeface="Calibri"/>
              <a:ea typeface="Calibri"/>
              <a:cs typeface="Calibri"/>
              <a:sym typeface="Calibri"/>
            </a:endParaRPr>
          </a:p>
        </p:txBody>
      </p:sp>
      <p:graphicFrame>
        <p:nvGraphicFramePr>
          <p:cNvPr id="155" name="Google Shape;155;p7"/>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5" imgW="1109177" imgH="1188720" progId="Paint.Picture">
                  <p:embed/>
                </p:oleObj>
              </mc:Choice>
              <mc:Fallback>
                <p:oleObj r:id="rId5" imgW="1109177" imgH="1188720" progId="Paint.Picture">
                  <p:embed/>
                  <p:pic>
                    <p:nvPicPr>
                      <p:cNvPr id="155" name="Google Shape;155;p7"/>
                      <p:cNvPicPr preferRelativeResize="0"/>
                      <p:nvPr/>
                    </p:nvPicPr>
                    <p:blipFill rotWithShape="1">
                      <a:blip r:embed="rId6">
                        <a:alphaModFix/>
                      </a:blip>
                      <a:srcRect/>
                      <a:stretch/>
                    </p:blipFill>
                    <p:spPr>
                      <a:xfrm>
                        <a:off x="0" y="-11430"/>
                        <a:ext cx="1109177" cy="1188720"/>
                      </a:xfrm>
                      <a:prstGeom prst="rect">
                        <a:avLst/>
                      </a:prstGeom>
                      <a:noFill/>
                      <a:ln>
                        <a:noFill/>
                      </a:ln>
                    </p:spPr>
                  </p:pic>
                </p:oleObj>
              </mc:Fallback>
            </mc:AlternateContent>
          </a:graphicData>
        </a:graphic>
      </p:graphicFrame>
      <p:sp>
        <p:nvSpPr>
          <p:cNvPr id="156" name="Google Shape;156;p7"/>
          <p:cNvSpPr txBox="1">
            <a:spLocks noGrp="1"/>
          </p:cNvSpPr>
          <p:nvPr>
            <p:ph type="ctrTitle" idx="4294967295"/>
          </p:nvPr>
        </p:nvSpPr>
        <p:spPr>
          <a:xfrm>
            <a:off x="861315" y="1155122"/>
            <a:ext cx="10469367" cy="426308"/>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4400"/>
              <a:buFont typeface="Calibri"/>
              <a:buNone/>
            </a:pPr>
            <a:r>
              <a:rPr lang="en-US" sz="3200" b="1" i="0" u="none" strike="noStrike" cap="none" dirty="0">
                <a:solidFill>
                  <a:schemeClr val="dk1"/>
                </a:solidFill>
                <a:latin typeface="Times New Roman" panose="02020603050405020304" pitchFamily="18" charset="0"/>
                <a:cs typeface="Times New Roman" panose="02020603050405020304" pitchFamily="18" charset="0"/>
                <a:sym typeface="Calibri"/>
              </a:rPr>
              <a:t>Proposed </a:t>
            </a:r>
            <a:r>
              <a:rPr lang="en-IN" sz="3200" b="1" dirty="0">
                <a:latin typeface="Times New Roman" panose="02020603050405020304" pitchFamily="18" charset="0"/>
                <a:cs typeface="Times New Roman" panose="02020603050405020304" pitchFamily="18" charset="0"/>
              </a:rPr>
              <a:t>Android Malware Detection System </a:t>
            </a:r>
            <a:endParaRPr sz="3200" b="0" i="0" u="none" strike="noStrike" cap="none" dirty="0">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FF1B4B6B-5486-C9F1-FA19-89A56ACFE38B}"/>
              </a:ext>
            </a:extLst>
          </p:cNvPr>
          <p:cNvPicPr/>
          <p:nvPr/>
        </p:nvPicPr>
        <p:blipFill>
          <a:blip r:embed="rId7">
            <a:extLst>
              <a:ext uri="{BEBA8EAE-BF5A-486C-A8C5-ECC9F3942E4B}">
                <a14:imgProps xmlns:a14="http://schemas.microsoft.com/office/drawing/2010/main">
                  <a14:imgLayer r:embed="rId8">
                    <a14:imgEffect>
                      <a14:sharpenSoften amount="25000"/>
                    </a14:imgEffect>
                  </a14:imgLayer>
                </a14:imgProps>
              </a:ext>
            </a:extLst>
          </a:blip>
          <a:srcRect t="6935" b="5718"/>
          <a:stretch/>
        </p:blipFill>
        <p:spPr>
          <a:xfrm>
            <a:off x="2042092" y="1984713"/>
            <a:ext cx="8107815" cy="439733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graphicFrame>
        <p:nvGraphicFramePr>
          <p:cNvPr id="162" name="Google Shape;162;p8"/>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3" imgW="1611796" imgH="1097280" progId="Paint.Picture">
                  <p:embed/>
                </p:oleObj>
              </mc:Choice>
              <mc:Fallback>
                <p:oleObj r:id="rId3" imgW="1611796" imgH="1097280" progId="Paint.Picture">
                  <p:embed/>
                  <p:pic>
                    <p:nvPicPr>
                      <p:cNvPr id="162" name="Google Shape;162;p8"/>
                      <p:cNvPicPr preferRelativeResize="0"/>
                      <p:nvPr/>
                    </p:nvPicPr>
                    <p:blipFill rotWithShape="1">
                      <a:blip r:embed="rId4">
                        <a:alphaModFix/>
                      </a:blip>
                      <a:srcRect/>
                      <a:stretch/>
                    </p:blipFill>
                    <p:spPr>
                      <a:xfrm>
                        <a:off x="10553065" y="19050"/>
                        <a:ext cx="1611796" cy="1097280"/>
                      </a:xfrm>
                      <a:prstGeom prst="rect">
                        <a:avLst/>
                      </a:prstGeom>
                      <a:noFill/>
                      <a:ln>
                        <a:noFill/>
                      </a:ln>
                    </p:spPr>
                  </p:pic>
                </p:oleObj>
              </mc:Fallback>
            </mc:AlternateContent>
          </a:graphicData>
        </a:graphic>
      </p:graphicFrame>
      <p:sp>
        <p:nvSpPr>
          <p:cNvPr id="163" name="Google Shape;163;p8"/>
          <p:cNvSpPr txBox="1"/>
          <p:nvPr/>
        </p:nvSpPr>
        <p:spPr>
          <a:xfrm>
            <a:off x="4565650" y="229870"/>
            <a:ext cx="4064000" cy="5219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7030A0"/>
                </a:solidFill>
                <a:latin typeface="Calibri"/>
                <a:ea typeface="Calibri"/>
                <a:cs typeface="Calibri"/>
                <a:sym typeface="Calibri"/>
              </a:rPr>
              <a:t>ICPERES 2024</a:t>
            </a:r>
            <a:endParaRPr sz="2800" b="1" dirty="0">
              <a:solidFill>
                <a:srgbClr val="7030A0"/>
              </a:solidFill>
              <a:latin typeface="Calibri"/>
              <a:ea typeface="Calibri"/>
              <a:cs typeface="Calibri"/>
              <a:sym typeface="Calibri"/>
            </a:endParaRPr>
          </a:p>
        </p:txBody>
      </p:sp>
      <p:graphicFrame>
        <p:nvGraphicFramePr>
          <p:cNvPr id="164" name="Google Shape;164;p8"/>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5" imgW="1109177" imgH="1188720" progId="Paint.Picture">
                  <p:embed/>
                </p:oleObj>
              </mc:Choice>
              <mc:Fallback>
                <p:oleObj r:id="rId5" imgW="1109177" imgH="1188720" progId="Paint.Picture">
                  <p:embed/>
                  <p:pic>
                    <p:nvPicPr>
                      <p:cNvPr id="164" name="Google Shape;164;p8"/>
                      <p:cNvPicPr preferRelativeResize="0"/>
                      <p:nvPr/>
                    </p:nvPicPr>
                    <p:blipFill rotWithShape="1">
                      <a:blip r:embed="rId6">
                        <a:alphaModFix/>
                      </a:blip>
                      <a:srcRect/>
                      <a:stretch/>
                    </p:blipFill>
                    <p:spPr>
                      <a:xfrm>
                        <a:off x="0" y="-11430"/>
                        <a:ext cx="1109177" cy="1188720"/>
                      </a:xfrm>
                      <a:prstGeom prst="rect">
                        <a:avLst/>
                      </a:prstGeom>
                      <a:noFill/>
                      <a:ln>
                        <a:noFill/>
                      </a:ln>
                    </p:spPr>
                  </p:pic>
                </p:oleObj>
              </mc:Fallback>
            </mc:AlternateContent>
          </a:graphicData>
        </a:graphic>
      </p:graphicFrame>
      <p:sp>
        <p:nvSpPr>
          <p:cNvPr id="165" name="Google Shape;165;p8"/>
          <p:cNvSpPr txBox="1">
            <a:spLocks noGrp="1"/>
          </p:cNvSpPr>
          <p:nvPr>
            <p:ph type="ctrTitle" idx="4294967295"/>
          </p:nvPr>
        </p:nvSpPr>
        <p:spPr>
          <a:xfrm>
            <a:off x="2407304" y="1084115"/>
            <a:ext cx="6752777" cy="52197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4400"/>
              <a:buFont typeface="Calibri"/>
              <a:buNone/>
            </a:pPr>
            <a:r>
              <a:rPr lang="en-IN" sz="2800" b="1" dirty="0">
                <a:solidFill>
                  <a:srgbClr val="000000"/>
                </a:solidFill>
                <a:effectLst/>
                <a:latin typeface="Times New Roman" panose="02020603050405020304" pitchFamily="18" charset="0"/>
                <a:ea typeface="Times New Roman" panose="02020603050405020304" pitchFamily="18" charset="0"/>
              </a:rPr>
              <a:t> Enhanced Ensemble Learning Algorithm </a:t>
            </a:r>
            <a:endParaRPr sz="2800" b="1" i="0" u="none" strike="noStrike" cap="none" dirty="0">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D899D104-FBC9-CE59-FA02-F936BA6B70BC}"/>
              </a:ext>
            </a:extLst>
          </p:cNvPr>
          <p:cNvSpPr txBox="1"/>
          <p:nvPr/>
        </p:nvSpPr>
        <p:spPr>
          <a:xfrm>
            <a:off x="1410835" y="1938360"/>
            <a:ext cx="8745717" cy="3970318"/>
          </a:xfrm>
          <a:prstGeom prst="rect">
            <a:avLst/>
          </a:prstGeom>
          <a:noFill/>
        </p:spPr>
        <p:txBody>
          <a:bodyPr wrap="square">
            <a:spAutoFit/>
          </a:bodyPr>
          <a:lstStyle/>
          <a:p>
            <a:r>
              <a:rPr lang="en-IN" b="1" dirty="0"/>
              <a:t>Dataset: </a:t>
            </a:r>
            <a:r>
              <a:rPr lang="en-IN" dirty="0"/>
              <a:t>android.csv</a:t>
            </a:r>
          </a:p>
          <a:p>
            <a:r>
              <a:rPr lang="en-IN" b="1" dirty="0"/>
              <a:t>Algorithm:</a:t>
            </a:r>
            <a:r>
              <a:rPr lang="en-IN" dirty="0"/>
              <a:t> Enhanced Ensemble Learning </a:t>
            </a:r>
          </a:p>
          <a:p>
            <a:r>
              <a:rPr lang="en-IN" b="1" dirty="0"/>
              <a:t>Algorithm Input: </a:t>
            </a:r>
            <a:r>
              <a:rPr lang="en-IN" dirty="0"/>
              <a:t>Training dataset containing features (X) and labels (Y). </a:t>
            </a:r>
          </a:p>
          <a:p>
            <a:r>
              <a:rPr lang="en-IN" b="1" dirty="0"/>
              <a:t>Output: </a:t>
            </a:r>
            <a:r>
              <a:rPr lang="en-IN" dirty="0"/>
              <a:t>Trained ensemble model with predictions </a:t>
            </a:r>
          </a:p>
          <a:p>
            <a:r>
              <a:rPr lang="en-IN" b="1" dirty="0"/>
              <a:t>Algorithm working: </a:t>
            </a:r>
            <a:r>
              <a:rPr lang="en-IN" dirty="0"/>
              <a:t>TRAIN_ENSEMBLE_MODEL </a:t>
            </a:r>
          </a:p>
          <a:p>
            <a:endParaRPr lang="en-IN" dirty="0"/>
          </a:p>
          <a:p>
            <a:r>
              <a:rPr lang="en-IN" dirty="0"/>
              <a:t>Step 1: function TRAIN_ENSEMBLE_MODEL(</a:t>
            </a:r>
            <a:r>
              <a:rPr lang="en-IN" dirty="0" err="1"/>
              <a:t>training_set</a:t>
            </a:r>
            <a:r>
              <a:rPr lang="en-IN" dirty="0"/>
              <a:t>) </a:t>
            </a:r>
          </a:p>
          <a:p>
            <a:r>
              <a:rPr lang="en-IN" dirty="0"/>
              <a:t>Step 2: X, Y ← </a:t>
            </a:r>
            <a:r>
              <a:rPr lang="en-IN" dirty="0" err="1"/>
              <a:t>generateSampleData</a:t>
            </a:r>
            <a:r>
              <a:rPr lang="en-IN" dirty="0"/>
              <a:t>() </a:t>
            </a:r>
          </a:p>
          <a:p>
            <a:r>
              <a:rPr lang="en-IN" dirty="0"/>
              <a:t>Step 3: </a:t>
            </a:r>
            <a:r>
              <a:rPr lang="en-IN" dirty="0" err="1"/>
              <a:t>X_train</a:t>
            </a:r>
            <a:r>
              <a:rPr lang="en-IN" dirty="0"/>
              <a:t>, </a:t>
            </a:r>
            <a:r>
              <a:rPr lang="en-IN" dirty="0" err="1"/>
              <a:t>X_test</a:t>
            </a:r>
            <a:r>
              <a:rPr lang="en-IN" dirty="0"/>
              <a:t>, </a:t>
            </a:r>
            <a:r>
              <a:rPr lang="en-IN" dirty="0" err="1"/>
              <a:t>Y_train</a:t>
            </a:r>
            <a:r>
              <a:rPr lang="en-IN" dirty="0"/>
              <a:t>, </a:t>
            </a:r>
            <a:r>
              <a:rPr lang="en-IN" dirty="0" err="1"/>
              <a:t>Y_test</a:t>
            </a:r>
            <a:r>
              <a:rPr lang="en-IN" dirty="0"/>
              <a:t> ← </a:t>
            </a:r>
            <a:r>
              <a:rPr lang="en-IN" dirty="0" err="1"/>
              <a:t>trainTestSplit</a:t>
            </a:r>
            <a:r>
              <a:rPr lang="en-IN" dirty="0"/>
              <a:t>(X, Y) </a:t>
            </a:r>
          </a:p>
          <a:p>
            <a:r>
              <a:rPr lang="en-IN" dirty="0"/>
              <a:t>Step 4: </a:t>
            </a:r>
            <a:r>
              <a:rPr lang="en-IN" dirty="0" err="1"/>
              <a:t>svm_model</a:t>
            </a:r>
            <a:r>
              <a:rPr lang="en-IN" dirty="0"/>
              <a:t>, </a:t>
            </a:r>
            <a:r>
              <a:rPr lang="en-IN" dirty="0" err="1"/>
              <a:t>knn_model</a:t>
            </a:r>
            <a:r>
              <a:rPr lang="en-IN" dirty="0"/>
              <a:t>, </a:t>
            </a:r>
            <a:r>
              <a:rPr lang="en-IN" dirty="0" err="1"/>
              <a:t>rf_model</a:t>
            </a:r>
            <a:r>
              <a:rPr lang="en-IN" dirty="0"/>
              <a:t> ← </a:t>
            </a:r>
            <a:r>
              <a:rPr lang="en-IN" dirty="0" err="1"/>
              <a:t>defineBaseModels</a:t>
            </a:r>
            <a:r>
              <a:rPr lang="en-IN" dirty="0"/>
              <a:t>() </a:t>
            </a:r>
          </a:p>
          <a:p>
            <a:r>
              <a:rPr lang="en-IN" dirty="0"/>
              <a:t>Step 5: </a:t>
            </a:r>
            <a:r>
              <a:rPr lang="en-IN" dirty="0" err="1"/>
              <a:t>bagging_svm</a:t>
            </a:r>
            <a:r>
              <a:rPr lang="en-IN" dirty="0"/>
              <a:t>, </a:t>
            </a:r>
            <a:r>
              <a:rPr lang="en-IN" dirty="0" err="1"/>
              <a:t>bagging_knn</a:t>
            </a:r>
            <a:r>
              <a:rPr lang="en-IN" dirty="0"/>
              <a:t>, </a:t>
            </a:r>
            <a:r>
              <a:rPr lang="en-IN" dirty="0" err="1"/>
              <a:t>bagging_rf</a:t>
            </a:r>
            <a:r>
              <a:rPr lang="en-IN" dirty="0"/>
              <a:t> ← </a:t>
            </a:r>
            <a:r>
              <a:rPr lang="en-IN" dirty="0" err="1"/>
              <a:t>defineBaggingClassifiers</a:t>
            </a:r>
            <a:r>
              <a:rPr lang="en-IN" dirty="0"/>
              <a:t>(</a:t>
            </a:r>
            <a:r>
              <a:rPr lang="en-IN" dirty="0" err="1"/>
              <a:t>svm_model</a:t>
            </a:r>
            <a:r>
              <a:rPr lang="en-IN" dirty="0"/>
              <a:t>, </a:t>
            </a:r>
            <a:r>
              <a:rPr lang="en-IN" dirty="0" err="1"/>
              <a:t>knn_model</a:t>
            </a:r>
            <a:r>
              <a:rPr lang="en-IN" dirty="0"/>
              <a:t>, </a:t>
            </a:r>
            <a:r>
              <a:rPr lang="en-IN" dirty="0" err="1"/>
              <a:t>rf_model</a:t>
            </a:r>
            <a:r>
              <a:rPr lang="en-IN" dirty="0"/>
              <a:t>) </a:t>
            </a:r>
          </a:p>
          <a:p>
            <a:r>
              <a:rPr lang="en-IN" dirty="0"/>
              <a:t>Step 6: </a:t>
            </a:r>
            <a:r>
              <a:rPr lang="en-IN" dirty="0" err="1"/>
              <a:t>stacking_model</a:t>
            </a:r>
            <a:r>
              <a:rPr lang="en-IN" dirty="0"/>
              <a:t> ← </a:t>
            </a:r>
            <a:r>
              <a:rPr lang="en-IN" dirty="0" err="1"/>
              <a:t>defineStackingClassifier</a:t>
            </a:r>
            <a:r>
              <a:rPr lang="en-IN" dirty="0"/>
              <a:t>(</a:t>
            </a:r>
            <a:r>
              <a:rPr lang="en-IN" dirty="0" err="1"/>
              <a:t>bagging_svm</a:t>
            </a:r>
            <a:r>
              <a:rPr lang="en-IN" dirty="0"/>
              <a:t>, </a:t>
            </a:r>
            <a:r>
              <a:rPr lang="en-IN" dirty="0" err="1"/>
              <a:t>bagging_knn</a:t>
            </a:r>
            <a:r>
              <a:rPr lang="en-IN" dirty="0"/>
              <a:t>, </a:t>
            </a:r>
            <a:r>
              <a:rPr lang="en-IN" dirty="0" err="1"/>
              <a:t>bagging_rf</a:t>
            </a:r>
            <a:r>
              <a:rPr lang="en-IN" dirty="0"/>
              <a:t>) </a:t>
            </a:r>
          </a:p>
          <a:p>
            <a:r>
              <a:rPr lang="en-IN" dirty="0"/>
              <a:t>Step 7: </a:t>
            </a:r>
            <a:r>
              <a:rPr lang="en-IN" dirty="0" err="1"/>
              <a:t>trainModel</a:t>
            </a:r>
            <a:r>
              <a:rPr lang="en-IN" dirty="0"/>
              <a:t>(</a:t>
            </a:r>
            <a:r>
              <a:rPr lang="en-IN" dirty="0" err="1"/>
              <a:t>stacking_model</a:t>
            </a:r>
            <a:r>
              <a:rPr lang="en-IN" dirty="0"/>
              <a:t>, </a:t>
            </a:r>
            <a:r>
              <a:rPr lang="en-IN" dirty="0" err="1"/>
              <a:t>X_train</a:t>
            </a:r>
            <a:r>
              <a:rPr lang="en-IN" dirty="0"/>
              <a:t>, </a:t>
            </a:r>
            <a:r>
              <a:rPr lang="en-IN" dirty="0" err="1"/>
              <a:t>Y_train</a:t>
            </a:r>
            <a:r>
              <a:rPr lang="en-IN" dirty="0"/>
              <a:t>) </a:t>
            </a:r>
          </a:p>
          <a:p>
            <a:r>
              <a:rPr lang="en-IN" dirty="0"/>
              <a:t>Step 8: </a:t>
            </a:r>
            <a:r>
              <a:rPr lang="en-IN" dirty="0" err="1"/>
              <a:t>stacking_test_predictions</a:t>
            </a:r>
            <a:r>
              <a:rPr lang="en-IN" dirty="0"/>
              <a:t> ← </a:t>
            </a:r>
            <a:r>
              <a:rPr lang="en-IN" dirty="0" err="1"/>
              <a:t>predictModel</a:t>
            </a:r>
            <a:r>
              <a:rPr lang="en-IN" dirty="0"/>
              <a:t>(</a:t>
            </a:r>
            <a:r>
              <a:rPr lang="en-IN" dirty="0" err="1"/>
              <a:t>stacking_model</a:t>
            </a:r>
            <a:r>
              <a:rPr lang="en-IN" dirty="0"/>
              <a:t>, </a:t>
            </a:r>
            <a:r>
              <a:rPr lang="en-IN" dirty="0" err="1"/>
              <a:t>X_test</a:t>
            </a:r>
            <a:r>
              <a:rPr lang="en-IN" dirty="0"/>
              <a:t>) </a:t>
            </a:r>
          </a:p>
          <a:p>
            <a:r>
              <a:rPr lang="en-IN" dirty="0"/>
              <a:t>Step 9: </a:t>
            </a:r>
            <a:r>
              <a:rPr lang="en-IN" dirty="0" err="1"/>
              <a:t>stacking_test_accuracy</a:t>
            </a:r>
            <a:r>
              <a:rPr lang="en-IN" dirty="0"/>
              <a:t> ← </a:t>
            </a:r>
            <a:r>
              <a:rPr lang="en-IN" dirty="0" err="1"/>
              <a:t>evaluateModel</a:t>
            </a:r>
            <a:r>
              <a:rPr lang="en-IN" dirty="0"/>
              <a:t>(</a:t>
            </a:r>
            <a:r>
              <a:rPr lang="en-IN" dirty="0" err="1"/>
              <a:t>Y_test</a:t>
            </a:r>
            <a:r>
              <a:rPr lang="en-IN" dirty="0"/>
              <a:t>, </a:t>
            </a:r>
            <a:r>
              <a:rPr lang="en-IN" dirty="0" err="1"/>
              <a:t>stacking_test_predictions</a:t>
            </a:r>
            <a:r>
              <a:rPr lang="en-IN" dirty="0"/>
              <a:t>) </a:t>
            </a:r>
          </a:p>
          <a:p>
            <a:r>
              <a:rPr lang="en-IN" dirty="0"/>
              <a:t>Step 10: return </a:t>
            </a:r>
            <a:r>
              <a:rPr lang="en-IN" dirty="0" err="1"/>
              <a:t>stacking_test_accuracy</a:t>
            </a:r>
            <a:r>
              <a:rPr lang="en-IN" dirty="0"/>
              <a:t> </a:t>
            </a:r>
          </a:p>
          <a:p>
            <a:r>
              <a:rPr lang="en-IN" dirty="0"/>
              <a:t>Step 11: end function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D43434-2CC2-EEE1-B18F-356E6C4C8E1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graphicFrame>
        <p:nvGraphicFramePr>
          <p:cNvPr id="5" name="Google Shape;162;p8">
            <a:extLst>
              <a:ext uri="{FF2B5EF4-FFF2-40B4-BE49-F238E27FC236}">
                <a16:creationId xmlns:a16="http://schemas.microsoft.com/office/drawing/2014/main" id="{1F3E23DE-18FC-B33A-4EEA-971C07B455B8}"/>
              </a:ext>
            </a:extLst>
          </p:cNvPr>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2" imgW="1611796" imgH="1097280" progId="Paint.Picture">
                  <p:embed/>
                </p:oleObj>
              </mc:Choice>
              <mc:Fallback>
                <p:oleObj r:id="rId2" imgW="1611796" imgH="1097280" progId="Paint.Picture">
                  <p:embed/>
                  <p:pic>
                    <p:nvPicPr>
                      <p:cNvPr id="5" name="Google Shape;162;p8">
                        <a:extLst>
                          <a:ext uri="{FF2B5EF4-FFF2-40B4-BE49-F238E27FC236}">
                            <a16:creationId xmlns:a16="http://schemas.microsoft.com/office/drawing/2014/main" id="{1F3E23DE-18FC-B33A-4EEA-971C07B455B8}"/>
                          </a:ext>
                        </a:extLst>
                      </p:cNvPr>
                      <p:cNvPicPr preferRelativeResize="0"/>
                      <p:nvPr/>
                    </p:nvPicPr>
                    <p:blipFill rotWithShape="1">
                      <a:blip r:embed="rId3">
                        <a:alphaModFix/>
                      </a:blip>
                      <a:srcRect/>
                      <a:stretch/>
                    </p:blipFill>
                    <p:spPr>
                      <a:xfrm>
                        <a:off x="10553065" y="19050"/>
                        <a:ext cx="1611796" cy="1097280"/>
                      </a:xfrm>
                      <a:prstGeom prst="rect">
                        <a:avLst/>
                      </a:prstGeom>
                      <a:noFill/>
                      <a:ln>
                        <a:noFill/>
                      </a:ln>
                    </p:spPr>
                  </p:pic>
                </p:oleObj>
              </mc:Fallback>
            </mc:AlternateContent>
          </a:graphicData>
        </a:graphic>
      </p:graphicFrame>
      <p:sp>
        <p:nvSpPr>
          <p:cNvPr id="6" name="Google Shape;163;p8">
            <a:extLst>
              <a:ext uri="{FF2B5EF4-FFF2-40B4-BE49-F238E27FC236}">
                <a16:creationId xmlns:a16="http://schemas.microsoft.com/office/drawing/2014/main" id="{C3D07605-63E0-9671-48B5-431D63EF5D54}"/>
              </a:ext>
            </a:extLst>
          </p:cNvPr>
          <p:cNvSpPr txBox="1"/>
          <p:nvPr/>
        </p:nvSpPr>
        <p:spPr>
          <a:xfrm>
            <a:off x="4565650" y="229870"/>
            <a:ext cx="4064000" cy="5219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7030A0"/>
                </a:solidFill>
                <a:latin typeface="Calibri"/>
                <a:ea typeface="Calibri"/>
                <a:cs typeface="Calibri"/>
                <a:sym typeface="Calibri"/>
              </a:rPr>
              <a:t>ICPERES 2024</a:t>
            </a:r>
            <a:endParaRPr sz="2800" b="1" dirty="0">
              <a:solidFill>
                <a:srgbClr val="7030A0"/>
              </a:solidFill>
              <a:latin typeface="Calibri"/>
              <a:ea typeface="Calibri"/>
              <a:cs typeface="Calibri"/>
              <a:sym typeface="Calibri"/>
            </a:endParaRPr>
          </a:p>
        </p:txBody>
      </p:sp>
      <p:graphicFrame>
        <p:nvGraphicFramePr>
          <p:cNvPr id="7" name="Google Shape;164;p8">
            <a:extLst>
              <a:ext uri="{FF2B5EF4-FFF2-40B4-BE49-F238E27FC236}">
                <a16:creationId xmlns:a16="http://schemas.microsoft.com/office/drawing/2014/main" id="{D22B0604-A2A5-5EA5-B161-0B55BA62DBD6}"/>
              </a:ext>
            </a:extLst>
          </p:cNvPr>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4" imgW="1109177" imgH="1188720" progId="Paint.Picture">
                  <p:embed/>
                </p:oleObj>
              </mc:Choice>
              <mc:Fallback>
                <p:oleObj r:id="rId4" imgW="1109177" imgH="1188720" progId="Paint.Picture">
                  <p:embed/>
                  <p:pic>
                    <p:nvPicPr>
                      <p:cNvPr id="7" name="Google Shape;164;p8">
                        <a:extLst>
                          <a:ext uri="{FF2B5EF4-FFF2-40B4-BE49-F238E27FC236}">
                            <a16:creationId xmlns:a16="http://schemas.microsoft.com/office/drawing/2014/main" id="{D22B0604-A2A5-5EA5-B161-0B55BA62DBD6}"/>
                          </a:ext>
                        </a:extLst>
                      </p:cNvPr>
                      <p:cNvPicPr preferRelativeResize="0"/>
                      <p:nvPr/>
                    </p:nvPicPr>
                    <p:blipFill rotWithShape="1">
                      <a:blip r:embed="rId5">
                        <a:alphaModFix/>
                      </a:blip>
                      <a:srcRect/>
                      <a:stretch/>
                    </p:blipFill>
                    <p:spPr>
                      <a:xfrm>
                        <a:off x="0" y="-11430"/>
                        <a:ext cx="1109177" cy="1188720"/>
                      </a:xfrm>
                      <a:prstGeom prst="rect">
                        <a:avLst/>
                      </a:prstGeom>
                      <a:noFill/>
                      <a:ln>
                        <a:noFill/>
                      </a:ln>
                    </p:spPr>
                  </p:pic>
                </p:oleObj>
              </mc:Fallback>
            </mc:AlternateContent>
          </a:graphicData>
        </a:graphic>
      </p:graphicFrame>
      <p:sp>
        <p:nvSpPr>
          <p:cNvPr id="8" name="Google Shape;165;p8">
            <a:extLst>
              <a:ext uri="{FF2B5EF4-FFF2-40B4-BE49-F238E27FC236}">
                <a16:creationId xmlns:a16="http://schemas.microsoft.com/office/drawing/2014/main" id="{700352DD-7185-8C80-CFFD-C42D5B17BB7E}"/>
              </a:ext>
            </a:extLst>
          </p:cNvPr>
          <p:cNvSpPr txBox="1">
            <a:spLocks/>
          </p:cNvSpPr>
          <p:nvPr/>
        </p:nvSpPr>
        <p:spPr>
          <a:xfrm>
            <a:off x="2454732" y="963239"/>
            <a:ext cx="6752777" cy="521970"/>
          </a:xfrm>
          <a:prstGeom prst="rect">
            <a:avLst/>
          </a:prstGeom>
          <a:noFill/>
          <a:ln>
            <a:noFill/>
          </a:ln>
        </p:spPr>
        <p:txBody>
          <a:bodyPr spcFirstLastPara="1" wrap="square" lIns="91425" tIns="45700" rIns="91425" bIns="45700" anchor="ctr" anchorCtr="0">
            <a:normAutofit fontScale="55000" lnSpcReduction="2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IN" sz="4800" b="1" dirty="0">
                <a:solidFill>
                  <a:srgbClr val="000000"/>
                </a:solidFill>
                <a:effectLst/>
                <a:latin typeface="Times New Roman" panose="02020603050405020304" pitchFamily="18" charset="0"/>
                <a:ea typeface="Times New Roman" panose="02020603050405020304" pitchFamily="18" charset="0"/>
              </a:rPr>
              <a:t> </a:t>
            </a:r>
            <a:r>
              <a:rPr lang="en-IN" sz="4800" b="1" dirty="0">
                <a:solidFill>
                  <a:srgbClr val="000000"/>
                </a:solidFill>
                <a:latin typeface="Times New Roman" panose="02020603050405020304" pitchFamily="18" charset="0"/>
                <a:ea typeface="Times New Roman" panose="02020603050405020304" pitchFamily="18" charset="0"/>
              </a:rPr>
              <a:t>Sequence flow of Android Malware Detection</a:t>
            </a:r>
            <a:endParaRPr lang="en-US" sz="4800" b="1" dirty="0"/>
          </a:p>
        </p:txBody>
      </p:sp>
      <p:pic>
        <p:nvPicPr>
          <p:cNvPr id="13" name="Picture 12">
            <a:extLst>
              <a:ext uri="{FF2B5EF4-FFF2-40B4-BE49-F238E27FC236}">
                <a16:creationId xmlns:a16="http://schemas.microsoft.com/office/drawing/2014/main" id="{53FEF25C-950E-1518-AE10-0054BE7A9C03}"/>
              </a:ext>
            </a:extLst>
          </p:cNvPr>
          <p:cNvPicPr>
            <a:picLocks noChangeAspect="1"/>
          </p:cNvPicPr>
          <p:nvPr/>
        </p:nvPicPr>
        <p:blipFill>
          <a:blip r:embed="rId6"/>
          <a:stretch>
            <a:fillRect/>
          </a:stretch>
        </p:blipFill>
        <p:spPr>
          <a:xfrm>
            <a:off x="1603745" y="1485209"/>
            <a:ext cx="8464082" cy="5043637"/>
          </a:xfrm>
          <a:prstGeom prst="rect">
            <a:avLst/>
          </a:prstGeom>
        </p:spPr>
      </p:pic>
    </p:spTree>
    <p:extLst>
      <p:ext uri="{BB962C8B-B14F-4D97-AF65-F5344CB8AC3E}">
        <p14:creationId xmlns:p14="http://schemas.microsoft.com/office/powerpoint/2010/main" val="1879609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0B7A5E-4019-0ED0-A46B-9FC1221839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graphicFrame>
        <p:nvGraphicFramePr>
          <p:cNvPr id="5" name="Google Shape;162;p8">
            <a:extLst>
              <a:ext uri="{FF2B5EF4-FFF2-40B4-BE49-F238E27FC236}">
                <a16:creationId xmlns:a16="http://schemas.microsoft.com/office/drawing/2014/main" id="{128CF6DA-560B-AB8E-0DD1-3794D41DAAF2}"/>
              </a:ext>
            </a:extLst>
          </p:cNvPr>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3" imgW="1611796" imgH="1097280" progId="Paint.Picture">
                  <p:embed/>
                </p:oleObj>
              </mc:Choice>
              <mc:Fallback>
                <p:oleObj r:id="rId3" imgW="1611796" imgH="1097280" progId="Paint.Picture">
                  <p:embed/>
                  <p:pic>
                    <p:nvPicPr>
                      <p:cNvPr id="5" name="Google Shape;162;p8">
                        <a:extLst>
                          <a:ext uri="{FF2B5EF4-FFF2-40B4-BE49-F238E27FC236}">
                            <a16:creationId xmlns:a16="http://schemas.microsoft.com/office/drawing/2014/main" id="{128CF6DA-560B-AB8E-0DD1-3794D41DAAF2}"/>
                          </a:ext>
                        </a:extLst>
                      </p:cNvPr>
                      <p:cNvPicPr preferRelativeResize="0"/>
                      <p:nvPr/>
                    </p:nvPicPr>
                    <p:blipFill rotWithShape="1">
                      <a:blip r:embed="rId4">
                        <a:alphaModFix/>
                      </a:blip>
                      <a:srcRect/>
                      <a:stretch/>
                    </p:blipFill>
                    <p:spPr>
                      <a:xfrm>
                        <a:off x="10553065" y="19050"/>
                        <a:ext cx="1611796" cy="1097280"/>
                      </a:xfrm>
                      <a:prstGeom prst="rect">
                        <a:avLst/>
                      </a:prstGeom>
                      <a:noFill/>
                      <a:ln>
                        <a:noFill/>
                      </a:ln>
                    </p:spPr>
                  </p:pic>
                </p:oleObj>
              </mc:Fallback>
            </mc:AlternateContent>
          </a:graphicData>
        </a:graphic>
      </p:graphicFrame>
      <p:sp>
        <p:nvSpPr>
          <p:cNvPr id="6" name="Google Shape;163;p8">
            <a:extLst>
              <a:ext uri="{FF2B5EF4-FFF2-40B4-BE49-F238E27FC236}">
                <a16:creationId xmlns:a16="http://schemas.microsoft.com/office/drawing/2014/main" id="{3712CEE5-ED8E-332A-4A1B-69FF438AB16C}"/>
              </a:ext>
            </a:extLst>
          </p:cNvPr>
          <p:cNvSpPr txBox="1"/>
          <p:nvPr/>
        </p:nvSpPr>
        <p:spPr>
          <a:xfrm>
            <a:off x="4565650" y="229870"/>
            <a:ext cx="4064000" cy="5219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7030A0"/>
                </a:solidFill>
                <a:latin typeface="Calibri"/>
                <a:ea typeface="Calibri"/>
                <a:cs typeface="Calibri"/>
                <a:sym typeface="Calibri"/>
              </a:rPr>
              <a:t>ICPERES 2024</a:t>
            </a:r>
            <a:endParaRPr sz="2800" b="1">
              <a:solidFill>
                <a:srgbClr val="7030A0"/>
              </a:solidFill>
              <a:latin typeface="Calibri"/>
              <a:ea typeface="Calibri"/>
              <a:cs typeface="Calibri"/>
              <a:sym typeface="Calibri"/>
            </a:endParaRPr>
          </a:p>
        </p:txBody>
      </p:sp>
      <p:graphicFrame>
        <p:nvGraphicFramePr>
          <p:cNvPr id="7" name="Google Shape;164;p8">
            <a:extLst>
              <a:ext uri="{FF2B5EF4-FFF2-40B4-BE49-F238E27FC236}">
                <a16:creationId xmlns:a16="http://schemas.microsoft.com/office/drawing/2014/main" id="{27B1E76F-2DFD-0077-BDAF-66B2994FE250}"/>
              </a:ext>
            </a:extLst>
          </p:cNvPr>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5" imgW="1109177" imgH="1188720" progId="Paint.Picture">
                  <p:embed/>
                </p:oleObj>
              </mc:Choice>
              <mc:Fallback>
                <p:oleObj r:id="rId5" imgW="1109177" imgH="1188720" progId="Paint.Picture">
                  <p:embed/>
                  <p:pic>
                    <p:nvPicPr>
                      <p:cNvPr id="7" name="Google Shape;164;p8">
                        <a:extLst>
                          <a:ext uri="{FF2B5EF4-FFF2-40B4-BE49-F238E27FC236}">
                            <a16:creationId xmlns:a16="http://schemas.microsoft.com/office/drawing/2014/main" id="{27B1E76F-2DFD-0077-BDAF-66B2994FE250}"/>
                          </a:ext>
                        </a:extLst>
                      </p:cNvPr>
                      <p:cNvPicPr preferRelativeResize="0"/>
                      <p:nvPr/>
                    </p:nvPicPr>
                    <p:blipFill rotWithShape="1">
                      <a:blip r:embed="rId6">
                        <a:alphaModFix/>
                      </a:blip>
                      <a:srcRect/>
                      <a:stretch/>
                    </p:blipFill>
                    <p:spPr>
                      <a:xfrm>
                        <a:off x="0" y="-11430"/>
                        <a:ext cx="1109177" cy="1188720"/>
                      </a:xfrm>
                      <a:prstGeom prst="rect">
                        <a:avLst/>
                      </a:prstGeom>
                      <a:noFill/>
                      <a:ln>
                        <a:noFill/>
                      </a:ln>
                    </p:spPr>
                  </p:pic>
                </p:oleObj>
              </mc:Fallback>
            </mc:AlternateContent>
          </a:graphicData>
        </a:graphic>
      </p:graphicFrame>
      <p:sp>
        <p:nvSpPr>
          <p:cNvPr id="8" name="Google Shape;165;p8">
            <a:extLst>
              <a:ext uri="{FF2B5EF4-FFF2-40B4-BE49-F238E27FC236}">
                <a16:creationId xmlns:a16="http://schemas.microsoft.com/office/drawing/2014/main" id="{DDF9CAF8-1265-C746-1446-ECD34F1EF3CA}"/>
              </a:ext>
            </a:extLst>
          </p:cNvPr>
          <p:cNvSpPr txBox="1">
            <a:spLocks/>
          </p:cNvSpPr>
          <p:nvPr/>
        </p:nvSpPr>
        <p:spPr>
          <a:xfrm>
            <a:off x="1755875" y="1063476"/>
            <a:ext cx="8226325" cy="52197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3200" b="1" dirty="0">
                <a:latin typeface="Times New Roman" panose="02020603050405020304" pitchFamily="18" charset="0"/>
                <a:cs typeface="Times New Roman" panose="02020603050405020304" pitchFamily="18" charset="0"/>
              </a:rPr>
              <a:t>Simulation And Implementation</a:t>
            </a:r>
          </a:p>
        </p:txBody>
      </p:sp>
      <p:sp>
        <p:nvSpPr>
          <p:cNvPr id="9" name="TextBox 8">
            <a:extLst>
              <a:ext uri="{FF2B5EF4-FFF2-40B4-BE49-F238E27FC236}">
                <a16:creationId xmlns:a16="http://schemas.microsoft.com/office/drawing/2014/main" id="{BECA08D0-F258-1194-AC3D-256B01C74405}"/>
              </a:ext>
            </a:extLst>
          </p:cNvPr>
          <p:cNvSpPr txBox="1"/>
          <p:nvPr/>
        </p:nvSpPr>
        <p:spPr>
          <a:xfrm>
            <a:off x="1410835" y="1826816"/>
            <a:ext cx="8745717" cy="2862322"/>
          </a:xfrm>
          <a:prstGeom prst="rect">
            <a:avLst/>
          </a:prstGeom>
          <a:noFill/>
        </p:spPr>
        <p:txBody>
          <a:bodyPr wrap="square">
            <a:spAutoFit/>
          </a:bodyPr>
          <a:lstStyle/>
          <a:p>
            <a:pPr algn="just"/>
            <a:r>
              <a:rPr lang="en-US" sz="1800" dirty="0">
                <a:latin typeface="Times New Roman" panose="02020603050405020304" pitchFamily="18" charset="0"/>
                <a:ea typeface="Calibri" panose="020F0502020204030204" pitchFamily="34" charset="0"/>
                <a:cs typeface="Times New Roman" panose="02020603050405020304" pitchFamily="18" charset="0"/>
              </a:rPr>
              <a:t>The testbed for implementing the proposed system involves collecting a comprehensive dataset of Android malware and benign applications from sources like Drebin, AMD, and the Google Play Store. Features are extracted through static analysis (e.g., permissions, API calls, intents) and dynamic analysis (e.g., system calls, behavior traces, network activity). Preprocessing steps such as normalization, scaling, and encoding ensure data consistency. To enhance efficiency, feature selection methods like Mutual Information (MI), Recursive Feature Elimination (RFE), and Principal Component Analysis (PCA) are employed to identify the most discriminative features. The refined dataset is then used to train and evaluate the proposed hybrid ensemble model using bagging and stacking techniques for robust and accurate Android malware detection.</a:t>
            </a: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25373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aphicFrame>
        <p:nvGraphicFramePr>
          <p:cNvPr id="171" name="Google Shape;171;p9"/>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3" imgW="1611796" imgH="1097280" progId="Paint.Picture">
                  <p:embed/>
                </p:oleObj>
              </mc:Choice>
              <mc:Fallback>
                <p:oleObj r:id="rId3" imgW="1611796" imgH="1097280" progId="Paint.Picture">
                  <p:embed/>
                  <p:pic>
                    <p:nvPicPr>
                      <p:cNvPr id="171" name="Google Shape;171;p9"/>
                      <p:cNvPicPr preferRelativeResize="0"/>
                      <p:nvPr/>
                    </p:nvPicPr>
                    <p:blipFill rotWithShape="1">
                      <a:blip r:embed="rId4">
                        <a:alphaModFix/>
                      </a:blip>
                      <a:srcRect/>
                      <a:stretch/>
                    </p:blipFill>
                    <p:spPr>
                      <a:xfrm>
                        <a:off x="10553065" y="19050"/>
                        <a:ext cx="1611796" cy="1097280"/>
                      </a:xfrm>
                      <a:prstGeom prst="rect">
                        <a:avLst/>
                      </a:prstGeom>
                      <a:noFill/>
                      <a:ln>
                        <a:noFill/>
                      </a:ln>
                    </p:spPr>
                  </p:pic>
                </p:oleObj>
              </mc:Fallback>
            </mc:AlternateContent>
          </a:graphicData>
        </a:graphic>
      </p:graphicFrame>
      <p:sp>
        <p:nvSpPr>
          <p:cNvPr id="172" name="Google Shape;172;p9"/>
          <p:cNvSpPr txBox="1"/>
          <p:nvPr/>
        </p:nvSpPr>
        <p:spPr>
          <a:xfrm>
            <a:off x="4565650" y="229870"/>
            <a:ext cx="4064000" cy="5219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7030A0"/>
                </a:solidFill>
                <a:latin typeface="Calibri"/>
                <a:ea typeface="Calibri"/>
                <a:cs typeface="Calibri"/>
                <a:sym typeface="Calibri"/>
              </a:rPr>
              <a:t>ICPERES 2024</a:t>
            </a:r>
            <a:endParaRPr sz="2800" b="1">
              <a:solidFill>
                <a:srgbClr val="7030A0"/>
              </a:solidFill>
              <a:latin typeface="Calibri"/>
              <a:ea typeface="Calibri"/>
              <a:cs typeface="Calibri"/>
              <a:sym typeface="Calibri"/>
            </a:endParaRPr>
          </a:p>
        </p:txBody>
      </p:sp>
      <p:graphicFrame>
        <p:nvGraphicFramePr>
          <p:cNvPr id="173" name="Google Shape;173;p9"/>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5" imgW="1109177" imgH="1188720" progId="Paint.Picture">
                  <p:embed/>
                </p:oleObj>
              </mc:Choice>
              <mc:Fallback>
                <p:oleObj r:id="rId5" imgW="1109177" imgH="1188720" progId="Paint.Picture">
                  <p:embed/>
                  <p:pic>
                    <p:nvPicPr>
                      <p:cNvPr id="173" name="Google Shape;173;p9"/>
                      <p:cNvPicPr preferRelativeResize="0"/>
                      <p:nvPr/>
                    </p:nvPicPr>
                    <p:blipFill rotWithShape="1">
                      <a:blip r:embed="rId6">
                        <a:alphaModFix/>
                      </a:blip>
                      <a:srcRect/>
                      <a:stretch/>
                    </p:blipFill>
                    <p:spPr>
                      <a:xfrm>
                        <a:off x="0" y="-11430"/>
                        <a:ext cx="1109177" cy="1188720"/>
                      </a:xfrm>
                      <a:prstGeom prst="rect">
                        <a:avLst/>
                      </a:prstGeom>
                      <a:noFill/>
                      <a:ln>
                        <a:noFill/>
                      </a:ln>
                    </p:spPr>
                  </p:pic>
                </p:oleObj>
              </mc:Fallback>
            </mc:AlternateContent>
          </a:graphicData>
        </a:graphic>
      </p:graphicFrame>
      <p:sp>
        <p:nvSpPr>
          <p:cNvPr id="177" name="Google Shape;177;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pic>
        <p:nvPicPr>
          <p:cNvPr id="3" name="Picture 2">
            <a:extLst>
              <a:ext uri="{FF2B5EF4-FFF2-40B4-BE49-F238E27FC236}">
                <a16:creationId xmlns:a16="http://schemas.microsoft.com/office/drawing/2014/main" id="{EA3347E2-CC4F-B069-2124-40486E76B84A}"/>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2706134" y="1403998"/>
            <a:ext cx="6249971" cy="4377717"/>
          </a:xfrm>
          <a:prstGeom prst="rect">
            <a:avLst/>
          </a:prstGeom>
        </p:spPr>
      </p:pic>
      <p:sp>
        <p:nvSpPr>
          <p:cNvPr id="2" name="Google Shape;196;p11">
            <a:extLst>
              <a:ext uri="{FF2B5EF4-FFF2-40B4-BE49-F238E27FC236}">
                <a16:creationId xmlns:a16="http://schemas.microsoft.com/office/drawing/2014/main" id="{674CC038-B562-6A41-B329-5AEAF53A28E0}"/>
              </a:ext>
            </a:extLst>
          </p:cNvPr>
          <p:cNvSpPr txBox="1">
            <a:spLocks/>
          </p:cNvSpPr>
          <p:nvPr/>
        </p:nvSpPr>
        <p:spPr>
          <a:xfrm>
            <a:off x="2926296" y="906185"/>
            <a:ext cx="5809649" cy="420290"/>
          </a:xfrm>
          <a:prstGeom prst="rect">
            <a:avLst/>
          </a:prstGeom>
          <a:noFill/>
          <a:ln>
            <a:noFill/>
          </a:ln>
        </p:spPr>
        <p:txBody>
          <a:bodyPr spcFirstLastPara="1" wrap="square" lIns="91425" tIns="45700" rIns="91425" bIns="45700" anchor="ctr" anchorCtr="0">
            <a:normAutofit fontScale="67500" lnSpcReduction="2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b="1" dirty="0">
                <a:latin typeface="Times New Roman" panose="02020603050405020304" pitchFamily="18" charset="0"/>
                <a:cs typeface="Times New Roman" panose="02020603050405020304" pitchFamily="18" charset="0"/>
              </a:rPr>
              <a:t>Interpretation of Results</a:t>
            </a:r>
          </a:p>
        </p:txBody>
      </p:sp>
      <p:sp>
        <p:nvSpPr>
          <p:cNvPr id="5" name="TextBox 4">
            <a:extLst>
              <a:ext uri="{FF2B5EF4-FFF2-40B4-BE49-F238E27FC236}">
                <a16:creationId xmlns:a16="http://schemas.microsoft.com/office/drawing/2014/main" id="{2F1D80F5-0392-40D4-991C-EDB83FC8080D}"/>
              </a:ext>
            </a:extLst>
          </p:cNvPr>
          <p:cNvSpPr txBox="1"/>
          <p:nvPr/>
        </p:nvSpPr>
        <p:spPr>
          <a:xfrm>
            <a:off x="2926296" y="5944619"/>
            <a:ext cx="7204753" cy="929613"/>
          </a:xfrm>
          <a:prstGeom prst="rect">
            <a:avLst/>
          </a:prstGeom>
          <a:noFill/>
        </p:spPr>
        <p:txBody>
          <a:bodyPr wrap="square">
            <a:spAutoFit/>
          </a:bodyPr>
          <a:lstStyle/>
          <a:p>
            <a:pPr marL="132715" marR="918210" indent="-6350" algn="ctr">
              <a:lnSpc>
                <a:spcPct val="110000"/>
              </a:lnSpc>
              <a:spcAft>
                <a:spcPts val="120"/>
              </a:spcAft>
            </a:pPr>
            <a:r>
              <a:rPr lang="en-IN" sz="1800" kern="100" dirty="0">
                <a:solidFill>
                  <a:srgbClr val="000000"/>
                </a:solidFill>
                <a:effectLst/>
                <a:latin typeface="Times New Roman" panose="02020603050405020304" pitchFamily="18" charset="0"/>
                <a:ea typeface="Times New Roman" panose="02020603050405020304" pitchFamily="18" charset="0"/>
              </a:rPr>
              <a:t>Fig. </a:t>
            </a:r>
            <a:r>
              <a:rPr lang="en-IN" sz="1800" kern="100" dirty="0">
                <a:latin typeface="Times New Roman" panose="02020603050405020304" pitchFamily="18" charset="0"/>
                <a:ea typeface="Times New Roman" panose="02020603050405020304" pitchFamily="18" charset="0"/>
              </a:rPr>
              <a:t>1</a:t>
            </a:r>
            <a:r>
              <a:rPr lang="en-IN" sz="1800" kern="100" dirty="0">
                <a:solidFill>
                  <a:srgbClr val="000000"/>
                </a:solidFill>
                <a:effectLst/>
                <a:latin typeface="Times New Roman" panose="02020603050405020304" pitchFamily="18" charset="0"/>
                <a:ea typeface="Times New Roman" panose="02020603050405020304" pitchFamily="18" charset="0"/>
              </a:rPr>
              <a:t>. Confusion Matrix of Proposed Android Malware Detection </a:t>
            </a:r>
          </a:p>
          <a:p>
            <a:pPr marL="6350" marR="890270" indent="-6350" algn="ctr">
              <a:lnSpc>
                <a:spcPct val="107000"/>
              </a:lnSpc>
              <a:spcAft>
                <a:spcPts val="120"/>
              </a:spcAft>
            </a:pPr>
            <a:r>
              <a:rPr lang="en-IN" sz="1400" kern="100" dirty="0">
                <a:solidFill>
                  <a:srgbClr val="000000"/>
                </a:solidFill>
                <a:effectLst/>
                <a:latin typeface="Times New Roman" panose="02020603050405020304" pitchFamily="18" charset="0"/>
                <a:ea typeface="Times New Roman" panose="02020603050405020304" pitchFamily="18" charset="0"/>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graphicFrame>
        <p:nvGraphicFramePr>
          <p:cNvPr id="182" name="Google Shape;182;p10"/>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3" imgW="1611796" imgH="1097280" progId="Paint.Picture">
                  <p:embed/>
                </p:oleObj>
              </mc:Choice>
              <mc:Fallback>
                <p:oleObj r:id="rId3" imgW="1611796" imgH="1097280" progId="Paint.Picture">
                  <p:embed/>
                  <p:pic>
                    <p:nvPicPr>
                      <p:cNvPr id="182" name="Google Shape;182;p10"/>
                      <p:cNvPicPr preferRelativeResize="0"/>
                      <p:nvPr/>
                    </p:nvPicPr>
                    <p:blipFill rotWithShape="1">
                      <a:blip r:embed="rId4">
                        <a:alphaModFix/>
                      </a:blip>
                      <a:srcRect/>
                      <a:stretch/>
                    </p:blipFill>
                    <p:spPr>
                      <a:xfrm>
                        <a:off x="10553065" y="19050"/>
                        <a:ext cx="1611796" cy="1097280"/>
                      </a:xfrm>
                      <a:prstGeom prst="rect">
                        <a:avLst/>
                      </a:prstGeom>
                      <a:noFill/>
                      <a:ln>
                        <a:noFill/>
                      </a:ln>
                    </p:spPr>
                  </p:pic>
                </p:oleObj>
              </mc:Fallback>
            </mc:AlternateContent>
          </a:graphicData>
        </a:graphic>
      </p:graphicFrame>
      <p:sp>
        <p:nvSpPr>
          <p:cNvPr id="183" name="Google Shape;183;p10"/>
          <p:cNvSpPr txBox="1"/>
          <p:nvPr/>
        </p:nvSpPr>
        <p:spPr>
          <a:xfrm>
            <a:off x="4565650" y="229870"/>
            <a:ext cx="4064000" cy="5219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7030A0"/>
                </a:solidFill>
                <a:latin typeface="Calibri"/>
                <a:ea typeface="Calibri"/>
                <a:cs typeface="Calibri"/>
                <a:sym typeface="Calibri"/>
              </a:rPr>
              <a:t>ICPERES 2024</a:t>
            </a:r>
            <a:endParaRPr sz="2800" b="1">
              <a:solidFill>
                <a:srgbClr val="7030A0"/>
              </a:solidFill>
              <a:latin typeface="Calibri"/>
              <a:ea typeface="Calibri"/>
              <a:cs typeface="Calibri"/>
              <a:sym typeface="Calibri"/>
            </a:endParaRPr>
          </a:p>
        </p:txBody>
      </p:sp>
      <p:graphicFrame>
        <p:nvGraphicFramePr>
          <p:cNvPr id="184" name="Google Shape;184;p10"/>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5" imgW="1109177" imgH="1188720" progId="Paint.Picture">
                  <p:embed/>
                </p:oleObj>
              </mc:Choice>
              <mc:Fallback>
                <p:oleObj r:id="rId5" imgW="1109177" imgH="1188720" progId="Paint.Picture">
                  <p:embed/>
                  <p:pic>
                    <p:nvPicPr>
                      <p:cNvPr id="184" name="Google Shape;184;p10"/>
                      <p:cNvPicPr preferRelativeResize="0"/>
                      <p:nvPr/>
                    </p:nvPicPr>
                    <p:blipFill rotWithShape="1">
                      <a:blip r:embed="rId6">
                        <a:alphaModFix/>
                      </a:blip>
                      <a:srcRect/>
                      <a:stretch/>
                    </p:blipFill>
                    <p:spPr>
                      <a:xfrm>
                        <a:off x="0" y="-11430"/>
                        <a:ext cx="1109177" cy="1188720"/>
                      </a:xfrm>
                      <a:prstGeom prst="rect">
                        <a:avLst/>
                      </a:prstGeom>
                      <a:noFill/>
                      <a:ln>
                        <a:noFill/>
                      </a:ln>
                    </p:spPr>
                  </p:pic>
                </p:oleObj>
              </mc:Fallback>
            </mc:AlternateContent>
          </a:graphicData>
        </a:graphic>
      </p:graphicFrame>
      <p:sp>
        <p:nvSpPr>
          <p:cNvPr id="188" name="Google Shape;18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pic>
        <p:nvPicPr>
          <p:cNvPr id="3" name="Picture 2">
            <a:extLst>
              <a:ext uri="{FF2B5EF4-FFF2-40B4-BE49-F238E27FC236}">
                <a16:creationId xmlns:a16="http://schemas.microsoft.com/office/drawing/2014/main" id="{199E4287-8511-DA67-A170-D4F6510CB4B7}"/>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1109177" y="1553119"/>
            <a:ext cx="9554908" cy="3936695"/>
          </a:xfrm>
          <a:prstGeom prst="rect">
            <a:avLst/>
          </a:prstGeom>
        </p:spPr>
      </p:pic>
      <p:sp>
        <p:nvSpPr>
          <p:cNvPr id="2" name="Google Shape;196;p11">
            <a:extLst>
              <a:ext uri="{FF2B5EF4-FFF2-40B4-BE49-F238E27FC236}">
                <a16:creationId xmlns:a16="http://schemas.microsoft.com/office/drawing/2014/main" id="{F1923A7A-C3A2-BC34-90E2-C261E4B8B32D}"/>
              </a:ext>
            </a:extLst>
          </p:cNvPr>
          <p:cNvSpPr txBox="1">
            <a:spLocks/>
          </p:cNvSpPr>
          <p:nvPr/>
        </p:nvSpPr>
        <p:spPr>
          <a:xfrm>
            <a:off x="2926296" y="906185"/>
            <a:ext cx="5809649" cy="420290"/>
          </a:xfrm>
          <a:prstGeom prst="rect">
            <a:avLst/>
          </a:prstGeom>
          <a:noFill/>
          <a:ln>
            <a:noFill/>
          </a:ln>
        </p:spPr>
        <p:txBody>
          <a:bodyPr spcFirstLastPara="1" wrap="square" lIns="91425" tIns="45700" rIns="91425" bIns="45700" anchor="ctr" anchorCtr="0">
            <a:normAutofit fontScale="67500" lnSpcReduction="2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b="1" dirty="0">
                <a:latin typeface="Times New Roman" panose="02020603050405020304" pitchFamily="18" charset="0"/>
                <a:cs typeface="Times New Roman" panose="02020603050405020304" pitchFamily="18" charset="0"/>
              </a:rPr>
              <a:t>Interpretation of Results</a:t>
            </a:r>
          </a:p>
        </p:txBody>
      </p:sp>
      <p:sp>
        <p:nvSpPr>
          <p:cNvPr id="5" name="TextBox 4">
            <a:extLst>
              <a:ext uri="{FF2B5EF4-FFF2-40B4-BE49-F238E27FC236}">
                <a16:creationId xmlns:a16="http://schemas.microsoft.com/office/drawing/2014/main" id="{7818C07E-0491-8E74-8478-2BF7E31AE36A}"/>
              </a:ext>
            </a:extLst>
          </p:cNvPr>
          <p:cNvSpPr txBox="1"/>
          <p:nvPr/>
        </p:nvSpPr>
        <p:spPr>
          <a:xfrm>
            <a:off x="3192694" y="5684083"/>
            <a:ext cx="6608852" cy="369332"/>
          </a:xfrm>
          <a:prstGeom prst="rect">
            <a:avLst/>
          </a:prstGeom>
          <a:noFill/>
        </p:spPr>
        <p:txBody>
          <a:bodyPr wrap="square">
            <a:spAutoFit/>
          </a:bodyPr>
          <a:lstStyle/>
          <a:p>
            <a:pPr algn="ctr"/>
            <a:r>
              <a:rPr lang="en-IN" sz="1800" dirty="0">
                <a:solidFill>
                  <a:srgbClr val="000000"/>
                </a:solidFill>
                <a:effectLst/>
                <a:latin typeface="Times New Roman" panose="02020603050405020304" pitchFamily="18" charset="0"/>
                <a:ea typeface="Times New Roman" panose="02020603050405020304" pitchFamily="18" charset="0"/>
              </a:rPr>
              <a:t> Fig. 2. Real time detection instances of Android Malware </a:t>
            </a:r>
            <a:r>
              <a:rPr lang="en-IN" sz="1800" dirty="0">
                <a:latin typeface="Times New Roman" panose="02020603050405020304" pitchFamily="18" charset="0"/>
                <a:ea typeface="Times New Roman" panose="02020603050405020304" pitchFamily="18" charset="0"/>
              </a:rPr>
              <a:t>D</a:t>
            </a:r>
            <a:r>
              <a:rPr lang="en-IN" sz="1800" dirty="0">
                <a:solidFill>
                  <a:srgbClr val="000000"/>
                </a:solidFill>
                <a:effectLst/>
                <a:latin typeface="Times New Roman" panose="02020603050405020304" pitchFamily="18" charset="0"/>
                <a:ea typeface="Times New Roman" panose="02020603050405020304" pitchFamily="18" charset="0"/>
              </a:rPr>
              <a:t>etection </a:t>
            </a:r>
            <a:endParaRPr lang="en-IN"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graphicFrame>
        <p:nvGraphicFramePr>
          <p:cNvPr id="193" name="Google Shape;193;p11"/>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3" imgW="1611796" imgH="1097280" progId="Paint.Picture">
                  <p:embed/>
                </p:oleObj>
              </mc:Choice>
              <mc:Fallback>
                <p:oleObj r:id="rId3" imgW="1611796" imgH="1097280" progId="Paint.Picture">
                  <p:embed/>
                  <p:pic>
                    <p:nvPicPr>
                      <p:cNvPr id="193" name="Google Shape;193;p11"/>
                      <p:cNvPicPr preferRelativeResize="0"/>
                      <p:nvPr/>
                    </p:nvPicPr>
                    <p:blipFill rotWithShape="1">
                      <a:blip r:embed="rId4">
                        <a:alphaModFix/>
                      </a:blip>
                      <a:srcRect/>
                      <a:stretch/>
                    </p:blipFill>
                    <p:spPr>
                      <a:xfrm>
                        <a:off x="10553065" y="19050"/>
                        <a:ext cx="1611796" cy="1097280"/>
                      </a:xfrm>
                      <a:prstGeom prst="rect">
                        <a:avLst/>
                      </a:prstGeom>
                      <a:noFill/>
                      <a:ln>
                        <a:noFill/>
                      </a:ln>
                    </p:spPr>
                  </p:pic>
                </p:oleObj>
              </mc:Fallback>
            </mc:AlternateContent>
          </a:graphicData>
        </a:graphic>
      </p:graphicFrame>
      <p:sp>
        <p:nvSpPr>
          <p:cNvPr id="194" name="Google Shape;194;p11"/>
          <p:cNvSpPr txBox="1"/>
          <p:nvPr/>
        </p:nvSpPr>
        <p:spPr>
          <a:xfrm>
            <a:off x="4154684" y="328485"/>
            <a:ext cx="4064000" cy="5219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7030A0"/>
                </a:solidFill>
                <a:latin typeface="Calibri"/>
                <a:ea typeface="Calibri"/>
                <a:cs typeface="Calibri"/>
                <a:sym typeface="Calibri"/>
              </a:rPr>
              <a:t>ICPERES 2024</a:t>
            </a:r>
            <a:endParaRPr sz="2800" b="1" dirty="0">
              <a:solidFill>
                <a:srgbClr val="7030A0"/>
              </a:solidFill>
              <a:latin typeface="Calibri"/>
              <a:ea typeface="Calibri"/>
              <a:cs typeface="Calibri"/>
              <a:sym typeface="Calibri"/>
            </a:endParaRPr>
          </a:p>
        </p:txBody>
      </p:sp>
      <p:graphicFrame>
        <p:nvGraphicFramePr>
          <p:cNvPr id="195" name="Google Shape;195;p11"/>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5" imgW="1109177" imgH="1188720" progId="Paint.Picture">
                  <p:embed/>
                </p:oleObj>
              </mc:Choice>
              <mc:Fallback>
                <p:oleObj r:id="rId5" imgW="1109177" imgH="1188720" progId="Paint.Picture">
                  <p:embed/>
                  <p:pic>
                    <p:nvPicPr>
                      <p:cNvPr id="195" name="Google Shape;195;p11"/>
                      <p:cNvPicPr preferRelativeResize="0"/>
                      <p:nvPr/>
                    </p:nvPicPr>
                    <p:blipFill rotWithShape="1">
                      <a:blip r:embed="rId6">
                        <a:alphaModFix/>
                      </a:blip>
                      <a:srcRect/>
                      <a:stretch/>
                    </p:blipFill>
                    <p:spPr>
                      <a:xfrm>
                        <a:off x="0" y="-11430"/>
                        <a:ext cx="1109177" cy="1188720"/>
                      </a:xfrm>
                      <a:prstGeom prst="rect">
                        <a:avLst/>
                      </a:prstGeom>
                      <a:noFill/>
                      <a:ln>
                        <a:noFill/>
                      </a:ln>
                    </p:spPr>
                  </p:pic>
                </p:oleObj>
              </mc:Fallback>
            </mc:AlternateContent>
          </a:graphicData>
        </a:graphic>
      </p:graphicFrame>
      <p:sp>
        <p:nvSpPr>
          <p:cNvPr id="196" name="Google Shape;196;p11"/>
          <p:cNvSpPr txBox="1">
            <a:spLocks noGrp="1"/>
          </p:cNvSpPr>
          <p:nvPr>
            <p:ph type="ctrTitle" idx="4294967295"/>
          </p:nvPr>
        </p:nvSpPr>
        <p:spPr>
          <a:xfrm>
            <a:off x="2926296" y="906185"/>
            <a:ext cx="5809649" cy="42029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4400"/>
              <a:buFont typeface="Calibri"/>
              <a:buNone/>
            </a:pPr>
            <a:r>
              <a:rPr lang="en-US" sz="3000" b="1" i="0" u="none" strike="noStrike" cap="none" dirty="0">
                <a:solidFill>
                  <a:schemeClr val="dk1"/>
                </a:solidFill>
                <a:latin typeface="Times New Roman" panose="02020603050405020304" pitchFamily="18" charset="0"/>
                <a:cs typeface="Times New Roman" panose="02020603050405020304" pitchFamily="18" charset="0"/>
                <a:sym typeface="Calibri"/>
              </a:rPr>
              <a:t>Interpretation of Results</a:t>
            </a:r>
            <a:endParaRPr sz="3000" b="1" i="0" u="none" strike="noStrike" cap="none" dirty="0">
              <a:solidFill>
                <a:schemeClr val="dk1"/>
              </a:solidFill>
              <a:latin typeface="Times New Roman" panose="02020603050405020304" pitchFamily="18" charset="0"/>
              <a:cs typeface="Times New Roman" panose="02020603050405020304" pitchFamily="18" charset="0"/>
              <a:sym typeface="Calibri"/>
            </a:endParaRPr>
          </a:p>
        </p:txBody>
      </p:sp>
      <p:sp>
        <p:nvSpPr>
          <p:cNvPr id="199" name="Google Shape;199;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pic>
        <p:nvPicPr>
          <p:cNvPr id="11269" name="Picture 5">
            <a:extLst>
              <a:ext uri="{FF2B5EF4-FFF2-40B4-BE49-F238E27FC236}">
                <a16:creationId xmlns:a16="http://schemas.microsoft.com/office/drawing/2014/main" id="{139CA362-7A7F-83A5-8A1F-D6A576099E82}"/>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207916" y="1496331"/>
            <a:ext cx="9345149" cy="426987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BF68E38-F568-CB1C-2CDC-0D535D0B3CA8}"/>
              </a:ext>
            </a:extLst>
          </p:cNvPr>
          <p:cNvSpPr txBox="1"/>
          <p:nvPr/>
        </p:nvSpPr>
        <p:spPr>
          <a:xfrm>
            <a:off x="838201" y="5987828"/>
            <a:ext cx="10072954" cy="670055"/>
          </a:xfrm>
          <a:prstGeom prst="rect">
            <a:avLst/>
          </a:prstGeom>
          <a:noFill/>
        </p:spPr>
        <p:txBody>
          <a:bodyPr wrap="square">
            <a:spAutoFit/>
          </a:bodyPr>
          <a:lstStyle/>
          <a:p>
            <a:pPr marL="6350" marR="693420" indent="-6350" algn="ctr">
              <a:lnSpc>
                <a:spcPct val="108000"/>
              </a:lnSpc>
              <a:spcAft>
                <a:spcPts val="1235"/>
              </a:spcAft>
            </a:pPr>
            <a:r>
              <a:rPr lang="en-IN" sz="1800" kern="100" dirty="0">
                <a:solidFill>
                  <a:srgbClr val="000000"/>
                </a:solidFill>
                <a:effectLst/>
                <a:latin typeface="Times New Roman" panose="02020603050405020304" pitchFamily="18" charset="0"/>
                <a:ea typeface="Times New Roman" panose="02020603050405020304" pitchFamily="18" charset="0"/>
              </a:rPr>
              <a:t>Fig. 3. Distribution of accuracy scores of state-of-art of algorithms vs proposed Android Malware Detection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204" name="Google Shape;204;p12"/>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3" imgW="1611796" imgH="1097280" progId="Paint.Picture">
                  <p:embed/>
                </p:oleObj>
              </mc:Choice>
              <mc:Fallback>
                <p:oleObj r:id="rId3" imgW="1611796" imgH="1097280" progId="Paint.Picture">
                  <p:embed/>
                  <p:pic>
                    <p:nvPicPr>
                      <p:cNvPr id="204" name="Google Shape;204;p12"/>
                      <p:cNvPicPr preferRelativeResize="0"/>
                      <p:nvPr/>
                    </p:nvPicPr>
                    <p:blipFill rotWithShape="1">
                      <a:blip r:embed="rId4">
                        <a:alphaModFix/>
                      </a:blip>
                      <a:srcRect/>
                      <a:stretch/>
                    </p:blipFill>
                    <p:spPr>
                      <a:xfrm>
                        <a:off x="10553065" y="19050"/>
                        <a:ext cx="1611796" cy="1097280"/>
                      </a:xfrm>
                      <a:prstGeom prst="rect">
                        <a:avLst/>
                      </a:prstGeom>
                      <a:noFill/>
                      <a:ln>
                        <a:noFill/>
                      </a:ln>
                    </p:spPr>
                  </p:pic>
                </p:oleObj>
              </mc:Fallback>
            </mc:AlternateContent>
          </a:graphicData>
        </a:graphic>
      </p:graphicFrame>
      <p:sp>
        <p:nvSpPr>
          <p:cNvPr id="205" name="Google Shape;205;p12"/>
          <p:cNvSpPr txBox="1"/>
          <p:nvPr/>
        </p:nvSpPr>
        <p:spPr>
          <a:xfrm>
            <a:off x="4308796" y="235109"/>
            <a:ext cx="4064000" cy="5219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7030A0"/>
                </a:solidFill>
                <a:latin typeface="Calibri"/>
                <a:ea typeface="Calibri"/>
                <a:cs typeface="Calibri"/>
                <a:sym typeface="Calibri"/>
              </a:rPr>
              <a:t>ICPERES 2024</a:t>
            </a:r>
            <a:endParaRPr sz="2800" b="1" dirty="0">
              <a:solidFill>
                <a:srgbClr val="7030A0"/>
              </a:solidFill>
              <a:latin typeface="Calibri"/>
              <a:ea typeface="Calibri"/>
              <a:cs typeface="Calibri"/>
              <a:sym typeface="Calibri"/>
            </a:endParaRPr>
          </a:p>
        </p:txBody>
      </p:sp>
      <p:graphicFrame>
        <p:nvGraphicFramePr>
          <p:cNvPr id="206" name="Google Shape;206;p12"/>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5" imgW="1109177" imgH="1188720" progId="Paint.Picture">
                  <p:embed/>
                </p:oleObj>
              </mc:Choice>
              <mc:Fallback>
                <p:oleObj r:id="rId5" imgW="1109177" imgH="1188720" progId="Paint.Picture">
                  <p:embed/>
                  <p:pic>
                    <p:nvPicPr>
                      <p:cNvPr id="206" name="Google Shape;206;p12"/>
                      <p:cNvPicPr preferRelativeResize="0"/>
                      <p:nvPr/>
                    </p:nvPicPr>
                    <p:blipFill rotWithShape="1">
                      <a:blip r:embed="rId6">
                        <a:alphaModFix/>
                      </a:blip>
                      <a:srcRect/>
                      <a:stretch/>
                    </p:blipFill>
                    <p:spPr>
                      <a:xfrm>
                        <a:off x="0" y="-11430"/>
                        <a:ext cx="1109177" cy="1188720"/>
                      </a:xfrm>
                      <a:prstGeom prst="rect">
                        <a:avLst/>
                      </a:prstGeom>
                      <a:noFill/>
                      <a:ln>
                        <a:noFill/>
                      </a:ln>
                    </p:spPr>
                  </p:pic>
                </p:oleObj>
              </mc:Fallback>
            </mc:AlternateContent>
          </a:graphicData>
        </a:graphic>
      </p:graphicFrame>
      <p:sp>
        <p:nvSpPr>
          <p:cNvPr id="207" name="Google Shape;207;p12"/>
          <p:cNvSpPr txBox="1">
            <a:spLocks noGrp="1"/>
          </p:cNvSpPr>
          <p:nvPr>
            <p:ph type="ctrTitle" idx="4294967295"/>
          </p:nvPr>
        </p:nvSpPr>
        <p:spPr>
          <a:xfrm>
            <a:off x="3441843" y="916305"/>
            <a:ext cx="6030930" cy="521970"/>
          </a:xfrm>
          <a:prstGeom prst="rect">
            <a:avLst/>
          </a:prstGeom>
          <a:noFill/>
          <a:ln>
            <a:noFill/>
          </a:ln>
        </p:spPr>
        <p:txBody>
          <a:bodyPr spcFirstLastPara="1" wrap="square" lIns="91425" tIns="45700" rIns="91425" bIns="45700" anchor="ctr" anchorCtr="0">
            <a:normAutofit fontScale="90000"/>
          </a:bodyPr>
          <a:lstStyle/>
          <a:p>
            <a:pPr marL="0" marR="0" lvl="0" indent="0" algn="ctr" rtl="0">
              <a:lnSpc>
                <a:spcPct val="90000"/>
              </a:lnSpc>
              <a:spcBef>
                <a:spcPts val="0"/>
              </a:spcBef>
              <a:spcAft>
                <a:spcPts val="0"/>
              </a:spcAft>
              <a:buClr>
                <a:schemeClr val="dk1"/>
              </a:buClr>
              <a:buSzPts val="4400"/>
              <a:buFont typeface="Calibri"/>
              <a:buNone/>
            </a:pPr>
            <a:r>
              <a:rPr lang="en-US" sz="4000" b="0" i="0" u="none" strike="noStrike" cap="none" dirty="0">
                <a:solidFill>
                  <a:schemeClr val="dk1"/>
                </a:solidFill>
                <a:latin typeface="Times New Roman" panose="02020603050405020304" pitchFamily="18" charset="0"/>
                <a:cs typeface="Times New Roman" panose="02020603050405020304" pitchFamily="18" charset="0"/>
                <a:sym typeface="Calibri"/>
              </a:rPr>
              <a:t>Conclusion &amp; Future Work</a:t>
            </a:r>
            <a:endParaRPr sz="4000" b="0" i="0" u="none" strike="noStrike" cap="none" dirty="0">
              <a:solidFill>
                <a:schemeClr val="dk1"/>
              </a:solidFill>
              <a:latin typeface="Times New Roman" panose="02020603050405020304" pitchFamily="18" charset="0"/>
              <a:cs typeface="Times New Roman" panose="02020603050405020304" pitchFamily="18" charset="0"/>
              <a:sym typeface="Calibri"/>
            </a:endParaRPr>
          </a:p>
        </p:txBody>
      </p:sp>
      <p:sp>
        <p:nvSpPr>
          <p:cNvPr id="210" name="Google Shape;21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2" name="Title 1">
            <a:extLst>
              <a:ext uri="{FF2B5EF4-FFF2-40B4-BE49-F238E27FC236}">
                <a16:creationId xmlns:a16="http://schemas.microsoft.com/office/drawing/2014/main" id="{F138035B-C925-7AB7-41BD-7C1167C95197}"/>
              </a:ext>
            </a:extLst>
          </p:cNvPr>
          <p:cNvSpPr>
            <a:spLocks noGrp="1"/>
          </p:cNvSpPr>
          <p:nvPr>
            <p:ph type="body" idx="1"/>
          </p:nvPr>
        </p:nvSpPr>
        <p:spPr>
          <a:xfrm>
            <a:off x="1109177" y="1711655"/>
            <a:ext cx="10515600" cy="4566596"/>
          </a:xfrm>
        </p:spPr>
        <p:txBody>
          <a:bodyPr>
            <a:noAutofit/>
          </a:bodyPr>
          <a:lstStyle/>
          <a:p>
            <a:pPr>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proposed hybrid ensembled model achieves a superior performance with a </a:t>
            </a:r>
            <a:r>
              <a:rPr lang="en-US" sz="2100" b="1" dirty="0">
                <a:latin typeface="Times New Roman" panose="02020603050405020304" pitchFamily="18" charset="0"/>
                <a:cs typeface="Times New Roman" panose="02020603050405020304" pitchFamily="18" charset="0"/>
              </a:rPr>
              <a:t>98.00% accuracy rate</a:t>
            </a:r>
            <a:r>
              <a:rPr lang="en-US" sz="2100" dirty="0">
                <a:latin typeface="Times New Roman" panose="02020603050405020304" pitchFamily="18" charset="0"/>
                <a:cs typeface="Times New Roman" panose="02020603050405020304" pitchFamily="18" charset="0"/>
              </a:rPr>
              <a:t>. This highlights the effectiveness of ensemble learning in improving accurate malware detection .</a:t>
            </a:r>
          </a:p>
          <a:p>
            <a:pPr>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model is adaptable to evolving malware threats, ensuring responsiveness to new and evolving attacks.</a:t>
            </a:r>
          </a:p>
          <a:p>
            <a:pPr>
              <a:buFont typeface="Arial" panose="020B0604020202020204" pitchFamily="34" charset="0"/>
              <a:buChar char="•"/>
            </a:pPr>
            <a:r>
              <a:rPr lang="en-US" sz="2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Cloud-based integrations enable real-time updates of threat intelligence databases, ensuring that the hybrid ensemble model remains up-to-date with the latest malware signatures and patterns. </a:t>
            </a:r>
          </a:p>
          <a:p>
            <a:pPr>
              <a:buFont typeface="Arial" panose="020B0604020202020204" pitchFamily="34" charset="0"/>
              <a:buChar char="•"/>
            </a:pPr>
            <a:r>
              <a:rPr lang="en-US" sz="2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Incorporating genetic algorithms into hybrid ensemble model can enhance to adapt and evolve based on their performance, the ensemble can continually improve its ability to detect emerging threats</a:t>
            </a:r>
            <a:r>
              <a:rPr lang="en-US" sz="2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p>
          <a:p>
            <a:pPr>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ensemble model offers a promising solution for strengthening Android security and demonstrates the potential of ensemble learning in cybersecurity.</a:t>
            </a:r>
            <a:endParaRPr lang="en-IN" sz="21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4">
          <a:extLst>
            <a:ext uri="{FF2B5EF4-FFF2-40B4-BE49-F238E27FC236}">
              <a16:creationId xmlns:a16="http://schemas.microsoft.com/office/drawing/2014/main" id="{534EF45E-8152-8A8A-63AE-D1E4496A8DAE}"/>
            </a:ext>
          </a:extLst>
        </p:cNvPr>
        <p:cNvGrpSpPr/>
        <p:nvPr/>
      </p:nvGrpSpPr>
      <p:grpSpPr>
        <a:xfrm>
          <a:off x="0" y="0"/>
          <a:ext cx="0" cy="0"/>
          <a:chOff x="0" y="0"/>
          <a:chExt cx="0" cy="0"/>
        </a:xfrm>
      </p:grpSpPr>
      <p:graphicFrame>
        <p:nvGraphicFramePr>
          <p:cNvPr id="215" name="Google Shape;215;p13">
            <a:extLst>
              <a:ext uri="{FF2B5EF4-FFF2-40B4-BE49-F238E27FC236}">
                <a16:creationId xmlns:a16="http://schemas.microsoft.com/office/drawing/2014/main" id="{B578A01E-AB57-D0EB-AF23-F88666C00566}"/>
              </a:ext>
            </a:extLst>
          </p:cNvPr>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3" imgW="1611796" imgH="1097280" progId="Paint.Picture">
                  <p:embed/>
                </p:oleObj>
              </mc:Choice>
              <mc:Fallback>
                <p:oleObj r:id="rId3" imgW="1611796" imgH="1097280" progId="Paint.Picture">
                  <p:embed/>
                  <p:pic>
                    <p:nvPicPr>
                      <p:cNvPr id="215" name="Google Shape;215;p13">
                        <a:extLst>
                          <a:ext uri="{FF2B5EF4-FFF2-40B4-BE49-F238E27FC236}">
                            <a16:creationId xmlns:a16="http://schemas.microsoft.com/office/drawing/2014/main" id="{B578A01E-AB57-D0EB-AF23-F88666C00566}"/>
                          </a:ext>
                        </a:extLst>
                      </p:cNvPr>
                      <p:cNvPicPr preferRelativeResize="0"/>
                      <p:nvPr/>
                    </p:nvPicPr>
                    <p:blipFill rotWithShape="1">
                      <a:blip r:embed="rId4">
                        <a:alphaModFix/>
                      </a:blip>
                      <a:srcRect/>
                      <a:stretch/>
                    </p:blipFill>
                    <p:spPr>
                      <a:xfrm>
                        <a:off x="10553065" y="19050"/>
                        <a:ext cx="1611796" cy="1097280"/>
                      </a:xfrm>
                      <a:prstGeom prst="rect">
                        <a:avLst/>
                      </a:prstGeom>
                      <a:noFill/>
                      <a:ln>
                        <a:noFill/>
                      </a:ln>
                    </p:spPr>
                  </p:pic>
                </p:oleObj>
              </mc:Fallback>
            </mc:AlternateContent>
          </a:graphicData>
        </a:graphic>
      </p:graphicFrame>
      <p:sp>
        <p:nvSpPr>
          <p:cNvPr id="216" name="Google Shape;216;p13">
            <a:extLst>
              <a:ext uri="{FF2B5EF4-FFF2-40B4-BE49-F238E27FC236}">
                <a16:creationId xmlns:a16="http://schemas.microsoft.com/office/drawing/2014/main" id="{10B80AEE-18BA-FEA3-426A-D4EF32270E0C}"/>
              </a:ext>
            </a:extLst>
          </p:cNvPr>
          <p:cNvSpPr txBox="1"/>
          <p:nvPr/>
        </p:nvSpPr>
        <p:spPr>
          <a:xfrm>
            <a:off x="3990297" y="264415"/>
            <a:ext cx="4064000" cy="5219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7030A0"/>
                </a:solidFill>
                <a:latin typeface="Calibri"/>
                <a:ea typeface="Calibri"/>
                <a:cs typeface="Calibri"/>
                <a:sym typeface="Calibri"/>
              </a:rPr>
              <a:t>ICPERES 2024</a:t>
            </a:r>
            <a:endParaRPr sz="2800" b="1" dirty="0">
              <a:solidFill>
                <a:srgbClr val="7030A0"/>
              </a:solidFill>
              <a:latin typeface="Calibri"/>
              <a:ea typeface="Calibri"/>
              <a:cs typeface="Calibri"/>
              <a:sym typeface="Calibri"/>
            </a:endParaRPr>
          </a:p>
        </p:txBody>
      </p:sp>
      <p:graphicFrame>
        <p:nvGraphicFramePr>
          <p:cNvPr id="217" name="Google Shape;217;p13">
            <a:extLst>
              <a:ext uri="{FF2B5EF4-FFF2-40B4-BE49-F238E27FC236}">
                <a16:creationId xmlns:a16="http://schemas.microsoft.com/office/drawing/2014/main" id="{9AF22E69-EF5D-7244-C61A-E932FF889092}"/>
              </a:ext>
            </a:extLst>
          </p:cNvPr>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5" imgW="1109177" imgH="1188720" progId="Paint.Picture">
                  <p:embed/>
                </p:oleObj>
              </mc:Choice>
              <mc:Fallback>
                <p:oleObj r:id="rId5" imgW="1109177" imgH="1188720" progId="Paint.Picture">
                  <p:embed/>
                  <p:pic>
                    <p:nvPicPr>
                      <p:cNvPr id="217" name="Google Shape;217;p13">
                        <a:extLst>
                          <a:ext uri="{FF2B5EF4-FFF2-40B4-BE49-F238E27FC236}">
                            <a16:creationId xmlns:a16="http://schemas.microsoft.com/office/drawing/2014/main" id="{9AF22E69-EF5D-7244-C61A-E932FF889092}"/>
                          </a:ext>
                        </a:extLst>
                      </p:cNvPr>
                      <p:cNvPicPr preferRelativeResize="0"/>
                      <p:nvPr/>
                    </p:nvPicPr>
                    <p:blipFill rotWithShape="1">
                      <a:blip r:embed="rId6">
                        <a:alphaModFix/>
                      </a:blip>
                      <a:srcRect/>
                      <a:stretch/>
                    </p:blipFill>
                    <p:spPr>
                      <a:xfrm>
                        <a:off x="0" y="-11430"/>
                        <a:ext cx="1109177" cy="1188720"/>
                      </a:xfrm>
                      <a:prstGeom prst="rect">
                        <a:avLst/>
                      </a:prstGeom>
                      <a:noFill/>
                      <a:ln>
                        <a:noFill/>
                      </a:ln>
                    </p:spPr>
                  </p:pic>
                </p:oleObj>
              </mc:Fallback>
            </mc:AlternateContent>
          </a:graphicData>
        </a:graphic>
      </p:graphicFrame>
      <p:sp>
        <p:nvSpPr>
          <p:cNvPr id="218" name="Google Shape;218;p13">
            <a:extLst>
              <a:ext uri="{FF2B5EF4-FFF2-40B4-BE49-F238E27FC236}">
                <a16:creationId xmlns:a16="http://schemas.microsoft.com/office/drawing/2014/main" id="{B960AE43-04AE-62E8-FFE6-C3ED3936775A}"/>
              </a:ext>
            </a:extLst>
          </p:cNvPr>
          <p:cNvSpPr txBox="1">
            <a:spLocks noGrp="1"/>
          </p:cNvSpPr>
          <p:nvPr>
            <p:ph type="ctrTitle" idx="4294967295"/>
          </p:nvPr>
        </p:nvSpPr>
        <p:spPr>
          <a:xfrm>
            <a:off x="4313013" y="786385"/>
            <a:ext cx="3036216" cy="52197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4400"/>
              <a:buFont typeface="Calibri"/>
              <a:buNone/>
            </a:pPr>
            <a:r>
              <a:rPr lang="en-US" sz="3600" b="0" i="0" u="none" strike="noStrike" cap="none" dirty="0">
                <a:solidFill>
                  <a:schemeClr val="dk1"/>
                </a:solidFill>
                <a:latin typeface="Times New Roman" panose="02020603050405020304" pitchFamily="18" charset="0"/>
                <a:cs typeface="Times New Roman" panose="02020603050405020304" pitchFamily="18" charset="0"/>
                <a:sym typeface="Calibri"/>
              </a:rPr>
              <a:t>References</a:t>
            </a:r>
            <a:endParaRPr sz="3600" b="0" i="0" u="none" strike="noStrike" cap="none" dirty="0">
              <a:solidFill>
                <a:schemeClr val="dk1"/>
              </a:solidFill>
              <a:latin typeface="Times New Roman" panose="02020603050405020304" pitchFamily="18" charset="0"/>
              <a:cs typeface="Times New Roman" panose="02020603050405020304" pitchFamily="18" charset="0"/>
              <a:sym typeface="Calibri"/>
            </a:endParaRPr>
          </a:p>
        </p:txBody>
      </p:sp>
      <p:sp>
        <p:nvSpPr>
          <p:cNvPr id="219" name="Google Shape;219;p13">
            <a:extLst>
              <a:ext uri="{FF2B5EF4-FFF2-40B4-BE49-F238E27FC236}">
                <a16:creationId xmlns:a16="http://schemas.microsoft.com/office/drawing/2014/main" id="{1039B48C-1C11-6861-3504-F646CFFBFA1F}"/>
              </a:ext>
            </a:extLst>
          </p:cNvPr>
          <p:cNvSpPr txBox="1">
            <a:spLocks noGrp="1"/>
          </p:cNvSpPr>
          <p:nvPr>
            <p:ph type="body" idx="1"/>
          </p:nvPr>
        </p:nvSpPr>
        <p:spPr>
          <a:xfrm>
            <a:off x="838200" y="1786715"/>
            <a:ext cx="10515600" cy="4723916"/>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br>
              <a:rPr lang="en-IN" sz="1800" dirty="0">
                <a:effectLst/>
                <a:latin typeface="Google Sans"/>
                <a:ea typeface="Times New Roman" panose="02020603050405020304" pitchFamily="18" charset="0"/>
              </a:rPr>
            </a:br>
            <a:endParaRPr lang="en-IN" sz="1800" dirty="0"/>
          </a:p>
        </p:txBody>
      </p:sp>
      <p:sp>
        <p:nvSpPr>
          <p:cNvPr id="221" name="Google Shape;221;p13">
            <a:extLst>
              <a:ext uri="{FF2B5EF4-FFF2-40B4-BE49-F238E27FC236}">
                <a16:creationId xmlns:a16="http://schemas.microsoft.com/office/drawing/2014/main" id="{AE0B0D56-9EF0-2299-EA61-079CB692806C}"/>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
        <p:nvSpPr>
          <p:cNvPr id="3" name="TextBox 2">
            <a:extLst>
              <a:ext uri="{FF2B5EF4-FFF2-40B4-BE49-F238E27FC236}">
                <a16:creationId xmlns:a16="http://schemas.microsoft.com/office/drawing/2014/main" id="{FEDA02D1-6855-A8AC-4224-F8F2B394ABB1}"/>
              </a:ext>
            </a:extLst>
          </p:cNvPr>
          <p:cNvSpPr txBox="1"/>
          <p:nvPr/>
        </p:nvSpPr>
        <p:spPr>
          <a:xfrm>
            <a:off x="1218772" y="1448021"/>
            <a:ext cx="9754456" cy="6039923"/>
          </a:xfrm>
          <a:prstGeom prst="rect">
            <a:avLst/>
          </a:prstGeom>
          <a:noFill/>
        </p:spPr>
        <p:txBody>
          <a:bodyPr wrap="square">
            <a:spAutoFit/>
          </a:bodyPr>
          <a:lstStyle/>
          <a:p>
            <a:pPr marL="342900" marR="918210" lvl="0" indent="-342900" algn="just" fontAlgn="base">
              <a:lnSpc>
                <a:spcPct val="120000"/>
              </a:lnSpc>
              <a:spcAft>
                <a:spcPts val="120"/>
              </a:spcAft>
              <a:buClr>
                <a:srgbClr val="000000"/>
              </a:buClr>
              <a:buSzPts val="900"/>
              <a:buFont typeface="+mj-lt"/>
              <a:buAutoNum type="arabicPeriod"/>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H</a:t>
            </a:r>
            <a:r>
              <a:rPr lang="en-IN" sz="1800" kern="100" dirty="0">
                <a:uFill>
                  <a:solidFill>
                    <a:srgbClr val="000000"/>
                  </a:solidFill>
                </a:uFill>
                <a:latin typeface="Times New Roman" panose="02020603050405020304" pitchFamily="18" charset="0"/>
                <a:cs typeface="Times New Roman" panose="02020603050405020304" pitchFamily="18" charset="0"/>
              </a:rPr>
              <a:t>. </a:t>
            </a:r>
            <a:r>
              <a:rPr lang="en-IN" sz="1800" kern="100" dirty="0" err="1">
                <a:uFill>
                  <a:solidFill>
                    <a:srgbClr val="000000"/>
                  </a:solidFill>
                </a:uFill>
                <a:latin typeface="Times New Roman" panose="02020603050405020304" pitchFamily="18" charset="0"/>
                <a:cs typeface="Times New Roman" panose="02020603050405020304" pitchFamily="18" charset="0"/>
              </a:rPr>
              <a:t>Alamro</a:t>
            </a:r>
            <a:r>
              <a:rPr lang="en-IN" sz="1800" kern="100" dirty="0">
                <a:uFill>
                  <a:solidFill>
                    <a:srgbClr val="000000"/>
                  </a:solidFill>
                </a:uFill>
                <a:latin typeface="Times New Roman" panose="02020603050405020304" pitchFamily="18" charset="0"/>
                <a:cs typeface="Times New Roman" panose="02020603050405020304" pitchFamily="18" charset="0"/>
              </a:rPr>
              <a:t>, W. </a:t>
            </a:r>
            <a:r>
              <a:rPr lang="en-IN" sz="1800" kern="100" dirty="0" err="1">
                <a:uFill>
                  <a:solidFill>
                    <a:srgbClr val="000000"/>
                  </a:solidFill>
                </a:uFill>
                <a:latin typeface="Times New Roman" panose="02020603050405020304" pitchFamily="18" charset="0"/>
                <a:cs typeface="Times New Roman" panose="02020603050405020304" pitchFamily="18" charset="0"/>
              </a:rPr>
              <a:t>Mtouaa</a:t>
            </a:r>
            <a:r>
              <a:rPr lang="en-IN" sz="1800" kern="100" dirty="0">
                <a:uFill>
                  <a:solidFill>
                    <a:srgbClr val="000000"/>
                  </a:solidFill>
                </a:uFill>
                <a:latin typeface="Times New Roman" panose="02020603050405020304" pitchFamily="18" charset="0"/>
                <a:cs typeface="Times New Roman" panose="02020603050405020304" pitchFamily="18" charset="0"/>
              </a:rPr>
              <a:t>, S. </a:t>
            </a:r>
            <a:r>
              <a:rPr lang="en-IN" sz="1800" kern="100" dirty="0" err="1">
                <a:uFill>
                  <a:solidFill>
                    <a:srgbClr val="000000"/>
                  </a:solidFill>
                </a:uFill>
                <a:latin typeface="Times New Roman" panose="02020603050405020304" pitchFamily="18" charset="0"/>
                <a:cs typeface="Times New Roman" panose="02020603050405020304" pitchFamily="18" charset="0"/>
              </a:rPr>
              <a:t>Aljameel</a:t>
            </a:r>
            <a:r>
              <a:rPr lang="en-IN" sz="1800" kern="100" dirty="0">
                <a:uFill>
                  <a:solidFill>
                    <a:srgbClr val="000000"/>
                  </a:solidFill>
                </a:uFill>
                <a:latin typeface="Times New Roman" panose="02020603050405020304" pitchFamily="18" charset="0"/>
                <a:cs typeface="Times New Roman" panose="02020603050405020304" pitchFamily="18" charset="0"/>
              </a:rPr>
              <a:t>, A. S. Salama, M. A. Hamza and A. Y. Othman, "Automated Android Malware Detection Using Optimal Ensemble Learning Approach for Cybersecurity," in IEEE   Access,  vol.  11,  pp.  72509-72517,  2023,  </a:t>
            </a:r>
            <a:r>
              <a:rPr lang="en-IN" sz="1800" kern="100" dirty="0" err="1">
                <a:uFill>
                  <a:solidFill>
                    <a:srgbClr val="000000"/>
                  </a:solidFill>
                </a:uFill>
                <a:latin typeface="Times New Roman" panose="02020603050405020304" pitchFamily="18" charset="0"/>
                <a:cs typeface="Times New Roman" panose="02020603050405020304" pitchFamily="18" charset="0"/>
              </a:rPr>
              <a:t>doi</a:t>
            </a:r>
            <a:r>
              <a:rPr lang="en-IN" sz="1800" kern="100" dirty="0">
                <a:uFill>
                  <a:solidFill>
                    <a:srgbClr val="000000"/>
                  </a:solidFill>
                </a:uFill>
                <a:latin typeface="Times New Roman" panose="02020603050405020304" pitchFamily="18" charset="0"/>
                <a:cs typeface="Times New Roman" panose="02020603050405020304" pitchFamily="18" charset="0"/>
              </a:rPr>
              <a:t>:  10.1109/ACCESS.2023.3294263.</a:t>
            </a:r>
          </a:p>
          <a:p>
            <a:pPr marL="342900" marR="918210" lvl="0" indent="-342900" algn="just" fontAlgn="base">
              <a:lnSpc>
                <a:spcPct val="120000"/>
              </a:lnSpc>
              <a:spcAft>
                <a:spcPts val="120"/>
              </a:spcAft>
              <a:buClr>
                <a:srgbClr val="000000"/>
              </a:buClr>
              <a:buSzPts val="900"/>
              <a:buFont typeface="+mj-lt"/>
              <a:buAutoNum type="arabicPeriod"/>
            </a:pPr>
            <a:r>
              <a:rPr lang="en-IN" sz="1800" kern="100" dirty="0">
                <a:uFill>
                  <a:solidFill>
                    <a:srgbClr val="000000"/>
                  </a:solidFill>
                </a:uFill>
                <a:latin typeface="Times New Roman" panose="02020603050405020304" pitchFamily="18" charset="0"/>
                <a:cs typeface="Times New Roman" panose="02020603050405020304" pitchFamily="18" charset="0"/>
              </a:rPr>
              <a:t>L. d. Costa and V. </a:t>
            </a:r>
            <a:r>
              <a:rPr lang="en-IN" sz="1800" kern="100" dirty="0" err="1">
                <a:uFill>
                  <a:solidFill>
                    <a:srgbClr val="000000"/>
                  </a:solidFill>
                </a:uFill>
                <a:latin typeface="Times New Roman" panose="02020603050405020304" pitchFamily="18" charset="0"/>
                <a:cs typeface="Times New Roman" panose="02020603050405020304" pitchFamily="18" charset="0"/>
              </a:rPr>
              <a:t>Moia</a:t>
            </a:r>
            <a:r>
              <a:rPr lang="en-IN" sz="1800" kern="100" dirty="0">
                <a:uFill>
                  <a:solidFill>
                    <a:srgbClr val="000000"/>
                  </a:solidFill>
                </a:uFill>
                <a:latin typeface="Times New Roman" panose="02020603050405020304" pitchFamily="18" charset="0"/>
                <a:cs typeface="Times New Roman" panose="02020603050405020304" pitchFamily="18" charset="0"/>
              </a:rPr>
              <a:t>, "A Lightweight and Multi-Stage Approach for Android Malware Detection Using Non-Invasive Machine Learning Techniques," in IEEE Access, vol. 11, pp. 73127-73144, 2023, </a:t>
            </a:r>
            <a:r>
              <a:rPr lang="en-IN" sz="1800" kern="100" dirty="0" err="1">
                <a:uFill>
                  <a:solidFill>
                    <a:srgbClr val="000000"/>
                  </a:solidFill>
                </a:uFill>
                <a:latin typeface="Times New Roman" panose="02020603050405020304" pitchFamily="18" charset="0"/>
                <a:cs typeface="Times New Roman" panose="02020603050405020304" pitchFamily="18" charset="0"/>
              </a:rPr>
              <a:t>doi</a:t>
            </a:r>
            <a:r>
              <a:rPr lang="en-IN" sz="1800" kern="100" dirty="0">
                <a:uFill>
                  <a:solidFill>
                    <a:srgbClr val="000000"/>
                  </a:solidFill>
                </a:uFill>
                <a:latin typeface="Times New Roman" panose="02020603050405020304" pitchFamily="18" charset="0"/>
                <a:cs typeface="Times New Roman" panose="02020603050405020304" pitchFamily="18" charset="0"/>
              </a:rPr>
              <a:t>: 10.1109/ACCESS.2023.3296606.   </a:t>
            </a:r>
          </a:p>
          <a:p>
            <a:pPr marL="342900" marR="918210" lvl="0" indent="-342900" algn="just" fontAlgn="base">
              <a:lnSpc>
                <a:spcPct val="120000"/>
              </a:lnSpc>
              <a:spcAft>
                <a:spcPts val="120"/>
              </a:spcAft>
              <a:buClr>
                <a:srgbClr val="000000"/>
              </a:buClr>
              <a:buSzPts val="900"/>
              <a:buFont typeface="+mj-lt"/>
              <a:buAutoNum type="arabicPeriod"/>
            </a:pPr>
            <a:r>
              <a:rPr lang="en-IN" sz="1800" kern="100" dirty="0">
                <a:uFill>
                  <a:solidFill>
                    <a:srgbClr val="000000"/>
                  </a:solidFill>
                </a:uFill>
                <a:latin typeface="Times New Roman" panose="02020603050405020304" pitchFamily="18" charset="0"/>
                <a:cs typeface="Times New Roman" panose="02020603050405020304" pitchFamily="18" charset="0"/>
              </a:rPr>
              <a:t>G. </a:t>
            </a:r>
            <a:r>
              <a:rPr lang="en-IN" sz="1800" kern="100" dirty="0" err="1">
                <a:uFill>
                  <a:solidFill>
                    <a:srgbClr val="000000"/>
                  </a:solidFill>
                </a:uFill>
                <a:latin typeface="Times New Roman" panose="02020603050405020304" pitchFamily="18" charset="0"/>
                <a:cs typeface="Times New Roman" panose="02020603050405020304" pitchFamily="18" charset="0"/>
              </a:rPr>
              <a:t>Aldehim</a:t>
            </a:r>
            <a:r>
              <a:rPr lang="en-IN" sz="1800" kern="100" dirty="0">
                <a:uFill>
                  <a:solidFill>
                    <a:srgbClr val="000000"/>
                  </a:solidFill>
                </a:uFill>
                <a:latin typeface="Times New Roman" panose="02020603050405020304" pitchFamily="18" charset="0"/>
                <a:cs typeface="Times New Roman" panose="02020603050405020304" pitchFamily="18" charset="0"/>
              </a:rPr>
              <a:t> et al., "Gauss-Mapping Black Widow Optimization with Deep Extreme Learning Machine for Android Malware  Classification Model," in IEEE Access, vol. 11, pp. 87062-87070, 2023, </a:t>
            </a:r>
            <a:r>
              <a:rPr lang="en-IN" sz="1800" kern="100" dirty="0" err="1">
                <a:uFill>
                  <a:solidFill>
                    <a:srgbClr val="000000"/>
                  </a:solidFill>
                </a:uFill>
                <a:latin typeface="Times New Roman" panose="02020603050405020304" pitchFamily="18" charset="0"/>
                <a:cs typeface="Times New Roman" panose="02020603050405020304" pitchFamily="18" charset="0"/>
              </a:rPr>
              <a:t>doi</a:t>
            </a:r>
            <a:r>
              <a:rPr lang="en-IN" sz="1800" kern="100" dirty="0">
                <a:uFill>
                  <a:solidFill>
                    <a:srgbClr val="000000"/>
                  </a:solidFill>
                </a:uFill>
                <a:latin typeface="Times New Roman" panose="02020603050405020304" pitchFamily="18" charset="0"/>
                <a:cs typeface="Times New Roman" panose="02020603050405020304" pitchFamily="18" charset="0"/>
              </a:rPr>
              <a:t>: 10.1109/ACCESS.2023.3285289.   </a:t>
            </a:r>
          </a:p>
          <a:p>
            <a:pPr marL="342900" marR="918210" lvl="0" indent="-342900" algn="just" fontAlgn="base">
              <a:lnSpc>
                <a:spcPct val="120000"/>
              </a:lnSpc>
              <a:spcAft>
                <a:spcPts val="120"/>
              </a:spcAft>
              <a:buClr>
                <a:srgbClr val="000000"/>
              </a:buClr>
              <a:buSzPts val="900"/>
              <a:buFont typeface="+mj-lt"/>
              <a:buAutoNum type="arabicPeriod"/>
            </a:pPr>
            <a:r>
              <a:rPr lang="en-IN" sz="1800" kern="100" dirty="0">
                <a:uFill>
                  <a:solidFill>
                    <a:srgbClr val="000000"/>
                  </a:solidFill>
                </a:uFill>
                <a:latin typeface="Times New Roman" panose="02020603050405020304" pitchFamily="18" charset="0"/>
                <a:cs typeface="Times New Roman" panose="02020603050405020304" pitchFamily="18" charset="0"/>
              </a:rPr>
              <a:t>M. N. Al-</a:t>
            </a:r>
            <a:r>
              <a:rPr lang="en-IN" sz="1800" kern="100" dirty="0" err="1">
                <a:uFill>
                  <a:solidFill>
                    <a:srgbClr val="000000"/>
                  </a:solidFill>
                </a:uFill>
                <a:latin typeface="Times New Roman" panose="02020603050405020304" pitchFamily="18" charset="0"/>
                <a:cs typeface="Times New Roman" panose="02020603050405020304" pitchFamily="18" charset="0"/>
              </a:rPr>
              <a:t>Andoli</a:t>
            </a:r>
            <a:r>
              <a:rPr lang="en-IN" sz="1800" kern="100" dirty="0">
                <a:uFill>
                  <a:solidFill>
                    <a:srgbClr val="000000"/>
                  </a:solidFill>
                </a:uFill>
                <a:latin typeface="Times New Roman" panose="02020603050405020304" pitchFamily="18" charset="0"/>
                <a:cs typeface="Times New Roman" panose="02020603050405020304" pitchFamily="18" charset="0"/>
              </a:rPr>
              <a:t>, K. S. Sim, S. C. Tan, P. Y. Goh and C. P. Lim, "An Ensemble-Based Parallel Deep Learning Classifier With PSO-BP Optimization for Malware Detection," in IEEE Access, vol. 11, pp. 76330-76346, 2023, </a:t>
            </a:r>
            <a:r>
              <a:rPr lang="en-IN" sz="1800" kern="100" dirty="0" err="1">
                <a:uFill>
                  <a:solidFill>
                    <a:srgbClr val="000000"/>
                  </a:solidFill>
                </a:uFill>
                <a:latin typeface="Times New Roman" panose="02020603050405020304" pitchFamily="18" charset="0"/>
                <a:cs typeface="Times New Roman" panose="02020603050405020304" pitchFamily="18" charset="0"/>
              </a:rPr>
              <a:t>doi</a:t>
            </a:r>
            <a:r>
              <a:rPr lang="en-IN" sz="1800" kern="100" dirty="0">
                <a:uFill>
                  <a:solidFill>
                    <a:srgbClr val="000000"/>
                  </a:solidFill>
                </a:uFill>
                <a:latin typeface="Times New Roman" panose="02020603050405020304" pitchFamily="18" charset="0"/>
                <a:cs typeface="Times New Roman" panose="02020603050405020304" pitchFamily="18" charset="0"/>
              </a:rPr>
              <a:t>: 10.1109/ACCESS.2023.3296789. </a:t>
            </a:r>
          </a:p>
          <a:p>
            <a:pPr marL="342900" marR="918210" indent="-342900" algn="just" fontAlgn="base">
              <a:lnSpc>
                <a:spcPct val="120000"/>
              </a:lnSpc>
              <a:spcAft>
                <a:spcPts val="120"/>
              </a:spcAft>
              <a:buSzPts val="900"/>
              <a:buFont typeface="+mj-lt"/>
              <a:buAutoNum type="arabicPeriod"/>
            </a:pPr>
            <a:r>
              <a:rPr lang="en-IN" sz="1800" kern="100" dirty="0">
                <a:uFill>
                  <a:solidFill>
                    <a:srgbClr val="000000"/>
                  </a:solidFill>
                </a:uFill>
                <a:latin typeface="Times New Roman" panose="02020603050405020304" pitchFamily="18" charset="0"/>
                <a:cs typeface="Times New Roman" panose="02020603050405020304" pitchFamily="18" charset="0"/>
              </a:rPr>
              <a:t>H. Berger, C. </a:t>
            </a:r>
            <a:r>
              <a:rPr lang="en-IN" sz="1800" kern="100" dirty="0" err="1">
                <a:uFill>
                  <a:solidFill>
                    <a:srgbClr val="000000"/>
                  </a:solidFill>
                </a:uFill>
                <a:latin typeface="Times New Roman" panose="02020603050405020304" pitchFamily="18" charset="0"/>
                <a:cs typeface="Times New Roman" panose="02020603050405020304" pitchFamily="18" charset="0"/>
              </a:rPr>
              <a:t>Hajaj</a:t>
            </a:r>
            <a:r>
              <a:rPr lang="en-IN" sz="1800" kern="100" dirty="0">
                <a:uFill>
                  <a:solidFill>
                    <a:srgbClr val="000000"/>
                  </a:solidFill>
                </a:uFill>
                <a:latin typeface="Times New Roman" panose="02020603050405020304" pitchFamily="18" charset="0"/>
                <a:cs typeface="Times New Roman" panose="02020603050405020304" pitchFamily="18" charset="0"/>
              </a:rPr>
              <a:t>, E. </a:t>
            </a:r>
            <a:r>
              <a:rPr lang="en-IN" sz="1800" kern="100" dirty="0" err="1">
                <a:uFill>
                  <a:solidFill>
                    <a:srgbClr val="000000"/>
                  </a:solidFill>
                </a:uFill>
                <a:latin typeface="Times New Roman" panose="02020603050405020304" pitchFamily="18" charset="0"/>
                <a:cs typeface="Times New Roman" panose="02020603050405020304" pitchFamily="18" charset="0"/>
              </a:rPr>
              <a:t>Mariconti</a:t>
            </a:r>
            <a:r>
              <a:rPr lang="en-IN" sz="1800" kern="100" dirty="0">
                <a:uFill>
                  <a:solidFill>
                    <a:srgbClr val="000000"/>
                  </a:solidFill>
                </a:uFill>
                <a:latin typeface="Times New Roman" panose="02020603050405020304" pitchFamily="18" charset="0"/>
                <a:cs typeface="Times New Roman" panose="02020603050405020304" pitchFamily="18" charset="0"/>
              </a:rPr>
              <a:t> and A. Dvir, "Crystal Ball: From Innovative Attacks to Attack Effectiveness Classifier," in IEEE Access, vol. 10, pp. 1317-1333, 2022, </a:t>
            </a:r>
            <a:r>
              <a:rPr lang="en-IN" sz="1800" kern="100" dirty="0" err="1">
                <a:uFill>
                  <a:solidFill>
                    <a:srgbClr val="000000"/>
                  </a:solidFill>
                </a:uFill>
                <a:latin typeface="Times New Roman" panose="02020603050405020304" pitchFamily="18" charset="0"/>
                <a:cs typeface="Times New Roman" panose="02020603050405020304" pitchFamily="18" charset="0"/>
              </a:rPr>
              <a:t>doi</a:t>
            </a:r>
            <a:r>
              <a:rPr lang="en-IN" sz="1800" kern="100" dirty="0">
                <a:uFill>
                  <a:solidFill>
                    <a:srgbClr val="000000"/>
                  </a:solidFill>
                </a:uFill>
                <a:latin typeface="Times New Roman" panose="02020603050405020304" pitchFamily="18" charset="0"/>
                <a:cs typeface="Times New Roman" panose="02020603050405020304" pitchFamily="18" charset="0"/>
              </a:rPr>
              <a:t>:   10.1109/ACCESS.2021.3138628.   </a:t>
            </a:r>
          </a:p>
          <a:p>
            <a:pPr marR="918210" lvl="0" algn="just" fontAlgn="base">
              <a:lnSpc>
                <a:spcPct val="120000"/>
              </a:lnSpc>
              <a:spcAft>
                <a:spcPts val="120"/>
              </a:spcAft>
              <a:buClr>
                <a:srgbClr val="000000"/>
              </a:buClr>
              <a:buSzPts val="900"/>
            </a:pPr>
            <a:r>
              <a:rPr lang="en-IN" sz="1800" kern="100" dirty="0">
                <a:uFill>
                  <a:solidFill>
                    <a:srgbClr val="000000"/>
                  </a:solidFill>
                </a:uFill>
                <a:latin typeface="Times New Roman" panose="02020603050405020304" pitchFamily="18" charset="0"/>
                <a:cs typeface="Times New Roman" panose="02020603050405020304" pitchFamily="18" charset="0"/>
              </a:rPr>
              <a:t>  </a:t>
            </a:r>
          </a:p>
          <a:p>
            <a:pPr marL="342900" marR="918210" lvl="0" indent="-342900" algn="just" fontAlgn="base">
              <a:lnSpc>
                <a:spcPct val="110000"/>
              </a:lnSpc>
              <a:spcAft>
                <a:spcPts val="120"/>
              </a:spcAft>
              <a:buClr>
                <a:srgbClr val="000000"/>
              </a:buClr>
              <a:buSzPts val="900"/>
              <a:buFont typeface="+mj-lt"/>
              <a:buAutoNum type="arabicPeriod"/>
            </a:pPr>
            <a:endParaRPr lang="en-IN" sz="1400" kern="1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91093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graphicFrame>
        <p:nvGraphicFramePr>
          <p:cNvPr id="215" name="Google Shape;215;p13"/>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3" imgW="1611796" imgH="1097280" progId="Paint.Picture">
                  <p:embed/>
                </p:oleObj>
              </mc:Choice>
              <mc:Fallback>
                <p:oleObj r:id="rId3" imgW="1611796" imgH="1097280" progId="Paint.Picture">
                  <p:embed/>
                  <p:pic>
                    <p:nvPicPr>
                      <p:cNvPr id="215" name="Google Shape;215;p13"/>
                      <p:cNvPicPr preferRelativeResize="0"/>
                      <p:nvPr/>
                    </p:nvPicPr>
                    <p:blipFill rotWithShape="1">
                      <a:blip r:embed="rId4">
                        <a:alphaModFix/>
                      </a:blip>
                      <a:srcRect/>
                      <a:stretch/>
                    </p:blipFill>
                    <p:spPr>
                      <a:xfrm>
                        <a:off x="10553065" y="19050"/>
                        <a:ext cx="1611796" cy="1097280"/>
                      </a:xfrm>
                      <a:prstGeom prst="rect">
                        <a:avLst/>
                      </a:prstGeom>
                      <a:noFill/>
                      <a:ln>
                        <a:noFill/>
                      </a:ln>
                    </p:spPr>
                  </p:pic>
                </p:oleObj>
              </mc:Fallback>
            </mc:AlternateContent>
          </a:graphicData>
        </a:graphic>
      </p:graphicFrame>
      <p:sp>
        <p:nvSpPr>
          <p:cNvPr id="216" name="Google Shape;216;p13"/>
          <p:cNvSpPr txBox="1"/>
          <p:nvPr/>
        </p:nvSpPr>
        <p:spPr>
          <a:xfrm>
            <a:off x="3990297" y="264415"/>
            <a:ext cx="4064000" cy="5219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7030A0"/>
                </a:solidFill>
                <a:latin typeface="Calibri"/>
                <a:ea typeface="Calibri"/>
                <a:cs typeface="Calibri"/>
                <a:sym typeface="Calibri"/>
              </a:rPr>
              <a:t>ICPERES 2024</a:t>
            </a:r>
            <a:endParaRPr sz="2800" b="1" dirty="0">
              <a:solidFill>
                <a:srgbClr val="7030A0"/>
              </a:solidFill>
              <a:latin typeface="Calibri"/>
              <a:ea typeface="Calibri"/>
              <a:cs typeface="Calibri"/>
              <a:sym typeface="Calibri"/>
            </a:endParaRPr>
          </a:p>
        </p:txBody>
      </p:sp>
      <p:graphicFrame>
        <p:nvGraphicFramePr>
          <p:cNvPr id="217" name="Google Shape;217;p13"/>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5" imgW="1109177" imgH="1188720" progId="Paint.Picture">
                  <p:embed/>
                </p:oleObj>
              </mc:Choice>
              <mc:Fallback>
                <p:oleObj r:id="rId5" imgW="1109177" imgH="1188720" progId="Paint.Picture">
                  <p:embed/>
                  <p:pic>
                    <p:nvPicPr>
                      <p:cNvPr id="217" name="Google Shape;217;p13"/>
                      <p:cNvPicPr preferRelativeResize="0"/>
                      <p:nvPr/>
                    </p:nvPicPr>
                    <p:blipFill rotWithShape="1">
                      <a:blip r:embed="rId6">
                        <a:alphaModFix/>
                      </a:blip>
                      <a:srcRect/>
                      <a:stretch/>
                    </p:blipFill>
                    <p:spPr>
                      <a:xfrm>
                        <a:off x="0" y="-11430"/>
                        <a:ext cx="1109177" cy="1188720"/>
                      </a:xfrm>
                      <a:prstGeom prst="rect">
                        <a:avLst/>
                      </a:prstGeom>
                      <a:noFill/>
                      <a:ln>
                        <a:noFill/>
                      </a:ln>
                    </p:spPr>
                  </p:pic>
                </p:oleObj>
              </mc:Fallback>
            </mc:AlternateContent>
          </a:graphicData>
        </a:graphic>
      </p:graphicFrame>
      <p:sp>
        <p:nvSpPr>
          <p:cNvPr id="218" name="Google Shape;218;p13"/>
          <p:cNvSpPr txBox="1">
            <a:spLocks noGrp="1"/>
          </p:cNvSpPr>
          <p:nvPr>
            <p:ph type="ctrTitle" idx="4294967295"/>
          </p:nvPr>
        </p:nvSpPr>
        <p:spPr>
          <a:xfrm>
            <a:off x="4504189" y="786385"/>
            <a:ext cx="3036216" cy="521970"/>
          </a:xfrm>
          <a:prstGeom prst="rect">
            <a:avLst/>
          </a:prstGeom>
          <a:noFill/>
          <a:ln>
            <a:noFill/>
          </a:ln>
        </p:spPr>
        <p:txBody>
          <a:bodyPr spcFirstLastPara="1" wrap="square" lIns="91425" tIns="45700" rIns="91425" bIns="45700" anchor="ctr" anchorCtr="0">
            <a:normAutofit fontScale="90000"/>
          </a:bodyPr>
          <a:lstStyle/>
          <a:p>
            <a:pPr marL="0" marR="0" lvl="0" indent="0" algn="ctr" rtl="0">
              <a:lnSpc>
                <a:spcPct val="90000"/>
              </a:lnSpc>
              <a:spcBef>
                <a:spcPts val="0"/>
              </a:spcBef>
              <a:spcAft>
                <a:spcPts val="0"/>
              </a:spcAft>
              <a:buClr>
                <a:schemeClr val="dk1"/>
              </a:buClr>
              <a:buSzPts val="4400"/>
              <a:buFont typeface="Calibri"/>
              <a:buNone/>
            </a:pPr>
            <a:r>
              <a:rPr lang="en-US" sz="4400" b="0" i="0" u="none" strike="noStrike" cap="none" dirty="0">
                <a:solidFill>
                  <a:schemeClr val="dk1"/>
                </a:solidFill>
                <a:latin typeface="Times New Roman" panose="02020603050405020304" pitchFamily="18" charset="0"/>
                <a:cs typeface="Times New Roman" panose="02020603050405020304" pitchFamily="18" charset="0"/>
                <a:sym typeface="Calibri"/>
              </a:rPr>
              <a:t>References</a:t>
            </a:r>
            <a:endParaRPr sz="4400" b="0" i="0" u="none" strike="noStrike" cap="none" dirty="0">
              <a:solidFill>
                <a:schemeClr val="dk1"/>
              </a:solidFill>
              <a:latin typeface="Times New Roman" panose="02020603050405020304" pitchFamily="18" charset="0"/>
              <a:cs typeface="Times New Roman" panose="02020603050405020304" pitchFamily="18" charset="0"/>
              <a:sym typeface="Calibri"/>
            </a:endParaRPr>
          </a:p>
        </p:txBody>
      </p:sp>
      <p:sp>
        <p:nvSpPr>
          <p:cNvPr id="219" name="Google Shape;219;p13"/>
          <p:cNvSpPr txBox="1">
            <a:spLocks noGrp="1"/>
          </p:cNvSpPr>
          <p:nvPr>
            <p:ph type="body" idx="1"/>
          </p:nvPr>
        </p:nvSpPr>
        <p:spPr>
          <a:xfrm>
            <a:off x="838200" y="1786715"/>
            <a:ext cx="10515600" cy="4723916"/>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br>
              <a:rPr lang="en-IN" sz="1800" dirty="0">
                <a:effectLst/>
                <a:latin typeface="Google Sans"/>
                <a:ea typeface="Times New Roman" panose="02020603050405020304" pitchFamily="18" charset="0"/>
              </a:rPr>
            </a:br>
            <a:endParaRPr lang="en-IN" sz="1800" dirty="0"/>
          </a:p>
        </p:txBody>
      </p:sp>
      <p:sp>
        <p:nvSpPr>
          <p:cNvPr id="221" name="Google Shape;221;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
        <p:nvSpPr>
          <p:cNvPr id="3" name="TextBox 2">
            <a:extLst>
              <a:ext uri="{FF2B5EF4-FFF2-40B4-BE49-F238E27FC236}">
                <a16:creationId xmlns:a16="http://schemas.microsoft.com/office/drawing/2014/main" id="{790565A3-D50E-7990-659B-7F43F2F16573}"/>
              </a:ext>
            </a:extLst>
          </p:cNvPr>
          <p:cNvSpPr txBox="1"/>
          <p:nvPr/>
        </p:nvSpPr>
        <p:spPr>
          <a:xfrm>
            <a:off x="1145069" y="1619277"/>
            <a:ext cx="9754456" cy="5899372"/>
          </a:xfrm>
          <a:prstGeom prst="rect">
            <a:avLst/>
          </a:prstGeom>
          <a:noFill/>
        </p:spPr>
        <p:txBody>
          <a:bodyPr wrap="square">
            <a:spAutoFit/>
          </a:bodyPr>
          <a:lstStyle/>
          <a:p>
            <a:pPr marL="342900" marR="918210" indent="-342900" algn="just" fontAlgn="base">
              <a:lnSpc>
                <a:spcPct val="110000"/>
              </a:lnSpc>
              <a:spcAft>
                <a:spcPts val="120"/>
              </a:spcAft>
              <a:buSzPts val="900"/>
              <a:buFont typeface="+mj-lt"/>
              <a:buAutoNum type="arabicPeriod" startAt="6"/>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E.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Odat</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and Q. M. Yaseen, "A Novel Machine Learning Approach for Android Malware Detection Based on the Co-Existence of Features," in IEEE Access, vol. 11, pp. 1547115484, 2023,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doi</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10.1109/ACCESS.2023.3244656.   </a:t>
            </a:r>
          </a:p>
          <a:p>
            <a:pPr marL="342900" marR="918210" indent="-342900" algn="just" fontAlgn="base">
              <a:lnSpc>
                <a:spcPct val="110000"/>
              </a:lnSpc>
              <a:spcAft>
                <a:spcPts val="120"/>
              </a:spcAft>
              <a:buSzPts val="900"/>
              <a:buFont typeface="+mj-lt"/>
              <a:buAutoNum type="arabicPeriod" startAt="6"/>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Z. Ma, H. Ge, Y. Liu, M. Zhao and J. Ma, "A Combination Method for Android Malware Detection Based on Control Flow Graphs and Machine Learning Algorithms," in IEEE Access, vol. 7, pp. </a:t>
            </a:r>
            <a:r>
              <a:rPr lang="en-IN" sz="1800" kern="100" dirty="0">
                <a:solidFill>
                  <a:srgbClr val="000000"/>
                </a:solidFill>
                <a:effectLst/>
                <a:latin typeface="Times New Roman" panose="02020603050405020304" pitchFamily="18" charset="0"/>
                <a:ea typeface="Times New Roman" panose="02020603050405020304" pitchFamily="18" charset="0"/>
              </a:rPr>
              <a:t>2123521245, 2019, </a:t>
            </a:r>
            <a:r>
              <a:rPr lang="en-IN" sz="1800" kern="100" dirty="0" err="1">
                <a:solidFill>
                  <a:srgbClr val="000000"/>
                </a:solidFill>
                <a:effectLst/>
                <a:latin typeface="Times New Roman" panose="02020603050405020304" pitchFamily="18" charset="0"/>
                <a:ea typeface="Times New Roman" panose="02020603050405020304" pitchFamily="18" charset="0"/>
              </a:rPr>
              <a:t>doi</a:t>
            </a:r>
            <a:r>
              <a:rPr lang="en-IN" sz="1800" kern="100" dirty="0">
                <a:solidFill>
                  <a:srgbClr val="000000"/>
                </a:solidFill>
                <a:effectLst/>
                <a:latin typeface="Times New Roman" panose="02020603050405020304" pitchFamily="18" charset="0"/>
                <a:ea typeface="Times New Roman" panose="02020603050405020304" pitchFamily="18" charset="0"/>
              </a:rPr>
              <a:t>: 10.1109/ACCESS.2019.2896003.    </a:t>
            </a:r>
          </a:p>
          <a:p>
            <a:pPr marL="342900" marR="918210" indent="-342900" algn="just" fontAlgn="base">
              <a:lnSpc>
                <a:spcPct val="110000"/>
              </a:lnSpc>
              <a:spcAft>
                <a:spcPts val="120"/>
              </a:spcAft>
              <a:buSzPts val="900"/>
              <a:buFont typeface="+mj-lt"/>
              <a:buAutoNum type="arabicPeriod" startAt="6"/>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Alzubaidi</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"Recent Advances in Android Mobile Malware Detection: A Systematic Literature Review," in IEEE Access, vol. 9, pp. 146318-146349, 2021,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doi</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10.1109/ACCESS.2021.3123187.   </a:t>
            </a:r>
          </a:p>
          <a:p>
            <a:pPr marL="342900" marR="918210" indent="-342900" algn="just" fontAlgn="base">
              <a:lnSpc>
                <a:spcPct val="110000"/>
              </a:lnSpc>
              <a:spcAft>
                <a:spcPts val="120"/>
              </a:spcAft>
              <a:buSzPts val="900"/>
              <a:buFont typeface="+mj-lt"/>
              <a:buAutoNum type="arabicPeriod" startAt="6"/>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 Arshad, M. A. Shah, A. Wahid, A. Mehmood, H. Song and H. Yu,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SAMADroid</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 Novel 3-Level Hybrid Malware Detection Model for Android Operating System," in IEEE Access, vol. 6, pp. 43214339, 2018,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doi</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10.1109/ACCESS.2018.2792941.   </a:t>
            </a:r>
          </a:p>
          <a:p>
            <a:pPr marL="342900" marR="918210" indent="-342900" algn="just" fontAlgn="base">
              <a:lnSpc>
                <a:spcPct val="110000"/>
              </a:lnSpc>
              <a:spcAft>
                <a:spcPts val="120"/>
              </a:spcAft>
              <a:buSzPts val="900"/>
              <a:buFont typeface="+mj-lt"/>
              <a:buAutoNum type="arabicPeriod" startAt="6"/>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X. Zhang, J. Wang, J. Xu and C. Gu, "Detection of Android Malware Based on Deep Forest and Feature Enhancement," in IEEE Access, vol. 11, pp. 29344-29359, 2023,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doi</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p>
          <a:p>
            <a:pPr marL="238125" marR="918210" indent="-6350" algn="just">
              <a:lnSpc>
                <a:spcPct val="110000"/>
              </a:lnSpc>
              <a:spcAft>
                <a:spcPts val="120"/>
              </a:spcAft>
            </a:pPr>
            <a:r>
              <a:rPr lang="en-IN" sz="1800" kern="100" dirty="0">
                <a:solidFill>
                  <a:srgbClr val="000000"/>
                </a:solidFill>
                <a:effectLst/>
                <a:latin typeface="Times New Roman" panose="02020603050405020304" pitchFamily="18" charset="0"/>
                <a:ea typeface="Times New Roman" panose="02020603050405020304" pitchFamily="18" charset="0"/>
              </a:rPr>
              <a:t>10.1109/ACCESS.2023.3260977.   </a:t>
            </a:r>
          </a:p>
          <a:p>
            <a:pPr marL="342900" marR="918210" indent="-342900" algn="just" fontAlgn="base">
              <a:lnSpc>
                <a:spcPct val="110000"/>
              </a:lnSpc>
              <a:spcAft>
                <a:spcPts val="120"/>
              </a:spcAft>
              <a:buSzPts val="900"/>
              <a:buFont typeface="+mj-lt"/>
              <a:buAutoNum type="arabicPeriod" startAt="6"/>
            </a:pPr>
            <a:endPar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918210" indent="-342900" algn="just" fontAlgn="base">
              <a:lnSpc>
                <a:spcPct val="110000"/>
              </a:lnSpc>
              <a:spcAft>
                <a:spcPts val="120"/>
              </a:spcAft>
              <a:buSzPts val="900"/>
              <a:buFont typeface="+mj-lt"/>
              <a:buAutoNum type="arabicPeriod" startAt="6"/>
            </a:pPr>
            <a:endParaRPr lang="en-IN" sz="1800" kern="100" dirty="0">
              <a:solidFill>
                <a:srgbClr val="000000"/>
              </a:solidFill>
              <a:effectLst/>
              <a:latin typeface="Times New Roman" panose="02020603050405020304" pitchFamily="18" charset="0"/>
              <a:ea typeface="Times New Roman" panose="02020603050405020304" pitchFamily="18" charset="0"/>
            </a:endParaRPr>
          </a:p>
          <a:p>
            <a:pPr marL="342900" marR="918210" indent="-342900" algn="just" fontAlgn="base">
              <a:lnSpc>
                <a:spcPct val="110000"/>
              </a:lnSpc>
              <a:spcAft>
                <a:spcPts val="120"/>
              </a:spcAft>
              <a:buSzPts val="900"/>
              <a:buFont typeface="+mj-lt"/>
              <a:buAutoNum type="arabicPeriod" startAt="6"/>
            </a:pPr>
            <a:endPar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918210" lvl="0" indent="-342900" algn="just" fontAlgn="base">
              <a:lnSpc>
                <a:spcPct val="110000"/>
              </a:lnSpc>
              <a:spcAft>
                <a:spcPts val="120"/>
              </a:spcAft>
              <a:buClr>
                <a:srgbClr val="000000"/>
              </a:buClr>
              <a:buSzPts val="900"/>
              <a:buFont typeface="+mj-lt"/>
              <a:buAutoNum type="arabicPeriod" startAt="6"/>
            </a:pPr>
            <a:endParaRPr lang="en-IN" sz="1400" kern="100" dirty="0">
              <a:solidFill>
                <a:srgbClr val="000000"/>
              </a:solidFill>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graphicFrame>
        <p:nvGraphicFramePr>
          <p:cNvPr id="237" name="Google Shape;237;p15"/>
          <p:cNvGraphicFramePr/>
          <p:nvPr/>
        </p:nvGraphicFramePr>
        <p:xfrm>
          <a:off x="10553065" y="19050"/>
          <a:ext cx="1611796" cy="1097280"/>
        </p:xfrm>
        <a:graphic>
          <a:graphicData uri="http://schemas.openxmlformats.org/presentationml/2006/ole">
            <mc:AlternateContent xmlns:mc="http://schemas.openxmlformats.org/markup-compatibility/2006">
              <mc:Choice xmlns:v="urn:schemas-microsoft-com:vml" Requires="v">
                <p:oleObj r:id="rId3" imgW="1611796" imgH="1097280" progId="Paint.Picture">
                  <p:embed/>
                </p:oleObj>
              </mc:Choice>
              <mc:Fallback>
                <p:oleObj r:id="rId3" imgW="1611796" imgH="1097280" progId="Paint.Picture">
                  <p:embed/>
                  <p:pic>
                    <p:nvPicPr>
                      <p:cNvPr id="237" name="Google Shape;237;p15"/>
                      <p:cNvPicPr preferRelativeResize="0"/>
                      <p:nvPr/>
                    </p:nvPicPr>
                    <p:blipFill rotWithShape="1">
                      <a:blip r:embed="rId4">
                        <a:alphaModFix/>
                      </a:blip>
                      <a:srcRect/>
                      <a:stretch/>
                    </p:blipFill>
                    <p:spPr>
                      <a:xfrm>
                        <a:off x="10553065" y="19050"/>
                        <a:ext cx="1611796" cy="1097280"/>
                      </a:xfrm>
                      <a:prstGeom prst="rect">
                        <a:avLst/>
                      </a:prstGeom>
                      <a:noFill/>
                      <a:ln>
                        <a:noFill/>
                      </a:ln>
                    </p:spPr>
                  </p:pic>
                </p:oleObj>
              </mc:Fallback>
            </mc:AlternateContent>
          </a:graphicData>
        </a:graphic>
      </p:graphicFrame>
      <p:sp>
        <p:nvSpPr>
          <p:cNvPr id="238" name="Google Shape;238;p15"/>
          <p:cNvSpPr txBox="1"/>
          <p:nvPr/>
        </p:nvSpPr>
        <p:spPr>
          <a:xfrm>
            <a:off x="4565650" y="229870"/>
            <a:ext cx="4064000" cy="5219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7030A0"/>
                </a:solidFill>
                <a:latin typeface="Calibri"/>
                <a:ea typeface="Calibri"/>
                <a:cs typeface="Calibri"/>
                <a:sym typeface="Calibri"/>
              </a:rPr>
              <a:t>ICPERES 2024</a:t>
            </a:r>
            <a:endParaRPr sz="2800" b="1">
              <a:solidFill>
                <a:srgbClr val="7030A0"/>
              </a:solidFill>
              <a:latin typeface="Calibri"/>
              <a:ea typeface="Calibri"/>
              <a:cs typeface="Calibri"/>
              <a:sym typeface="Calibri"/>
            </a:endParaRPr>
          </a:p>
        </p:txBody>
      </p:sp>
      <p:graphicFrame>
        <p:nvGraphicFramePr>
          <p:cNvPr id="239" name="Google Shape;239;p15"/>
          <p:cNvGraphicFramePr/>
          <p:nvPr/>
        </p:nvGraphicFramePr>
        <p:xfrm>
          <a:off x="0" y="-11430"/>
          <a:ext cx="1109177" cy="1188720"/>
        </p:xfrm>
        <a:graphic>
          <a:graphicData uri="http://schemas.openxmlformats.org/presentationml/2006/ole">
            <mc:AlternateContent xmlns:mc="http://schemas.openxmlformats.org/markup-compatibility/2006">
              <mc:Choice xmlns:v="urn:schemas-microsoft-com:vml" Requires="v">
                <p:oleObj r:id="rId5" imgW="1109177" imgH="1188720" progId="Paint.Picture">
                  <p:embed/>
                </p:oleObj>
              </mc:Choice>
              <mc:Fallback>
                <p:oleObj r:id="rId5" imgW="1109177" imgH="1188720" progId="Paint.Picture">
                  <p:embed/>
                  <p:pic>
                    <p:nvPicPr>
                      <p:cNvPr id="239" name="Google Shape;239;p15"/>
                      <p:cNvPicPr preferRelativeResize="0"/>
                      <p:nvPr/>
                    </p:nvPicPr>
                    <p:blipFill rotWithShape="1">
                      <a:blip r:embed="rId6">
                        <a:alphaModFix/>
                      </a:blip>
                      <a:srcRect/>
                      <a:stretch/>
                    </p:blipFill>
                    <p:spPr>
                      <a:xfrm>
                        <a:off x="0" y="-11430"/>
                        <a:ext cx="1109177" cy="1188720"/>
                      </a:xfrm>
                      <a:prstGeom prst="rect">
                        <a:avLst/>
                      </a:prstGeom>
                      <a:noFill/>
                      <a:ln>
                        <a:noFill/>
                      </a:ln>
                    </p:spPr>
                  </p:pic>
                </p:oleObj>
              </mc:Fallback>
            </mc:AlternateContent>
          </a:graphicData>
        </a:graphic>
      </p:graphicFrame>
      <p:sp>
        <p:nvSpPr>
          <p:cNvPr id="243" name="Google Shape;24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grpSp>
        <p:nvGrpSpPr>
          <p:cNvPr id="4" name="Group 3">
            <a:extLst>
              <a:ext uri="{FF2B5EF4-FFF2-40B4-BE49-F238E27FC236}">
                <a16:creationId xmlns:a16="http://schemas.microsoft.com/office/drawing/2014/main" id="{3EBBE1F3-D216-67B5-53DB-AC8485D0865B}"/>
              </a:ext>
            </a:extLst>
          </p:cNvPr>
          <p:cNvGrpSpPr/>
          <p:nvPr/>
        </p:nvGrpSpPr>
        <p:grpSpPr>
          <a:xfrm>
            <a:off x="997017" y="1045503"/>
            <a:ext cx="9668209" cy="5503595"/>
            <a:chOff x="798592" y="753573"/>
            <a:chExt cx="8598230" cy="4773621"/>
          </a:xfrm>
        </p:grpSpPr>
        <p:pic>
          <p:nvPicPr>
            <p:cNvPr id="2" name="Picture 4" descr="Related image">
              <a:extLst>
                <a:ext uri="{FF2B5EF4-FFF2-40B4-BE49-F238E27FC236}">
                  <a16:creationId xmlns:a16="http://schemas.microsoft.com/office/drawing/2014/main" id="{D8A69D44-0DC5-B8A9-C65B-AEA31C6F3302}"/>
                </a:ext>
              </a:extLst>
            </p:cNvPr>
            <p:cNvPicPr>
              <a:picLocks noChangeAspect="1" noChangeArrowheads="1"/>
            </p:cNvPicPr>
            <p:nvPr/>
          </p:nvPicPr>
          <p:blipFill>
            <a:blip r:embed="rId7"/>
            <a:srcRect/>
            <a:stretch>
              <a:fillRect/>
            </a:stretch>
          </p:blipFill>
          <p:spPr bwMode="auto">
            <a:xfrm>
              <a:off x="798592" y="753573"/>
              <a:ext cx="8598230" cy="4773621"/>
            </a:xfrm>
            <a:prstGeom prst="rect">
              <a:avLst/>
            </a:prstGeom>
            <a:noFill/>
          </p:spPr>
        </p:pic>
        <p:pic>
          <p:nvPicPr>
            <p:cNvPr id="3" name="Picture 6" descr="Q&amp;a - Free education icons">
              <a:extLst>
                <a:ext uri="{FF2B5EF4-FFF2-40B4-BE49-F238E27FC236}">
                  <a16:creationId xmlns:a16="http://schemas.microsoft.com/office/drawing/2014/main" id="{45FC317C-085E-E68B-B567-D9DFCD9B391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8592" y="753573"/>
              <a:ext cx="1545045" cy="1545045"/>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TotalTime>
  <Words>1620</Words>
  <Application>Microsoft Office PowerPoint</Application>
  <PresentationFormat>Widescreen</PresentationFormat>
  <Paragraphs>143</Paragraphs>
  <Slides>18</Slides>
  <Notes>17</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5" baseType="lpstr">
      <vt:lpstr>Arial</vt:lpstr>
      <vt:lpstr>Calibri</vt:lpstr>
      <vt:lpstr>Courier New</vt:lpstr>
      <vt:lpstr>Google Sans</vt:lpstr>
      <vt:lpstr>Times New Roman</vt:lpstr>
      <vt:lpstr>Office Theme</vt:lpstr>
      <vt:lpstr>Paintbrush Picture</vt:lpstr>
      <vt:lpstr>PowerPoint Presentation</vt:lpstr>
      <vt:lpstr>PowerPoint Presentation</vt:lpstr>
      <vt:lpstr>Introduction</vt:lpstr>
      <vt:lpstr>Importance of the Research</vt:lpstr>
      <vt:lpstr>Objectives</vt:lpstr>
      <vt:lpstr>Proposed Android Malware Detection System </vt:lpstr>
      <vt:lpstr>Proposed Android Malware Detection System  </vt:lpstr>
      <vt:lpstr>Proposed Android Malware Detection System </vt:lpstr>
      <vt:lpstr> Enhanced Ensemble Learning Algorithm </vt:lpstr>
      <vt:lpstr>PowerPoint Presentation</vt:lpstr>
      <vt:lpstr>PowerPoint Presentation</vt:lpstr>
      <vt:lpstr>PowerPoint Presentation</vt:lpstr>
      <vt:lpstr>PowerPoint Presentation</vt:lpstr>
      <vt:lpstr>Interpretation of Results</vt:lpstr>
      <vt:lpstr>Conclusion &amp; Future Work</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Karthiragav RN</dc:creator>
  <cp:lastModifiedBy>Hariharan S</cp:lastModifiedBy>
  <cp:revision>10</cp:revision>
  <dcterms:created xsi:type="dcterms:W3CDTF">2024-12-15T05:01:33Z</dcterms:created>
  <dcterms:modified xsi:type="dcterms:W3CDTF">2024-12-22T14:24:04Z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A18DA9F0A3134D5AA1398A4327556787_11</vt:lpwstr>
  </property>
  <property fmtid="{D5CDD505-2E9C-101B-9397-08002B2CF9AE}" pid="3" name="KSOProductBuildVer">
    <vt:lpwstr>1033-12.2.0.19307</vt:lpwstr>
  </property>
</Properties>
</file>